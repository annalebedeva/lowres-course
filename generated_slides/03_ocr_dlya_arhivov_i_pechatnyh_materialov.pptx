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ae0d0b3b4ef435b" /><Relationship Type="http://schemas.openxmlformats.org/officeDocument/2006/relationships/extended-properties" Target="/docProps/app.xml" Id="Re05f86437655407b" /><Relationship Type="http://schemas.openxmlformats.org/officeDocument/2006/relationships/officeDocument" Target="/ppt/presentation.xml" Id="Rea781b7ec593474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f5e60957814e00"/>
  </p:sldMasterIdLst>
  <p:notesMasterIdLst>
    <p:notesMasterId xmlns:r="http://schemas.openxmlformats.org/officeDocument/2006/relationships" r:id="Rdd084e740cdd4360"/>
  </p:notesMasterIdLst>
  <p:sldIdLst>
    <p:sldId xmlns:r="http://schemas.openxmlformats.org/officeDocument/2006/relationships" id="256" r:id="Rfae6dedd17024546"/>
    <p:sldId xmlns:r="http://schemas.openxmlformats.org/officeDocument/2006/relationships" id="257" r:id="R650f5ead5be14bbf"/>
    <p:sldId xmlns:r="http://schemas.openxmlformats.org/officeDocument/2006/relationships" id="258" r:id="R5f0d3c44790543d2"/>
    <p:sldId xmlns:r="http://schemas.openxmlformats.org/officeDocument/2006/relationships" id="259" r:id="Rb765c817552d44b2"/>
    <p:sldId xmlns:r="http://schemas.openxmlformats.org/officeDocument/2006/relationships" id="260" r:id="R5d2c425558b74e6f"/>
    <p:sldId xmlns:r="http://schemas.openxmlformats.org/officeDocument/2006/relationships" id="261" r:id="R29b10f9704524e77"/>
    <p:sldId xmlns:r="http://schemas.openxmlformats.org/officeDocument/2006/relationships" id="262" r:id="R482614d6acfb44b1"/>
    <p:sldId xmlns:r="http://schemas.openxmlformats.org/officeDocument/2006/relationships" id="263" r:id="Rd55dfc900699465c"/>
    <p:sldId xmlns:r="http://schemas.openxmlformats.org/officeDocument/2006/relationships" id="264" r:id="R676b49df73eb4de6"/>
    <p:sldId xmlns:r="http://schemas.openxmlformats.org/officeDocument/2006/relationships" id="265" r:id="R661ab5b3f9e748a6"/>
    <p:sldId xmlns:r="http://schemas.openxmlformats.org/officeDocument/2006/relationships" id="266" r:id="R9898b0d0b29c4f51"/>
    <p:sldId xmlns:r="http://schemas.openxmlformats.org/officeDocument/2006/relationships" id="267" r:id="R7ddd0800b06a40e1"/>
    <p:sldId xmlns:r="http://schemas.openxmlformats.org/officeDocument/2006/relationships" id="268" r:id="Rbf83f577e1b24ad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51cdaf7e09147e1" /><Relationship Type="http://schemas.openxmlformats.org/officeDocument/2006/relationships/slideMaster" Target="/ppt/slideMasters/slideMaster1.xml" Id="Rf7f5e60957814e00" /><Relationship Type="http://schemas.openxmlformats.org/officeDocument/2006/relationships/notesMaster" Target="/ppt/notesMasters/notesMaster1.xml" Id="Rdd084e740cdd4360" /><Relationship Type="http://schemas.openxmlformats.org/officeDocument/2006/relationships/presProps" Target="/ppt/presProps.xml" Id="R82835a04bebf4933" /><Relationship Type="http://schemas.openxmlformats.org/officeDocument/2006/relationships/tableStyles" Target="/ppt/tableStyles.xml" Id="R373ef3d1430844e2" /><Relationship Type="http://schemas.openxmlformats.org/officeDocument/2006/relationships/slide" Target="/ppt/slides/slide1.xml" Id="Rfae6dedd17024546" /><Relationship Type="http://schemas.openxmlformats.org/officeDocument/2006/relationships/slide" Target="/ppt/slides/slide2.xml" Id="R650f5ead5be14bbf" /><Relationship Type="http://schemas.openxmlformats.org/officeDocument/2006/relationships/slide" Target="/ppt/slides/slide3.xml" Id="R5f0d3c44790543d2" /><Relationship Type="http://schemas.openxmlformats.org/officeDocument/2006/relationships/slide" Target="/ppt/slides/slide4.xml" Id="Rb765c817552d44b2" /><Relationship Type="http://schemas.openxmlformats.org/officeDocument/2006/relationships/slide" Target="/ppt/slides/slide5.xml" Id="R5d2c425558b74e6f" /><Relationship Type="http://schemas.openxmlformats.org/officeDocument/2006/relationships/slide" Target="/ppt/slides/slide6.xml" Id="R29b10f9704524e77" /><Relationship Type="http://schemas.openxmlformats.org/officeDocument/2006/relationships/slide" Target="/ppt/slides/slide7.xml" Id="R482614d6acfb44b1" /><Relationship Type="http://schemas.openxmlformats.org/officeDocument/2006/relationships/slide" Target="/ppt/slides/slide8.xml" Id="Rd55dfc900699465c" /><Relationship Type="http://schemas.openxmlformats.org/officeDocument/2006/relationships/slide" Target="/ppt/slides/slide9.xml" Id="R676b49df73eb4de6" /><Relationship Type="http://schemas.openxmlformats.org/officeDocument/2006/relationships/slide" Target="/ppt/slides/slide10.xml" Id="R661ab5b3f9e748a6" /><Relationship Type="http://schemas.openxmlformats.org/officeDocument/2006/relationships/slide" Target="/ppt/slides/slide11.xml" Id="R9898b0d0b29c4f51" /><Relationship Type="http://schemas.openxmlformats.org/officeDocument/2006/relationships/slide" Target="/ppt/slides/slide12.xml" Id="R7ddd0800b06a40e1" /><Relationship Type="http://schemas.openxmlformats.org/officeDocument/2006/relationships/slide" Target="/ppt/slides/slide13.xml" Id="Rbf83f577e1b24ad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5fdc3ce29ae43b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48bc11fc8ae47f5" /><Relationship Type="http://schemas.openxmlformats.org/officeDocument/2006/relationships/notesMaster" Target="/ppt/notesMasters/notesMaster1.xml" Id="R873b9742efd840e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dab3620e4a24774" /><Relationship Type="http://schemas.openxmlformats.org/officeDocument/2006/relationships/notesMaster" Target="/ppt/notesMasters/notesMaster1.xml" Id="R667ac9bdaaff470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53c838813404fd7" /><Relationship Type="http://schemas.openxmlformats.org/officeDocument/2006/relationships/notesMaster" Target="/ppt/notesMasters/notesMaster1.xml" Id="Rd993cbfb98434e4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e89d9a2b5924d85" /><Relationship Type="http://schemas.openxmlformats.org/officeDocument/2006/relationships/notesMaster" Target="/ppt/notesMasters/notesMaster1.xml" Id="Rac120886f25c40a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bbccf14233c4603" /><Relationship Type="http://schemas.openxmlformats.org/officeDocument/2006/relationships/notesMaster" Target="/ppt/notesMasters/notesMaster1.xml" Id="R74c84c6b8977439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5bb1a2fd4af45a3" /><Relationship Type="http://schemas.openxmlformats.org/officeDocument/2006/relationships/notesMaster" Target="/ppt/notesMasters/notesMaster1.xml" Id="R5b72286201b04a0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93d12e0fd744c95" /><Relationship Type="http://schemas.openxmlformats.org/officeDocument/2006/relationships/notesMaster" Target="/ppt/notesMasters/notesMaster1.xml" Id="Rb8dc68b1ecff473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c047be5d0af4cce" /><Relationship Type="http://schemas.openxmlformats.org/officeDocument/2006/relationships/notesMaster" Target="/ppt/notesMasters/notesMaster1.xml" Id="Rbcfb94760f424ba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3b90f16b1084557" /><Relationship Type="http://schemas.openxmlformats.org/officeDocument/2006/relationships/notesMaster" Target="/ppt/notesMasters/notesMaster1.xml" Id="R6f3363bc980a4c7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43c8ceb7fca487f" /><Relationship Type="http://schemas.openxmlformats.org/officeDocument/2006/relationships/notesMaster" Target="/ppt/notesMasters/notesMaster1.xml" Id="R62822a6d628e409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aa1c1e2dbd844cc" /><Relationship Type="http://schemas.openxmlformats.org/officeDocument/2006/relationships/notesMaster" Target="/ppt/notesMasters/notesMaster1.xml" Id="Rb71541bb0a594a5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7688df12eae4d4e" /><Relationship Type="http://schemas.openxmlformats.org/officeDocument/2006/relationships/notesMaster" Target="/ppt/notesMasters/notesMaster1.xml" Id="Rfa0a42253b51421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1c1d3cd747d49cc" /><Relationship Type="http://schemas.openxmlformats.org/officeDocument/2006/relationships/notesMaster" Target="/ppt/notesMasters/notesMaster1.xml" Id="R126d4a2f5cd747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markdown source: course_sessions/03_ocr_dlya_arhivov_i_pechatnyh_materialov.md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Для некоторых языков основной цифровой ресурс - это отсканированные книги или PDF. OCR может открыть корпус, которого иначе как будто не существует.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markdown source: course_sessions/03_ocr_dlya_arhivov_i_pechatnyh_materialov.md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Не все OCR-задачи одинаковы. Печатный современный текст может быть относительно простым. Рукописи и историческая орфография - отдельная исследовательская задача.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markdown source: course_sessions/03_ocr_dlya_arhivov_i_pechatnyh_materialov.md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Выбор инструмента зависит от письменности, качества сканов и объема разметки. Для курса полезно сравнить минимум два подхода: готовый OCR и небольшой адаптируемый пайплайн.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markdown source: course_sessions/03_ocr_dlya_arhivov_i_pechatnyh_materialov.md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 практике ошибки часто возникают до модели: плохой наклон, тени, размытость, неправильная сегментация колонок. Нужно проверять весь пайплайн.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markdown source: course_sessions/03_ocr_dlya_arhivov_i_pechatnyh_materialov.md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Для малоресурсного языка даже 50-100 качественно размеченных строк могут быть полезны для оценки или донастройки. Не надо начинать с огромного датасета.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markdown source: course_sessions/03_ocr_dlya_arhivov_i_pechatnyh_materialov.md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CER полезен для языков с малым объемом данных и для письменностей, где словораздел может быть нестабилен. Для орфографически важных символов стоит делать отдельный анализ.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markdown source: course_sessions/03_ocr_dlya_arhivov_i_pechatnyh_materialov.md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Постобработка может сильно улучшить видимый результат, но может также стереть редкие формы. Для исследовательского корпуса нужно хранить и raw OCR, и исправленную версию.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markdown source: course_sessions/03_ocr_dlya_arhivov_i_pechatnyh_materialov.md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Курс не обязан завершиться большим OCR-движком. Реалистичный артефакт - небольшой проверенный OCR-набор и честный отчет, какие документы распознаются, а какие нет.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markdown source: course_sessions/03_ocr_dlya_arhivov_i_pechatnyh_materialov.md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markdown source: course_sessions/03_ocr_dlya_arhivov_i_pechatnyh_materialov.md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markdown source: course_sessions/03_ocr_dlya_arhivov_i_pechatnyh_materialov.md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markdown source: course_sessions/03_ocr_dlya_arhivov_i_pechatnyh_materialov.md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markdown source: course_sessions/03_ocr_dlya_arhivov_i_pechatnyh_materialov.md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3ea26a8ebb42c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33b7242ebd4d91" /><Relationship Type="http://schemas.openxmlformats.org/officeDocument/2006/relationships/slideLayout" Target="/ppt/slideLayouts/slideLayout1.xml" Id="R4e4c6c808a7947e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e4c6c808a7947e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ccbf9f6f074732" /><Relationship Type="http://schemas.openxmlformats.org/officeDocument/2006/relationships/notesSlide" Target="/ppt/notesSlides/notesSlide1.xml" Id="R036d356da5ec431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cd1e8e3fda443d" /><Relationship Type="http://schemas.openxmlformats.org/officeDocument/2006/relationships/notesSlide" Target="/ppt/notesSlides/notesSlide2.xml" Id="Rfe917d5a036c409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525241228542ef" /><Relationship Type="http://schemas.openxmlformats.org/officeDocument/2006/relationships/notesSlide" Target="/ppt/notesSlides/notesSlide3.xml" Id="R51c2edd7854c4c5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a572263b8e4bbe" /><Relationship Type="http://schemas.openxmlformats.org/officeDocument/2006/relationships/notesSlide" Target="/ppt/notesSlides/notesSlide4.xml" Id="Raa7537c2a60545f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04b16a7839489d" /><Relationship Type="http://schemas.openxmlformats.org/officeDocument/2006/relationships/notesSlide" Target="/ppt/notesSlides/notesSlide5.xml" Id="Rf382166e1e2f429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2c237a21254a7e" /><Relationship Type="http://schemas.openxmlformats.org/officeDocument/2006/relationships/notesSlide" Target="/ppt/notesSlides/notesSlide6.xml" Id="R39af08f48028438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a03e31151148c9" /><Relationship Type="http://schemas.openxmlformats.org/officeDocument/2006/relationships/notesSlide" Target="/ppt/notesSlides/notesSlide7.xml" Id="R759f847a4f5e456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e7499c28324e3e" /><Relationship Type="http://schemas.openxmlformats.org/officeDocument/2006/relationships/notesSlide" Target="/ppt/notesSlides/notesSlide8.xml" Id="R661d589223d148c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dc3f2b11df4cea" /><Relationship Type="http://schemas.openxmlformats.org/officeDocument/2006/relationships/notesSlide" Target="/ppt/notesSlides/notesSlide9.xml" Id="Rd5066d4873b345c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9577ab47924a55" /><Relationship Type="http://schemas.openxmlformats.org/officeDocument/2006/relationships/notesSlide" Target="/ppt/notesSlides/notesSlide10.xml" Id="R7d05f0c2deee48d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7b3945bca542e5" /><Relationship Type="http://schemas.openxmlformats.org/officeDocument/2006/relationships/notesSlide" Target="/ppt/notesSlides/notesSlide11.xml" Id="Rbfb15ce9c093467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115b0e3cb74664" /><Relationship Type="http://schemas.openxmlformats.org/officeDocument/2006/relationships/notesSlide" Target="/ppt/notesSlides/notesSlide12.xml" Id="Rdddc181971ec4b9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73c0032f424bd9" /><Relationship Type="http://schemas.openxmlformats.org/officeDocument/2006/relationships/notesSlide" Target="/ppt/notesSlides/notesSlide13.xml" Id="Ra60687cf78054fc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0AFD9D-86C5-4FE8-AF46-4121A2165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176B8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F3DE4A-AC8B-4ED3-AF24-B735299DE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58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6B87"/>
                </a:solidFill>
              </a:defRPr>
            </a:pPr>
            <a:r>
              <a:rPr sz="1350" b="1">
                <a:solidFill>
                  <a:srgbClr val="176B87"/>
                </a:solidFill>
              </a:rPr>
              <a:t>Курс по ML для малоресурсных языков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2EBC8A-8839-4AF0-84D8-098EB7919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9429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D2433"/>
                </a:solidFill>
              </a:defRPr>
            </a:pPr>
            <a:r>
              <a:rPr sz="3750" b="1">
                <a:solidFill>
                  <a:srgbClr val="1D2433"/>
                </a:solidFill>
              </a:rPr>
              <a:t>Занятие 3. OCR для архивов, учебников и печатных материалов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9E1617-64F2-428C-9297-0D28B73D1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38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4748B"/>
                </a:solidFill>
              </a:defRPr>
            </a:pPr>
            <a:r>
              <a:rPr sz="1650">
                <a:solidFill>
                  <a:srgbClr val="64748B"/>
                </a:solidFill>
              </a:rPr>
              <a:t>Занятие показывает, как извлекать текст из изображений и PDF: от сканов и фотографий до первичного OCR-датасета. Итог - воспроизводимый OCR-пайплайн и набор размеченных страниц или строк.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3B8228-B78D-4A0F-A2D8-C23D41264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D2433"/>
                </a:solidFill>
              </a:defRPr>
            </a:pPr>
            <a:r>
              <a:rPr sz="1500">
                <a:solidFill>
                  <a:srgbClr val="1D2433"/>
                </a:solidFill>
              </a:rPr>
              <a:t>Лекция, семинар, домашнее задание и заметки докладчика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6339E8-5C80-4693-9093-A9CE2A9F6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24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Занятие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E827CE-9779-4698-B8E9-960DDC59E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1/13</a:t>
            </a:r>
          </a:p>
        </p:txBody>
      </p:sp>
    </p:spTree>
    <p:extLst>
      <p:ext uri="{BB962C8B-B14F-4D97-AF65-F5344CB8AC3E}">
        <p14:creationId xmlns:p14="http://schemas.microsoft.com/office/powerpoint/2010/main" val="178100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2AAFD7-E26E-4888-85C5-1CCC029C8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87"/>
                </a:solidFill>
              </a:defRPr>
            </a:pPr>
            <a:r>
              <a:rPr sz="975" b="1">
                <a:solidFill>
                  <a:srgbClr val="176B87"/>
                </a:solidFill>
              </a:rPr>
              <a:t>ЛЕКЦИЯ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11C7DA-4AAC-4E7A-B2DF-529626A4C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D2433"/>
                </a:solidFill>
              </a:defRPr>
            </a:pPr>
            <a:r>
              <a:rPr sz="2625" b="1">
                <a:solidFill>
                  <a:srgbClr val="1D2433"/>
                </a:solidFill>
              </a:rPr>
              <a:t>Почему OCR критичен для малоресурсных языков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3240F6-FA8A-4360-BEE4-A85BA8E92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35B327-C5C4-4620-A190-801C36573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Много данных существует только в книгах, газетах, учебниках и архивах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CF5EBB-0348-4317-BEEE-4D4B4BAA6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982BE0-5455-43CB-A298-6F077CDF4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OCR превращает изображения в корпус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0D397D-EFFE-44ED-BCEA-A18AA734C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0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DC88B5-59BE-42DD-A17D-C42855E23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146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Ошибки OCR напрямую влияют на перевод, поиск, спелчекер и языковые модели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72A444-2F2F-4ACD-A1B5-82B718AB2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190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7833A6-8A12-496E-84BE-84678F0A1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24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Занятие 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087B9A-04F8-4309-80AE-E4055F9FC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2/13</a:t>
            </a:r>
          </a:p>
        </p:txBody>
      </p:sp>
    </p:spTree>
    <p:extLst>
      <p:ext uri="{BB962C8B-B14F-4D97-AF65-F5344CB8AC3E}">
        <p14:creationId xmlns:p14="http://schemas.microsoft.com/office/powerpoint/2010/main" val="15741393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2F92DD-92C2-4C24-B07A-1834201E4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87"/>
                </a:solidFill>
              </a:defRPr>
            </a:pPr>
            <a:r>
              <a:rPr sz="975" b="1">
                <a:solidFill>
                  <a:srgbClr val="176B87"/>
                </a:solidFill>
              </a:rPr>
              <a:t>ЛЕКЦИЯ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F1401E-A106-48D5-8DC9-82423EDB5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D2433"/>
                </a:solidFill>
              </a:defRPr>
            </a:pPr>
            <a:r>
              <a:rPr sz="2625" b="1">
                <a:solidFill>
                  <a:srgbClr val="1D2433"/>
                </a:solidFill>
              </a:rPr>
              <a:t>Типы OCR-задач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9BC41B-E27F-4753-A2C7-E4042EF3B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E52231-5126-4337-8A70-0B0334AEE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Печатный текст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B1189F-7508-40EA-A9CC-F9398D512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E1DD98-56B1-456B-B82C-81F74AB32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Старые шрифты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ABE11B-2E4F-4DCB-8EC3-CCD92E95E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0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41496C-8250-4546-8E4D-0963F5DD2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146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Рукописи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613B6E-545F-4CB5-A9CC-091136F75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7B7A91-BFA4-439B-9D32-9897B1FF3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671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Многоязычные страницы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440E15-E9D3-4BF7-810F-A1BF3BF0C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93BACB-E128-411E-ABC5-35E1CD96A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195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Таблицы, словари, параллельные колонки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C28E1A-6ED4-418F-A724-6010C1297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48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DE52EE-F695-47A7-9371-57E54D12A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720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Нестандартная письменность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0B3D35-EDE8-4F43-AA58-F873C9813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190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647D61-2319-4878-924D-8F1F0BBC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24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Занятие 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5608D0-B853-4269-A421-B6C1DFD79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3/13</a:t>
            </a:r>
          </a:p>
        </p:txBody>
      </p:sp>
    </p:spTree>
    <p:extLst>
      <p:ext uri="{BB962C8B-B14F-4D97-AF65-F5344CB8AC3E}">
        <p14:creationId xmlns:p14="http://schemas.microsoft.com/office/powerpoint/2010/main" val="4905091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C11BE0-1E3B-4695-8B57-236B1FFD1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87"/>
                </a:solidFill>
              </a:defRPr>
            </a:pPr>
            <a:r>
              <a:rPr sz="975" b="1">
                <a:solidFill>
                  <a:srgbClr val="176B87"/>
                </a:solidFill>
              </a:rPr>
              <a:t>ЛЕКЦИЯ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9EB1BC-FAE0-4309-921A-95B28CE15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D2433"/>
                </a:solidFill>
              </a:defRPr>
            </a:pPr>
            <a:r>
              <a:rPr sz="2625" b="1">
                <a:solidFill>
                  <a:srgbClr val="1D2433"/>
                </a:solidFill>
              </a:rPr>
              <a:t>Инструменты OCR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37EDBA-A0C0-4FBB-ADAD-0E518C645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D534F7-E257-4C56-BF07-C442CD253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Tesseract: классический baseline и обучение новых языков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F3A581-027C-4EF8-A65B-D7AEFCB73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BED0A4-18A1-4794-86A8-59955CBCC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EasyOCR, PaddleOCR, docTR: современные нейросетевые варианты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8CCA8C-CB97-4206-A88C-526FED343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0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C7C5B2-FE0A-492E-9231-D5E542AF9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146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LayoutParser и аналоги: анализ структуры страницы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4E17C5-92B7-4CCA-9587-7335FF462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D81CC1-31F7-4372-896E-36F3EF2FD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671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LLM/VLM-подходы: помощь в распознавании и проверке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FA6A2E-236F-4B92-B8FB-26B86249C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190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4139E5-E65F-4091-BA2F-1447F0364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24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Занятие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7A4218-563D-48CA-8508-44C8CFB67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4/13</a:t>
            </a:r>
          </a:p>
        </p:txBody>
      </p:sp>
    </p:spTree>
    <p:extLst>
      <p:ext uri="{BB962C8B-B14F-4D97-AF65-F5344CB8AC3E}">
        <p14:creationId xmlns:p14="http://schemas.microsoft.com/office/powerpoint/2010/main" val="2654800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EC28CC-E288-4226-85E0-78E303945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87"/>
                </a:solidFill>
              </a:defRPr>
            </a:pPr>
            <a:r>
              <a:rPr sz="975" b="1">
                <a:solidFill>
                  <a:srgbClr val="176B87"/>
                </a:solidFill>
              </a:rPr>
              <a:t>ЛЕКЦИЯ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72F6CD-8C1D-483D-9387-9DB76FD93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D2433"/>
                </a:solidFill>
              </a:defRPr>
            </a:pPr>
            <a:r>
              <a:rPr sz="2625" b="1">
                <a:solidFill>
                  <a:srgbClr val="1D2433"/>
                </a:solidFill>
              </a:rPr>
              <a:t>OCR-пайплайн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C38D81-357F-4E6B-B4C9-BF785D178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6690B-862A-4444-B0EE-E691899D9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Скан или фото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8D7F81-D485-486A-A807-FC84B9B46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D87ACB-B53D-4902-BF71-BAD925288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669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Улучшение изображения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AB560A-B0A7-46E9-B0B5-E758E132C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9F1641-0AFD-47FA-8AEB-3E60C0D68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241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Сегментация страницы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9BD952-77F2-4420-BED5-65511381E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57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B27200-054C-461A-B938-94A9AAB03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813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Распознавание текста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F29311-1600-40D7-91D2-7DB159A88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DE9AC7-B5E3-4607-87F7-074FF1FF1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385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Постобработка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F5D733-3D78-4228-A426-EAFD4AC0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F72F61-FBCE-4BDE-9DCA-901B3FF97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957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Ручная проверка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FB34FE-CA61-4785-8ABD-2D9D04F66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29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6F1002-F68E-4F58-9C21-47108DC05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529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Оценка CER/WER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33DCE0-1AC9-4C25-8712-914226480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190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2599AD-0CD6-417B-A127-E66EDEDDE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24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Занятие 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FA90C9-5CAA-4589-832E-7780F7E4B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5/13</a:t>
            </a:r>
          </a:p>
        </p:txBody>
      </p:sp>
    </p:spTree>
    <p:extLst>
      <p:ext uri="{BB962C8B-B14F-4D97-AF65-F5344CB8AC3E}">
        <p14:creationId xmlns:p14="http://schemas.microsoft.com/office/powerpoint/2010/main" val="3281838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0DB988-3081-4544-93F7-B3AAF6304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87"/>
                </a:solidFill>
              </a:defRPr>
            </a:pPr>
            <a:r>
              <a:rPr sz="975" b="1">
                <a:solidFill>
                  <a:srgbClr val="176B87"/>
                </a:solidFill>
              </a:rPr>
              <a:t>ЛЕКЦИЯ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D01C65-5630-4B6B-9882-975078985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D2433"/>
                </a:solidFill>
              </a:defRPr>
            </a:pPr>
            <a:r>
              <a:rPr sz="2625" b="1">
                <a:solidFill>
                  <a:srgbClr val="1D2433"/>
                </a:solidFill>
              </a:rPr>
              <a:t>Разметка для OCR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A51FE4-3FAB-4907-BABC-827D957D7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499217-31D6-431E-9123-B3EB459C6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Уровень страницы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6CC453-125C-42FE-A491-0D5EC9B9E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3D3CAD-7526-4FED-BFD9-AF3EBDA67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Уровень строки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91E396-439A-446E-B27F-F400C4D5C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0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22E7D7-9916-45D5-B34E-08BC1C253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146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Уровень слова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539506-C1AD-4C3F-8B91-F663383D3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D6E125-9474-4A69-B182-CA2B413FA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671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Ground truth: изображение + точная транскрипция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CD9BF1-C2DF-4754-83A8-033DBDD05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789AE1-4C4A-4182-9D38-C8D4FE188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195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Разметка должна сохранять оригинальную орфографию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5C7152-13E3-426A-9C87-23A409D3E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190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FA4C74-4E9B-4A1F-A0CD-D340BB0E5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24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Занятие 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4EEFE2-CC8A-40B7-9698-CC55CA10E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6/13</a:t>
            </a:r>
          </a:p>
        </p:txBody>
      </p:sp>
    </p:spTree>
    <p:extLst>
      <p:ext uri="{BB962C8B-B14F-4D97-AF65-F5344CB8AC3E}">
        <p14:creationId xmlns:p14="http://schemas.microsoft.com/office/powerpoint/2010/main" val="20563514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33D07E-4342-48BD-946C-E8B94F330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87"/>
                </a:solidFill>
              </a:defRPr>
            </a:pPr>
            <a:r>
              <a:rPr sz="975" b="1">
                <a:solidFill>
                  <a:srgbClr val="176B87"/>
                </a:solidFill>
              </a:rPr>
              <a:t>ЛЕКЦИЯ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C342AB-CBF0-45AE-8245-29CDEFEAB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D2433"/>
                </a:solidFill>
              </a:defRPr>
            </a:pPr>
            <a:r>
              <a:rPr sz="2625" b="1">
                <a:solidFill>
                  <a:srgbClr val="1D2433"/>
                </a:solidFill>
              </a:rPr>
              <a:t>Метрики OCR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A273DC-4870-4C71-9DC4-FDC659940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571564-56FF-49AC-A250-A301B368F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CER: character error rate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753523-F143-466D-91D2-5CDAD7CE5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FA6E9C-2925-4100-90E4-26DC9360E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WER: word error rate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558072-AA0A-4737-AFC6-BE80AF24C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0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F137DE-1D0C-48A5-92A6-248A800F4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146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Ошибки диакритики считать отдельно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9A9F31-35A2-4DE4-9BD1-8A9B6AFA2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BB8A06-8F8D-4EF4-B4FF-D14BC93BE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671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Важна раздельная оценка по источникам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399DFB-B164-45C6-889A-563E86DF4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190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A14711-BFCF-4CDE-9A83-51BE5FCE9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24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Занятие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1E6133-215C-4EE5-A15D-F3D95CBE7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7/13</a:t>
            </a:r>
          </a:p>
        </p:txBody>
      </p:sp>
    </p:spTree>
    <p:extLst>
      <p:ext uri="{BB962C8B-B14F-4D97-AF65-F5344CB8AC3E}">
        <p14:creationId xmlns:p14="http://schemas.microsoft.com/office/powerpoint/2010/main" val="19417359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F86E02-FCEE-413E-9321-D593127B4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87"/>
                </a:solidFill>
              </a:defRPr>
            </a:pPr>
            <a:r>
              <a:rPr sz="975" b="1">
                <a:solidFill>
                  <a:srgbClr val="176B87"/>
                </a:solidFill>
              </a:rPr>
              <a:t>ЛЕКЦИЯ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35687D-1260-46AE-B0CE-A442B8885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D2433"/>
                </a:solidFill>
              </a:defRPr>
            </a:pPr>
            <a:r>
              <a:rPr sz="2625" b="1">
                <a:solidFill>
                  <a:srgbClr val="1D2433"/>
                </a:solidFill>
              </a:rPr>
              <a:t>Постобработка OCR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512F2B-FE94-4A21-A85F-92FFF29D3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E980D3-5D86-4E9F-9C06-A8F62FE89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Словарь и спелчекер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BA8B50-EC3B-402E-BA2C-90C1FFCC1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6AE319-920C-474D-A7B2-F2959C244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Языковая модель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E581B8-2C7E-4E43-BFB9-0AD6A0480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0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105932-C320-4D6D-A8F3-F4B551469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146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Правила для частых замен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EA2B83-4592-4A40-A726-BAB4AD60F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0ABB72-5096-48BB-90E8-B8BD4D12B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671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Человек в цикле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02FBD7-CC35-4F40-B676-E9F6354F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190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2AB460-A568-4C91-820B-AEC542076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24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Занятие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9F2A6A-F36F-4FF7-897A-01ACBE9BF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8/13</a:t>
            </a:r>
          </a:p>
        </p:txBody>
      </p:sp>
    </p:spTree>
    <p:extLst>
      <p:ext uri="{BB962C8B-B14F-4D97-AF65-F5344CB8AC3E}">
        <p14:creationId xmlns:p14="http://schemas.microsoft.com/office/powerpoint/2010/main" val="112818446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FCB1C0-95CE-4442-93D5-15F312732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87"/>
                </a:solidFill>
              </a:defRPr>
            </a:pPr>
            <a:r>
              <a:rPr sz="975" b="1">
                <a:solidFill>
                  <a:srgbClr val="176B87"/>
                </a:solidFill>
              </a:rPr>
              <a:t>ЛЕКЦИЯ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888E55-24BF-4D2B-82B2-BC53BF2F7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D2433"/>
                </a:solidFill>
              </a:defRPr>
            </a:pPr>
            <a:r>
              <a:rPr sz="2625" b="1">
                <a:solidFill>
                  <a:srgbClr val="1D2433"/>
                </a:solidFill>
              </a:rPr>
              <a:t>Артефакт OCR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967A0E-B3D2-4FBB-BFAB-C7DDC387E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D5F174-F9D4-4607-AEA3-D409D5B13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images/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040505-D541-48BB-A0B6-0D96BF3FB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C618BB-3751-40D2-8353-3C0607035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ocr_raw.jsonl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A28890-2C7F-4DC5-BC37-8EFBCE092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0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994341-B530-4A20-8108-0012A56BC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146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ocr_corrected.jsonl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DC2477-CC82-4BCA-85B1-BB961C2F9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4BA4EF-2D4E-4520-9EF7-77146FC5D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671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ocr_ground_truth.tsv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8DFB2D-F226-4DF7-A139-FD3AEF680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A3657F-CF54-4117-9782-FC766EBA8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195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ocr_report.md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488A35-2033-47F0-BB49-F85B7503F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190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8E6846-E7EE-4D5D-A539-225274E53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24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Занятие 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F286A0-B8DF-4E15-AB9D-69EC00F7F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9/13</a:t>
            </a:r>
          </a:p>
        </p:txBody>
      </p:sp>
    </p:spTree>
    <p:extLst>
      <p:ext uri="{BB962C8B-B14F-4D97-AF65-F5344CB8AC3E}">
        <p14:creationId xmlns:p14="http://schemas.microsoft.com/office/powerpoint/2010/main" val="80932684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4F3196-6702-4FF2-9085-D31AC1BF4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45309"/>
                </a:solidFill>
              </a:defRPr>
            </a:pPr>
            <a:r>
              <a:rPr sz="975" b="1">
                <a:solidFill>
                  <a:srgbClr val="B45309"/>
                </a:solidFill>
              </a:rPr>
              <a:t>СЕМИНАР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F82B55-9684-401E-B93B-394663DEC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D2433"/>
                </a:solidFill>
              </a:defRPr>
            </a:pPr>
            <a:r>
              <a:rPr sz="2625" b="1">
                <a:solidFill>
                  <a:srgbClr val="1D2433"/>
                </a:solidFill>
              </a:rPr>
              <a:t>Практика 1. Выбор документа, 15 минут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0BA0F2-C152-482A-B741-D23570750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3B5808-4B5B-44D1-92C1-C2D674B02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Команды выбирают 3-5 страниц: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8BCAB6-2638-402A-BF59-5675E99E7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D7B84F-6949-4A82-8FCE-88442934F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учебник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05F1CF-638B-44EF-844E-37AD07E25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0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AD4926-7646-4273-BBD2-AF704D596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146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газета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2E1AF9-5BC1-4E49-9E3B-FD6A2E0C0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10C4D7-7248-4CD1-B0BB-94373380E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671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словарь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572D9B-B577-4A28-B266-47E42CB5F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5F189B-3E70-4C49-AD07-4DCA2EC89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195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архивный PDF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781645-52A7-4568-BDF0-280080423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48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BD8B1D-704E-4AC4-9B2F-CD8584A04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720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фото страницы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C36740-EA8B-485D-B6B0-723268C7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190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B3FB92-6BA3-4513-9145-BD10E7849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24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Занятие 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E731A8-BCFD-4F38-8F8F-E865553C2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10/13</a:t>
            </a:r>
          </a:p>
        </p:txBody>
      </p:sp>
    </p:spTree>
    <p:extLst>
      <p:ext uri="{BB962C8B-B14F-4D97-AF65-F5344CB8AC3E}">
        <p14:creationId xmlns:p14="http://schemas.microsoft.com/office/powerpoint/2010/main" val="193944678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01BEAE-DF1D-467D-8574-86DA6208F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45309"/>
                </a:solidFill>
              </a:defRPr>
            </a:pPr>
            <a:r>
              <a:rPr sz="975" b="1">
                <a:solidFill>
                  <a:srgbClr val="B45309"/>
                </a:solidFill>
              </a:rPr>
              <a:t>СЕМИНАР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0C2DE7-FAED-42D3-84E5-9A01BBD0C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D2433"/>
                </a:solidFill>
              </a:defRPr>
            </a:pPr>
            <a:r>
              <a:rPr sz="2625" b="1">
                <a:solidFill>
                  <a:srgbClr val="1D2433"/>
                </a:solidFill>
              </a:rPr>
              <a:t>Практика 2. Первый OCR, 25 минут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DFA420-5E68-4A9D-A055-AE12371D8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4F7138-93D6-4F29-AEAF-0C00C8BB1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Команды запускают один готовый OCR-инструмент или используют агентно сгенерированный скрипт. Результат сохран...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D09364-A10D-4582-8A68-26EB6770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190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D74C3A-2438-409F-AEE3-F69B3D897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24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Занятие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98D19C-2F21-424A-977F-54615ABF8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11/13</a:t>
            </a:r>
          </a:p>
        </p:txBody>
      </p:sp>
    </p:spTree>
    <p:extLst>
      <p:ext uri="{BB962C8B-B14F-4D97-AF65-F5344CB8AC3E}">
        <p14:creationId xmlns:p14="http://schemas.microsoft.com/office/powerpoint/2010/main" val="126154011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42DB0A-36AD-4DC2-85F7-2B561E83B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45309"/>
                </a:solidFill>
              </a:defRPr>
            </a:pPr>
            <a:r>
              <a:rPr sz="975" b="1">
                <a:solidFill>
                  <a:srgbClr val="B45309"/>
                </a:solidFill>
              </a:rPr>
              <a:t>СЕМИНАР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C05585-4478-47F8-B6F7-613C42A0D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D2433"/>
                </a:solidFill>
              </a:defRPr>
            </a:pPr>
            <a:r>
              <a:rPr sz="2625" b="1">
                <a:solidFill>
                  <a:srgbClr val="1D2433"/>
                </a:solidFill>
              </a:rPr>
              <a:t>Практика 3. Ручная разметка и оценка, 25 минут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A609CD-7A91-40C7-9317-4BE12D4CD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23A806-72D6-40EF-85F9-6E4B6A6A2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Команды выбирают 10 строк и создают ocr_ground_truth.tsv: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C20B29-6B59-4EB3-8242-B27F508FA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02D501-498C-46F5-AC21-7D3775108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image_id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E56EEA-851E-4C55-A822-4692B724B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0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8D3AD8-3F25-486C-8A1C-B616A7E8D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146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line_id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6654EB-C51A-4755-A281-DFADF5530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A6F08A-6534-4644-9F51-E07C30897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671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recognized_text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402FC4-BDFE-418D-9F12-267DDD408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4DF4EF-D38E-420F-8EDD-B5FE666D8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195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correct_text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D7F0CA-6775-4A6A-BE51-B8DC1E599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48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8D9773-FD44-41D3-A6F6-0D2A4AF4F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720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error_type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55C864-B17A-47EC-9A07-F73B0A848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190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B677F7-82F2-41B9-BF8D-2DBDC0DFB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24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Занятие 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EEA8B6-6B7A-4897-A72D-94790B9A5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12/13</a:t>
            </a:r>
          </a:p>
        </p:txBody>
      </p:sp>
    </p:spTree>
    <p:extLst>
      <p:ext uri="{BB962C8B-B14F-4D97-AF65-F5344CB8AC3E}">
        <p14:creationId xmlns:p14="http://schemas.microsoft.com/office/powerpoint/2010/main" val="44668653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E9C815-0C0B-44E8-B64C-F5C2B13EA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45309"/>
                </a:solidFill>
              </a:defRPr>
            </a:pPr>
            <a:r>
              <a:rPr sz="975" b="1">
                <a:solidFill>
                  <a:srgbClr val="B45309"/>
                </a:solidFill>
              </a:rPr>
              <a:t>СЕМИНАР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F4BAC5-7EF7-43E8-9738-425480ACA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D2433"/>
                </a:solidFill>
              </a:defRPr>
            </a:pPr>
            <a:r>
              <a:rPr sz="2625" b="1">
                <a:solidFill>
                  <a:srgbClr val="1D2433"/>
                </a:solidFill>
              </a:rPr>
              <a:t>Практика 4. Постобработка, 25 минут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F26334-901D-4FF2-983E-82BFA3B45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26F52C-2747-4043-BB41-B1AF1B693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Команды формулируют 5 правил исправления или используют словарь: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19C968-9967-4647-B8DF-9B5C40D58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6BD522-BDE5-48FC-9EC0-70A0878CC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669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частые ошибки символов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FD3AF9-8B05-4D6A-A4AC-4B6EC8EAB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77126D-1643-4783-8621-42E5A4026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241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проблемы диакритики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7A0AC0-FCA5-4B29-8AE3-679F4F016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57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DC089F-3AFC-4FD8-81E3-A4DA5C46E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813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разрывы слов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0FDCED-768B-43F2-9179-F259BD93E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C8DAF0-5980-4496-B4FC-903075506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385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неверные переносы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03C2A7-290C-4F8A-8BE1-5DF5B746E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7AA18D-5051-4BCD-966A-C9995B12C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957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смешение письменностей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559175-C24C-40AD-B4B8-8F33E3285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29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115F25-1CD1-46C1-901E-833207E3A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529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Промпт для агента: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6B60F5-515B-4448-BD28-F7DE9A74F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6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DFA0EC-45DA-4D72-A832-BE51D0E0E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101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Проанализируй пары OCR-результат / правильный текст.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863146-7C0E-4DB7-B883-AC6880490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190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EF1A5A-C54A-4250-A346-21A7981D0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24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Занятие 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941192-99ED-4A7C-81A8-22E6D19E2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13/13</a:t>
            </a:r>
          </a:p>
        </p:txBody>
      </p:sp>
    </p:spTree>
    <p:extLst>
      <p:ext uri="{BB962C8B-B14F-4D97-AF65-F5344CB8AC3E}">
        <p14:creationId xmlns:p14="http://schemas.microsoft.com/office/powerpoint/2010/main" val="9495518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2026-08-17T15:32:37.1070000Z</dcterms:created>
  <dcterms:modified xsi:type="dcterms:W3CDTF">2026-08-17T15:32:37.1070000Z</dcterms:modified>
</coreProperties>
</file>