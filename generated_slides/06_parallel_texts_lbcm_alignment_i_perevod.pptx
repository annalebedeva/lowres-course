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6c074f5caa41c8" /><Relationship Type="http://schemas.openxmlformats.org/officeDocument/2006/relationships/extended-properties" Target="/docProps/app.xml" Id="Rfa50e74c3d8943eb" /><Relationship Type="http://schemas.openxmlformats.org/officeDocument/2006/relationships/officeDocument" Target="/ppt/presentation.xml" Id="R8e8f2ac9f2ad49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dcf361ced94726"/>
  </p:sldMasterIdLst>
  <p:notesMasterIdLst>
    <p:notesMasterId xmlns:r="http://schemas.openxmlformats.org/officeDocument/2006/relationships" r:id="Ra5dc24fc9f8f4ed3"/>
  </p:notesMasterIdLst>
  <p:sldIdLst>
    <p:sldId xmlns:r="http://schemas.openxmlformats.org/officeDocument/2006/relationships" id="256" r:id="Rfb250ec331484759"/>
    <p:sldId xmlns:r="http://schemas.openxmlformats.org/officeDocument/2006/relationships" id="257" r:id="Rd3d3aff4ea0b441a"/>
    <p:sldId xmlns:r="http://schemas.openxmlformats.org/officeDocument/2006/relationships" id="258" r:id="R2f88d3237e7346b0"/>
    <p:sldId xmlns:r="http://schemas.openxmlformats.org/officeDocument/2006/relationships" id="259" r:id="R4ac8cefbb9b7444e"/>
    <p:sldId xmlns:r="http://schemas.openxmlformats.org/officeDocument/2006/relationships" id="260" r:id="R5efd1d6328bc4128"/>
    <p:sldId xmlns:r="http://schemas.openxmlformats.org/officeDocument/2006/relationships" id="261" r:id="R829a3a30f6a147d8"/>
    <p:sldId xmlns:r="http://schemas.openxmlformats.org/officeDocument/2006/relationships" id="262" r:id="R420c40e1b8284002"/>
    <p:sldId xmlns:r="http://schemas.openxmlformats.org/officeDocument/2006/relationships" id="263" r:id="Rcecd74c6bd164e00"/>
    <p:sldId xmlns:r="http://schemas.openxmlformats.org/officeDocument/2006/relationships" id="264" r:id="R9a5b097556934474"/>
    <p:sldId xmlns:r="http://schemas.openxmlformats.org/officeDocument/2006/relationships" id="265" r:id="R428917c6618f4078"/>
    <p:sldId xmlns:r="http://schemas.openxmlformats.org/officeDocument/2006/relationships" id="266" r:id="R634ccb2a5a9f4a9d"/>
    <p:sldId xmlns:r="http://schemas.openxmlformats.org/officeDocument/2006/relationships" id="267" r:id="R291874329f5142cb"/>
    <p:sldId xmlns:r="http://schemas.openxmlformats.org/officeDocument/2006/relationships" id="268" r:id="R61357e1416cf45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b0691492e34d46" /><Relationship Type="http://schemas.openxmlformats.org/officeDocument/2006/relationships/slideMaster" Target="/ppt/slideMasters/slideMaster1.xml" Id="R38dcf361ced94726" /><Relationship Type="http://schemas.openxmlformats.org/officeDocument/2006/relationships/notesMaster" Target="/ppt/notesMasters/notesMaster1.xml" Id="Ra5dc24fc9f8f4ed3" /><Relationship Type="http://schemas.openxmlformats.org/officeDocument/2006/relationships/presProps" Target="/ppt/presProps.xml" Id="Race617c26b3c4843" /><Relationship Type="http://schemas.openxmlformats.org/officeDocument/2006/relationships/tableStyles" Target="/ppt/tableStyles.xml" Id="Rd849d772b2074ec3" /><Relationship Type="http://schemas.openxmlformats.org/officeDocument/2006/relationships/slide" Target="/ppt/slides/slide1.xml" Id="Rfb250ec331484759" /><Relationship Type="http://schemas.openxmlformats.org/officeDocument/2006/relationships/slide" Target="/ppt/slides/slide2.xml" Id="Rd3d3aff4ea0b441a" /><Relationship Type="http://schemas.openxmlformats.org/officeDocument/2006/relationships/slide" Target="/ppt/slides/slide3.xml" Id="R2f88d3237e7346b0" /><Relationship Type="http://schemas.openxmlformats.org/officeDocument/2006/relationships/slide" Target="/ppt/slides/slide4.xml" Id="R4ac8cefbb9b7444e" /><Relationship Type="http://schemas.openxmlformats.org/officeDocument/2006/relationships/slide" Target="/ppt/slides/slide5.xml" Id="R5efd1d6328bc4128" /><Relationship Type="http://schemas.openxmlformats.org/officeDocument/2006/relationships/slide" Target="/ppt/slides/slide6.xml" Id="R829a3a30f6a147d8" /><Relationship Type="http://schemas.openxmlformats.org/officeDocument/2006/relationships/slide" Target="/ppt/slides/slide7.xml" Id="R420c40e1b8284002" /><Relationship Type="http://schemas.openxmlformats.org/officeDocument/2006/relationships/slide" Target="/ppt/slides/slide8.xml" Id="Rcecd74c6bd164e00" /><Relationship Type="http://schemas.openxmlformats.org/officeDocument/2006/relationships/slide" Target="/ppt/slides/slide9.xml" Id="R9a5b097556934474" /><Relationship Type="http://schemas.openxmlformats.org/officeDocument/2006/relationships/slide" Target="/ppt/slides/slide10.xml" Id="R428917c6618f4078" /><Relationship Type="http://schemas.openxmlformats.org/officeDocument/2006/relationships/slide" Target="/ppt/slides/slide11.xml" Id="R634ccb2a5a9f4a9d" /><Relationship Type="http://schemas.openxmlformats.org/officeDocument/2006/relationships/slide" Target="/ppt/slides/slide12.xml" Id="R291874329f5142cb" /><Relationship Type="http://schemas.openxmlformats.org/officeDocument/2006/relationships/slide" Target="/ppt/slides/slide13.xml" Id="R61357e1416cf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9533f9cd8740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c3569010b6465d" /><Relationship Type="http://schemas.openxmlformats.org/officeDocument/2006/relationships/notesMaster" Target="/ppt/notesMasters/notesMaster1.xml" Id="R1ccd2eb44ba448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0c010d5b749c2" /><Relationship Type="http://schemas.openxmlformats.org/officeDocument/2006/relationships/notesMaster" Target="/ppt/notesMasters/notesMaster1.xml" Id="R5249a8367b2d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ca016f33974f24" /><Relationship Type="http://schemas.openxmlformats.org/officeDocument/2006/relationships/notesMaster" Target="/ppt/notesMasters/notesMaster1.xml" Id="R11c6946745b24e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5dd9a6c99b4862" /><Relationship Type="http://schemas.openxmlformats.org/officeDocument/2006/relationships/notesMaster" Target="/ppt/notesMasters/notesMaster1.xml" Id="Rcd31d9b5be3349b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a58488ca984539" /><Relationship Type="http://schemas.openxmlformats.org/officeDocument/2006/relationships/notesMaster" Target="/ppt/notesMasters/notesMaster1.xml" Id="Rf9176d275dfc41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520a4a2de743ad" /><Relationship Type="http://schemas.openxmlformats.org/officeDocument/2006/relationships/notesMaster" Target="/ppt/notesMasters/notesMaster1.xml" Id="R7b666691ea554c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d4ca91d4d14c4b" /><Relationship Type="http://schemas.openxmlformats.org/officeDocument/2006/relationships/notesMaster" Target="/ppt/notesMasters/notesMaster1.xml" Id="R893e59cb5f0b42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31e39b6c474f7a" /><Relationship Type="http://schemas.openxmlformats.org/officeDocument/2006/relationships/notesMaster" Target="/ppt/notesMasters/notesMaster1.xml" Id="R573da7d1264644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9b1a00cff7485f" /><Relationship Type="http://schemas.openxmlformats.org/officeDocument/2006/relationships/notesMaster" Target="/ppt/notesMasters/notesMaster1.xml" Id="R578426e5a099475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75b7ff0890461a" /><Relationship Type="http://schemas.openxmlformats.org/officeDocument/2006/relationships/notesMaster" Target="/ppt/notesMasters/notesMaster1.xml" Id="Rf11a011f197d4a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7cd06b160424a" /><Relationship Type="http://schemas.openxmlformats.org/officeDocument/2006/relationships/notesMaster" Target="/ppt/notesMasters/notesMaster1.xml" Id="R49357be9490147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0a4884dee9445f" /><Relationship Type="http://schemas.openxmlformats.org/officeDocument/2006/relationships/notesMaster" Target="/ppt/notesMasters/notesMaster1.xml" Id="Rd3382644f43c4a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044391b7594d1c" /><Relationship Type="http://schemas.openxmlformats.org/officeDocument/2006/relationships/notesMaster" Target="/ppt/notesMasters/notesMaster1.xml" Id="Rd75a7aa79833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Параллельные данные часто являются самым узким местом для машинного перевода. Для малоресурсных языков даже несколько сотен проверенных пар предложений могут быть значимым ресурсом.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Нужно обсуждать доменную ограниченность. Религиозные тексты могут быть большими, но не отражают современную повседневную речь. Учебные материалы полезны, но часто содержат искусственные фразы.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всегда есть идеально параллельные тексты. Иногда есть две версии новости, пересказ, учебный перевод или тексты на похожую тему. Тогда задача становится mining, а не простым выравниванием.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Главная идея: предложения с похожим смыслом должны быть близки в многоязычном embedding-пространстве. Но score не заменяет экспертизу, особенно для родственных языков, диалектов и коротких фраз.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Alignment может выглядеть убедительно, но быть неверным. Для финального датасета нужно хранить score, источник и статус ручной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малоресурсных языков BLEU часто нестабилен. chrF может быть полезнее на малых данных. Ручная оценка обязательна, особенно если орфография вариативна.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может создавать fluent hallucinations. В малоресурсном языке она может подменять язык похожим или доминирующим. Все синтетические данные должны быть явно помечены.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занятия - не обязательно обучить сильный переводчик. Более надежный результат - качественный маленький параллельный набор и понимание, сколько данных нужно для следующего шага.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markdown source: course_sessions/06_parallel_texts_lbcm_alignment_i_perevod.md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5c843562e64c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958a49d354cea" /><Relationship Type="http://schemas.openxmlformats.org/officeDocument/2006/relationships/slideLayout" Target="/ppt/slideLayouts/slideLayout1.xml" Id="R0e20db5ff2644f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0db5ff2644f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627ca63ec4c19" /><Relationship Type="http://schemas.openxmlformats.org/officeDocument/2006/relationships/notesSlide" Target="/ppt/notesSlides/notesSlide1.xml" Id="R26b5ab229ae8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2f0601e464e84" /><Relationship Type="http://schemas.openxmlformats.org/officeDocument/2006/relationships/notesSlide" Target="/ppt/notesSlides/notesSlide2.xml" Id="R7820a64221cf45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90349201c4a47" /><Relationship Type="http://schemas.openxmlformats.org/officeDocument/2006/relationships/notesSlide" Target="/ppt/notesSlides/notesSlide3.xml" Id="R4eb8753504fd4b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e0a1b520b491a" /><Relationship Type="http://schemas.openxmlformats.org/officeDocument/2006/relationships/notesSlide" Target="/ppt/notesSlides/notesSlide4.xml" Id="R9bc7cc6d6d7d48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9cfcc01cf442d" /><Relationship Type="http://schemas.openxmlformats.org/officeDocument/2006/relationships/notesSlide" Target="/ppt/notesSlides/notesSlide5.xml" Id="R73b77e7a95c849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45634f0f74c54" /><Relationship Type="http://schemas.openxmlformats.org/officeDocument/2006/relationships/notesSlide" Target="/ppt/notesSlides/notesSlide6.xml" Id="R14670a3e1cca48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b3e7602d84f23" /><Relationship Type="http://schemas.openxmlformats.org/officeDocument/2006/relationships/notesSlide" Target="/ppt/notesSlides/notesSlide7.xml" Id="R79f69f7a379543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57b82b8804b49" /><Relationship Type="http://schemas.openxmlformats.org/officeDocument/2006/relationships/notesSlide" Target="/ppt/notesSlides/notesSlide8.xml" Id="Rf112754c2cc643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5bdc7b7ae64887" /><Relationship Type="http://schemas.openxmlformats.org/officeDocument/2006/relationships/notesSlide" Target="/ppt/notesSlides/notesSlide9.xml" Id="R54443d4b7bf2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fb99985194154" /><Relationship Type="http://schemas.openxmlformats.org/officeDocument/2006/relationships/notesSlide" Target="/ppt/notesSlides/notesSlide10.xml" Id="Rc6159441965d41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f7ccd40b341ab" /><Relationship Type="http://schemas.openxmlformats.org/officeDocument/2006/relationships/notesSlide" Target="/ppt/notesSlides/notesSlide11.xml" Id="R32ef69c4bd2540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c3c011c9749b0" /><Relationship Type="http://schemas.openxmlformats.org/officeDocument/2006/relationships/notesSlide" Target="/ppt/notesSlides/notesSlide12.xml" Id="R8cb6f82c5ae348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62b46324f4313" /><Relationship Type="http://schemas.openxmlformats.org/officeDocument/2006/relationships/notesSlide" Target="/ppt/notesSlides/notesSlide13.xml" Id="Ra207ea591fe54f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83080-C3F0-4018-B35F-D171B9B2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176B8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45A5E-07FA-446D-B3E0-9B9E1B4B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6B87"/>
                </a:solidFill>
              </a:defRPr>
            </a:pPr>
            <a:r>
              <a:rPr sz="1350" b="1">
                <a:solidFill>
                  <a:srgbClr val="176B87"/>
                </a:solidFill>
              </a:rPr>
              <a:t>Курс по ML для малоресурсных языков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AD9CA-92EC-4A71-98CE-B4EBD819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429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D2433"/>
                </a:solidFill>
              </a:defRPr>
            </a:pPr>
            <a:r>
              <a:rPr sz="3750" b="1">
                <a:solidFill>
                  <a:srgbClr val="1D2433"/>
                </a:solidFill>
              </a:rPr>
              <a:t>Занятие 6. Параллельные тексты, LBCM-alignment и машинный перевод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67F05-B74D-473D-9DA9-94AE41F6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4748B"/>
                </a:solidFill>
              </a:defRPr>
            </a:pPr>
            <a:r>
              <a:rPr sz="1650">
                <a:solidFill>
                  <a:srgbClr val="64748B"/>
                </a:solidFill>
              </a:rPr>
              <a:t>Занятие связывает сбор текстов с машинным переводом. Главный результат - небольшой параллельный датасет, выровненный с помощью LBCM-подхода, и baseline для перевода.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2DFD2-7001-4F16-B132-46DFDA64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D2433"/>
                </a:solidFill>
              </a:defRPr>
            </a:pPr>
            <a:r>
              <a:rPr sz="1500">
                <a:solidFill>
                  <a:srgbClr val="1D2433"/>
                </a:solidFill>
              </a:rPr>
              <a:t>Лекция, семинар, домашнее задание и заметки докладчика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E4B20-D180-4905-95C3-9F40C3BA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BC850-C888-403F-8CDD-CF496BB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1/13</a:t>
            </a:r>
          </a:p>
        </p:txBody>
      </p:sp>
    </p:spTree>
    <p:extLst>
      <p:ext uri="{BB962C8B-B14F-4D97-AF65-F5344CB8AC3E}">
        <p14:creationId xmlns:p14="http://schemas.microsoft.com/office/powerpoint/2010/main" val="13419366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8B7F8-AA16-4110-82BA-7CD26B41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41841-DC00-48AC-B01B-882C747C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Зачем нужны параллельные тексты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FFC17-E3AD-4559-9381-6EDDE401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3BDB3-2766-40B8-81E3-CE12DACE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Перевод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CE1CE-962D-4A4F-92FB-EF59D8DB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74247-65AA-405A-BD35-35991D8C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Словари и терминология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9A77B0-5BA3-4EAB-9AE2-524CA8C3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C9A45-FB83-481E-BD54-D2B244AB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Оценка качества моделей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83CDF-CF3A-4AC4-9258-9D71068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5F0EC-ED79-4CE7-9AFC-179698BC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Обучающие 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86887-32BE-47F6-B7CF-F91AACA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5A5FF-F0AC-4F25-A33B-5C3FA84B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Связь с доминирующим языком региона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CDFE0-F0AD-4C0F-9A5F-B12A20F5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D2720-FB88-4880-B492-5DED432B1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FD94-B54D-4438-9BB7-C9D585B1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2/13</a:t>
            </a:r>
          </a:p>
        </p:txBody>
      </p:sp>
    </p:spTree>
    <p:extLst>
      <p:ext uri="{BB962C8B-B14F-4D97-AF65-F5344CB8AC3E}">
        <p14:creationId xmlns:p14="http://schemas.microsoft.com/office/powerpoint/2010/main" val="47011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7ACA57-7293-4D69-88E3-1948244D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FD9CB-9D49-4600-90A6-B62FBBAC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Источники параллельных данных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9AACC-886F-426E-BA30-5F841485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1E953-88E1-49D1-BD49-2638C72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Учебники и двуязычные материалы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5E8E3-C6D6-4261-81D4-107B5250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DB9A1-8263-4D3D-A636-8F91E3E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Религиозные тексты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4E243-F653-4C0C-A9E5-0A7406C1F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61843-A829-4ADF-9981-4CB32C0A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Сайты администраций и СМИ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94925-09C1-4A82-8855-B402477FE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7CC1B-3B5B-4712-8FD6-B02236CF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Словари и фразовые списки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48B3A-834F-4D8E-BC9E-1CCD44EB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6E64E-2415-4841-B86D-0BA5A5C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Полевой перевод коротких текстов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F71DD-B0A8-41AE-8B7B-FD858A56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F65242-8B65-46ED-A126-1B0B4728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9F44C9-2E6A-4ECE-B405-139A88B5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3/13</a:t>
            </a:r>
          </a:p>
        </p:txBody>
      </p:sp>
    </p:spTree>
    <p:extLst>
      <p:ext uri="{BB962C8B-B14F-4D97-AF65-F5344CB8AC3E}">
        <p14:creationId xmlns:p14="http://schemas.microsoft.com/office/powerpoint/2010/main" val="15931205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B626D-CA3A-4E0C-9795-49E83C60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E1F31-34BB-4A88-86A6-788BE7A6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Типы выравнивания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90D71-8087-4979-9576-452391D7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ED0FC-DDD1-47C2-81EC-FCB2A317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Document alignment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DF02B-BAA1-43D8-92D7-4C42BB3B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685B9-D5FE-4641-A4FC-0741A829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Paragraph alignment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6BD2D-18A3-49C4-A6E0-FD333A2C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7FCAD4-6CC1-418A-9E91-0D92C38D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Sentence alignment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816CE-D36F-4FF7-8A11-BD00379D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D4DA6-A1FC-44DB-AF8E-FCF62B1E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Phrase and word alignment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A1A39-C428-4279-9CCD-FCB6353B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1377A4-3FAC-4435-9F3B-B8DE5524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Comparable corpora mining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A5895-154A-4235-BD48-62FA8A02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1FBE61-5DA7-4C4E-8479-FC450F4D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4BB27E-F421-4580-AF9D-EA77A947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4/13</a:t>
            </a:r>
          </a:p>
        </p:txBody>
      </p:sp>
    </p:spTree>
    <p:extLst>
      <p:ext uri="{BB962C8B-B14F-4D97-AF65-F5344CB8AC3E}">
        <p14:creationId xmlns:p14="http://schemas.microsoft.com/office/powerpoint/2010/main" val="1902079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28999-3B65-4B2E-B169-2B8F942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C847F-7162-416F-BCFD-935B54CD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LBCM-пайплайн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B363F-BAFD-4FF5-B385-1A7391FD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592A2-E483-4532-9C49-1B1D0755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Разбить документы на сегменты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F7D4E-06AC-482B-B5FC-BD3B32BF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ED939-2A47-46CE-91D5-FF90610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Получить multilingual embeddings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BDA82-7C2F-466C-A7ED-6189BC84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3AF3A-C292-4BF5-80AE-E55C562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Посчитать similarity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0BA6E-4427-4082-8CE5-B84EADCF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22695-8BBA-4687-AAF3-0A572C7C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Найти кандидатов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A823E-DA09-4734-B157-D940F77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DC54B-0316-4158-97D8-8EEC7045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Отфильтровать по длине, языку, 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3AD9E-E561-4BB0-8B9F-1CC0289F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F5E4D-FDCA-4497-9C94-C7B9B564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Проверить вручную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C2F3-F047-4720-91AA-179560D1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5DF28-BB89-48E3-A17C-C5C4E7CA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5F82A-AD0B-48FC-ACB5-57B8C881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5/13</a:t>
            </a:r>
          </a:p>
        </p:txBody>
      </p:sp>
    </p:spTree>
    <p:extLst>
      <p:ext uri="{BB962C8B-B14F-4D97-AF65-F5344CB8AC3E}">
        <p14:creationId xmlns:p14="http://schemas.microsoft.com/office/powerpoint/2010/main" val="21135105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3809A-5720-41E8-B403-4C5F6CEF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3FA22-28E0-49E4-A285-9F5017F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Риски alignment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3D292-C12D-4CA7-A915-D95C694F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6D0C6-2CF8-4B3B-857E-CB086435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Ложные пары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5E4E6-156E-4AAD-8AC8-CA6F1496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543B3-0F87-43CC-92AF-2F56C03D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Слишком свободный перевод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94673-7244-4629-B70D-B0B34A8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A5D99-CEBA-4B82-BDBD-A042B584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Пропуски и перестановки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A6F9D-9D61-4D03-9237-ED7D42B6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16FEF-046B-4E24-8C4E-48EB072E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Смешение языков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E9630-339D-4B0C-98FF-E433233C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56160-D512-4D58-8C49-4199765B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Утечка тестовых данных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89521-FDF5-4994-B5D6-7EE4C20B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153F6-0970-487A-AC3F-10322120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Неподходящий домен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AF1DB2-AA31-4DFA-8D22-E40E1030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AEA8E-87A9-4BF3-81E7-970044A6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FDDE7-6E2A-48CE-9EDA-EF9570D5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6/13</a:t>
            </a:r>
          </a:p>
        </p:txBody>
      </p:sp>
    </p:spTree>
    <p:extLst>
      <p:ext uri="{BB962C8B-B14F-4D97-AF65-F5344CB8AC3E}">
        <p14:creationId xmlns:p14="http://schemas.microsoft.com/office/powerpoint/2010/main" val="11772699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0849F-C1DA-46A3-B924-201D96D2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117A7-FC47-4DCA-B6FA-66EE75D7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Baseline машинного перевода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558A7-ACA4-4F7F-90EF-527310FF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88270-427A-4444-81D9-8B884D81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Готовая multilingual MT-модель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488B5-706D-4E43-B14C-9C548482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46A6F-D659-42CE-A5DF-DB40F9CA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Few-shot prompting как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2D7C66-4374-4BAB-96F9-6CAA4AC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8920E-ABDD-43F7-9C6A-C5F8E4F1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Fine-tuning при достаточном объеме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0B1FF-0043-4086-9D03-47C6D3A6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D5698-D615-46FE-A589-5747C0E8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Оценка: chrF, BLEU, COMET, ручная проверка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D98D5-5C5E-4964-8F31-EC0BA874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6FEBD-5113-4FA6-A361-7E1B94D6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8E49B-E858-450C-B472-5C7A1E7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7/13</a:t>
            </a:r>
          </a:p>
        </p:txBody>
      </p:sp>
    </p:spTree>
    <p:extLst>
      <p:ext uri="{BB962C8B-B14F-4D97-AF65-F5344CB8AC3E}">
        <p14:creationId xmlns:p14="http://schemas.microsoft.com/office/powerpoint/2010/main" val="1407476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8719A-7DEE-410C-8439-F0FB51A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B15B7-346E-4C83-B624-28382250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LLM и перевод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29442-A634-44F8-B68D-62A7A5ED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20D72-2444-48A0-A100-128602B7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LLM может помогать с черновым переводом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3C8F0-0B33-48D4-9E0B-7990ABA2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0E3E9-B04B-4A47-B7B1-C0615A0E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Нужна маркировка synthetic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D5A6C-647C-469C-900C-614244F5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A89D1-5D57-4BA9-BB34-702386F6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Нельзя смешивать человеческий и синтетический перевод без метаданных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62DDF-E81E-4A8C-81AF-D04DD83E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C0469-060D-4A64-87DE-546D571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Для обучения модели synthetic data может быть полезен, но рискован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60A40A-D4D0-4FC9-9198-61524167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C1A77-7541-44B4-B579-E3EA1016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A31B8-51C7-4460-8D68-76FDEDC1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8/13</a:t>
            </a:r>
          </a:p>
        </p:txBody>
      </p:sp>
    </p:spTree>
    <p:extLst>
      <p:ext uri="{BB962C8B-B14F-4D97-AF65-F5344CB8AC3E}">
        <p14:creationId xmlns:p14="http://schemas.microsoft.com/office/powerpoint/2010/main" val="15033889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75A40-9BCE-46C4-B6D3-38941A1D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76B87"/>
                </a:solidFill>
              </a:defRPr>
            </a:pPr>
            <a:r>
              <a:rPr sz="975" b="1">
                <a:solidFill>
                  <a:srgbClr val="176B87"/>
                </a:solidFill>
              </a:rPr>
              <a:t>ЛЕКЦИЯ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F5F33-06CB-480E-90B7-75A36FD1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Артефакт занятия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87CC3-55DB-4363-89C2-8C0AD9C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0F3757-DCC6-410B-BD58-39F459D1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parallel_candidates.tsv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3A589-E017-4703-8C34-0080A300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22D68-1474-4D9A-BBF7-4ABE176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parallel_verified.tsv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4349D-AEBD-4DCB-9F2C-0F6BC6F2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190D4-23B1-4993-BCF9-15D229E4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alignment_report.md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2CF3-2245-466C-B644-7F844C69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1591D-EDD6-4D58-8780-CE64B1BA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mt_baseline_report.md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0308C-A8CC-4F93-830E-5A2E471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4778D-26D4-40A0-8770-5E507C8F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B4C6B6-ECD0-4400-8071-2535702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9/13</a:t>
            </a:r>
          </a:p>
        </p:txBody>
      </p:sp>
    </p:spTree>
    <p:extLst>
      <p:ext uri="{BB962C8B-B14F-4D97-AF65-F5344CB8AC3E}">
        <p14:creationId xmlns:p14="http://schemas.microsoft.com/office/powerpoint/2010/main" val="7070827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9FC20A-7D36-44F5-81A4-C64484D9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08955-7A6C-4C56-A193-2D1CF2DA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1. Подготовка сегментов,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FF73B-4703-4E4A-8E66-117E75E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AEFF64-50B9-4EE1-8D18-6F63D663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берут два документа или две коллекции текстов и создают: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E917D-3A05-4087-9C7D-7F3D9D16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7CCF7-5C62-449F-AFA8-383CF145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source_segments.tsv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1761B-F732-4F1F-8BE6-18146427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E40AA-0A6A-4004-A6BC-456924D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target_segments.tsv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DB947E-BEB8-4DD0-B2B3-DEFA15D0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5647AD-FA6D-47F3-A4C9-EA878DAF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Поля: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63077-8C77-40BF-8C6A-BEC8B559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48E58-CEA4-4F42-8292-DF09228E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segment_id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8F1EF-5CB0-4BCE-9447-A823F88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E98888-2801-449F-AF8F-57095D3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doc_id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EB23C-891E-4CE4-916F-00D942BF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36901-95F0-438A-B771-56680B2D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65687-5434-4A7C-9C96-9EAD360E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7E80B-FAC5-4977-8634-995B3A5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language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3F324-964B-4840-B97E-A33A8F3E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77385B-DF2C-411B-A069-44912BC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6BB8E5-BF98-42BC-BECD-648D6C69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10/13</a:t>
            </a:r>
          </a:p>
        </p:txBody>
      </p:sp>
    </p:spTree>
    <p:extLst>
      <p:ext uri="{BB962C8B-B14F-4D97-AF65-F5344CB8AC3E}">
        <p14:creationId xmlns:p14="http://schemas.microsoft.com/office/powerpoint/2010/main" val="266736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01C5A6-2CBD-4AC4-B00E-51BDE9D0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B002D-C440-4D19-8A8B-174A791A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2. LBCM-кандидаты, 30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D1F42-D8FD-4BD7-A04A-A78D4F4C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B5B32-35D4-43DA-90DB-2903FB17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используют готовые многоязычные эмбеддинги или агентно подготовленный скрипт: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C5F31-6E1D-4F65-A325-784F1EA8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A055F-C214-4164-A9CB-CBB6A34A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кодируют сегменты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6FB6D-7388-4DE0-B07C-3A234F3D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41FEA-C125-48F2-9A00-465F89D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считают cosine similarity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CE697-51E8-48D2-A4E0-C44ED0A5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C6B56-C9BF-4E02-90D9-D1BECEBA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выбирают top-k кандидатов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2C702-728B-4B4B-8870-65956EB1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80AD6B-F58B-40E0-BC47-3CB3483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сохраняют parallel_candidates.tsv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32455F-8E0D-4C72-8AB2-A7D38596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5C446-4C4D-4B24-BF80-DF3BBE5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2F7EC-909D-43C8-8EF5-DA508678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11/13</a:t>
            </a:r>
          </a:p>
        </p:txBody>
      </p:sp>
    </p:spTree>
    <p:extLst>
      <p:ext uri="{BB962C8B-B14F-4D97-AF65-F5344CB8AC3E}">
        <p14:creationId xmlns:p14="http://schemas.microsoft.com/office/powerpoint/2010/main" val="15728099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15C56-5BEC-47F8-BEF8-E73729E8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5B00A-F8FF-4D4E-8B30-0127C9AE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3. Ручная валидация,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83374-229C-4EAD-AE82-6FE8341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8D82D-F058-4884-B1E6-74F0F388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Команды размечают 30 кандидатов: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A2DFB-AB1A-4536-89F8-ABBBD2F0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6C80B-CE61-40BE-AEB2-BBD0EB3F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62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good translation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B2746-F8C0-484E-B1C5-05240E8D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A8062-500D-40EF-B201-0BEF724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partial translation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9FD3A-FB9F-4421-B701-6B80B046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3FE9D-B986-4463-8BED-4920E190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671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same topic 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BD55B-19FA-45E3-957C-8DA08EF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B846C7-24D5-4980-95B9-1425695E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wrong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C2298-4949-4A29-9B16-905E1D73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1C581-B065-4D3B-A882-74D0A93F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72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D2433"/>
                </a:solidFill>
              </a:defRPr>
            </a:pPr>
            <a:r>
              <a:rPr sz="1575">
                <a:solidFill>
                  <a:srgbClr val="1D2433"/>
                </a:solidFill>
              </a:rPr>
              <a:t>unsure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9C556-8CA0-404F-9FF0-E65F015B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11D23-717E-4FFF-BC36-3F38BED1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F3995-E739-4532-B4EA-F060DC65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12/13</a:t>
            </a:r>
          </a:p>
        </p:txBody>
      </p:sp>
    </p:spTree>
    <p:extLst>
      <p:ext uri="{BB962C8B-B14F-4D97-AF65-F5344CB8AC3E}">
        <p14:creationId xmlns:p14="http://schemas.microsoft.com/office/powerpoint/2010/main" val="3366178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3EBF33-4B15-4C11-BEC3-524FDB9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45309"/>
                </a:solidFill>
              </a:defRPr>
            </a:pPr>
            <a:r>
              <a:rPr sz="975" b="1">
                <a:solidFill>
                  <a:srgbClr val="B45309"/>
                </a:solidFill>
              </a:rPr>
              <a:t>СЕМИНАР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A58E-65B3-487B-B8FD-90E86CC4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1009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D2433"/>
                </a:solidFill>
              </a:defRPr>
            </a:pPr>
            <a:r>
              <a:rPr sz="2625" b="1">
                <a:solidFill>
                  <a:srgbClr val="1D2433"/>
                </a:solidFill>
              </a:rPr>
              <a:t>Практика 4. MT baseline, 20 минут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76CEB-15B3-4F5E-BCDA-4998529E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BD638-3697-4347-A1A0-FCC48CD0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Команды запускают перевод одним доступным способом: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47556-1559-4CE0-8EA7-28345739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7F96A-DE33-4725-85CE-63D5ECED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66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готовая MT-модель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8C820-D487-451F-990A-C94E022A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DA457D-6FD6-4F6E-9133-DCD8B3E2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LLM-prompt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7B684-AF1D-481E-ACB8-2D24F01A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510E50-EAFC-4CA0-958E-49DF1C9C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словарный baseline для отдельных терминов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BE341-9A53-439E-BD16-B41E42C1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CD908-29CA-4DB2-87E6-2BF9C5A9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Промпт для агента: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4C9E3D-C127-4E22-AB42-13A18F5B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05E9F8-0C11-4B04-AE0C-0E5FE53B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Проанализируй таблицу кандидатов параллельных предложений.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D18AB-B2B6-46C1-A65E-DA8002CB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1632A-0AB9-4C2C-8470-F6D0A72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529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Предложи правила фильтрации по similarity, длине, языку и ручному статусу.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D7803-7A2F-4632-855D-904B9F75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3A400-8666-4F3E-ACEE-653F929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962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D2433"/>
                </a:solidFill>
              </a:defRPr>
            </a:pPr>
            <a:r>
              <a:rPr sz="1350">
                <a:solidFill>
                  <a:srgbClr val="1D2433"/>
                </a:solidFill>
              </a:rPr>
              <a:t>Составь отчет о том, какие пары можно использовать для обучения,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0348F-E7A4-451C-9299-F6E9A37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190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B769B-D3E9-483B-9801-0FC93D2D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Занятие 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34CF6-9C2C-4D1D-9DEF-D7C718B1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13/13</a:t>
            </a:r>
          </a:p>
        </p:txBody>
      </p:sp>
    </p:spTree>
    <p:extLst>
      <p:ext uri="{BB962C8B-B14F-4D97-AF65-F5344CB8AC3E}">
        <p14:creationId xmlns:p14="http://schemas.microsoft.com/office/powerpoint/2010/main" val="408897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2026-08-17T15:32:37.6820000Z</dcterms:created>
  <dcterms:modified xsi:type="dcterms:W3CDTF">2026-08-17T15:32:37.6820000Z</dcterms:modified>
</coreProperties>
</file>