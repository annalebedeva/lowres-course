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4b9e17c62142f7" /><Relationship Type="http://schemas.openxmlformats.org/officeDocument/2006/relationships/extended-properties" Target="/docProps/app.xml" Id="Racb171818db74d1c" /><Relationship Type="http://schemas.openxmlformats.org/officeDocument/2006/relationships/officeDocument" Target="/ppt/presentation.xml" Id="R7a87146e43ff449e" /></Relationships>
</file>

<file path=ppt/presentation.xml><?xml version="1.0" encoding="utf-8"?>
<p:presentation xmlns:p="http://schemas.openxmlformats.org/presentationml/2006/main">
  <p:sldMasterIdLst>
    <p:sldMasterId xmlns:r="http://schemas.openxmlformats.org/officeDocument/2006/relationships" id="2147483648" r:id="R4bbe28fb388e438f"/>
  </p:sldMasterIdLst>
  <p:notesMasterIdLst>
    <p:notesMasterId xmlns:r="http://schemas.openxmlformats.org/officeDocument/2006/relationships" r:id="R6a76ad501ca9475b"/>
  </p:notesMasterIdLst>
  <p:sldIdLst>
    <p:sldId xmlns:r="http://schemas.openxmlformats.org/officeDocument/2006/relationships" id="256" r:id="Rd6c2d388ac8648cf"/>
    <p:sldId xmlns:r="http://schemas.openxmlformats.org/officeDocument/2006/relationships" id="257" r:id="R6392a515f22c4d03"/>
    <p:sldId xmlns:r="http://schemas.openxmlformats.org/officeDocument/2006/relationships" id="258" r:id="Ref08edbce4b5434e"/>
    <p:sldId xmlns:r="http://schemas.openxmlformats.org/officeDocument/2006/relationships" id="259" r:id="Rba0b33cf9b724a5c"/>
    <p:sldId xmlns:r="http://schemas.openxmlformats.org/officeDocument/2006/relationships" id="260" r:id="Rd844e727ec894e4d"/>
    <p:sldId xmlns:r="http://schemas.openxmlformats.org/officeDocument/2006/relationships" id="261" r:id="Rf51193f0150f4421"/>
    <p:sldId xmlns:r="http://schemas.openxmlformats.org/officeDocument/2006/relationships" id="262" r:id="R6bb2983b3d164084"/>
    <p:sldId xmlns:r="http://schemas.openxmlformats.org/officeDocument/2006/relationships" id="263" r:id="Rf239f5d02cb94d7f"/>
    <p:sldId xmlns:r="http://schemas.openxmlformats.org/officeDocument/2006/relationships" id="264" r:id="R2d3e41abfa04466a"/>
    <p:sldId xmlns:r="http://schemas.openxmlformats.org/officeDocument/2006/relationships" id="265" r:id="R904f30e898454fa5"/>
    <p:sldId xmlns:r="http://schemas.openxmlformats.org/officeDocument/2006/relationships" id="266" r:id="R9c78aa9eee0d45b1"/>
    <p:sldId xmlns:r="http://schemas.openxmlformats.org/officeDocument/2006/relationships" id="267" r:id="R22595bbfa0f24b96"/>
    <p:sldId xmlns:r="http://schemas.openxmlformats.org/officeDocument/2006/relationships" id="268" r:id="R7de827be75c14f66"/>
    <p:sldId xmlns:r="http://schemas.openxmlformats.org/officeDocument/2006/relationships" id="269" r:id="Rd02a7b5c60a64a7a"/>
    <p:sldId xmlns:r="http://schemas.openxmlformats.org/officeDocument/2006/relationships" id="270" r:id="R518ab10c0c954159"/>
    <p:sldId xmlns:r="http://schemas.openxmlformats.org/officeDocument/2006/relationships" id="271" r:id="R47677128fcbc4ab4"/>
    <p:sldId xmlns:r="http://schemas.openxmlformats.org/officeDocument/2006/relationships" id="272" r:id="Re9571b2f5c4e4f66"/>
    <p:sldId xmlns:r="http://schemas.openxmlformats.org/officeDocument/2006/relationships" id="273" r:id="R20db5c76e1a04f31"/>
    <p:sldId xmlns:r="http://schemas.openxmlformats.org/officeDocument/2006/relationships" id="274" r:id="R65e07640a6844b94"/>
    <p:sldId xmlns:r="http://schemas.openxmlformats.org/officeDocument/2006/relationships" id="275" r:id="Rd3579902c9804c1e"/>
    <p:sldId xmlns:r="http://schemas.openxmlformats.org/officeDocument/2006/relationships" id="276" r:id="R565bc1e6faba4727"/>
    <p:sldId xmlns:r="http://schemas.openxmlformats.org/officeDocument/2006/relationships" id="277" r:id="R8933e7ebe76247e3"/>
    <p:sldId xmlns:r="http://schemas.openxmlformats.org/officeDocument/2006/relationships" id="278" r:id="R3609d726b9f9487b"/>
    <p:sldId xmlns:r="http://schemas.openxmlformats.org/officeDocument/2006/relationships" id="279" r:id="R5b5ecce1c3624d74"/>
    <p:sldId xmlns:r="http://schemas.openxmlformats.org/officeDocument/2006/relationships" id="280" r:id="Rcca479b951fd4d57"/>
    <p:sldId xmlns:r="http://schemas.openxmlformats.org/officeDocument/2006/relationships" id="281" r:id="Rf6155c443e9e4bb7"/>
    <p:sldId xmlns:r="http://schemas.openxmlformats.org/officeDocument/2006/relationships" id="282" r:id="R1985642518a747bc"/>
    <p:sldId xmlns:r="http://schemas.openxmlformats.org/officeDocument/2006/relationships" id="283" r:id="R126adb59424847f5"/>
    <p:sldId xmlns:r="http://schemas.openxmlformats.org/officeDocument/2006/relationships" id="284" r:id="R4d9ff45b7eb14c4a"/>
    <p:sldId xmlns:r="http://schemas.openxmlformats.org/officeDocument/2006/relationships" id="285" r:id="R4049bdceab434db9"/>
    <p:sldId xmlns:r="http://schemas.openxmlformats.org/officeDocument/2006/relationships" id="286" r:id="R913890252d184874"/>
    <p:sldId xmlns:r="http://schemas.openxmlformats.org/officeDocument/2006/relationships" id="287" r:id="R105a0ecc90ec49ad"/>
    <p:sldId xmlns:r="http://schemas.openxmlformats.org/officeDocument/2006/relationships" id="288" r:id="R01d9fe9400414d75"/>
    <p:sldId xmlns:r="http://schemas.openxmlformats.org/officeDocument/2006/relationships" id="289" r:id="Raf8cf95b19fa4e1a"/>
    <p:sldId xmlns:r="http://schemas.openxmlformats.org/officeDocument/2006/relationships" id="290" r:id="Ra03aeffba2a043fb"/>
    <p:sldId xmlns:r="http://schemas.openxmlformats.org/officeDocument/2006/relationships" id="291" r:id="R83e3f5c6717b4f8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506ec0ed78419a" /><Relationship Type="http://schemas.openxmlformats.org/officeDocument/2006/relationships/slideMaster" Target="/ppt/slideMasters/slideMaster1.xml" Id="R4bbe28fb388e438f" /><Relationship Type="http://schemas.openxmlformats.org/officeDocument/2006/relationships/notesMaster" Target="/ppt/notesMasters/notesMaster1.xml" Id="R6a76ad501ca9475b" /><Relationship Type="http://schemas.openxmlformats.org/officeDocument/2006/relationships/presProps" Target="/ppt/presProps.xml" Id="R7a4d93b9474145db" /><Relationship Type="http://schemas.openxmlformats.org/officeDocument/2006/relationships/tableStyles" Target="/ppt/tableStyles.xml" Id="R51349e4660464c78" /><Relationship Type="http://schemas.openxmlformats.org/officeDocument/2006/relationships/slide" Target="/ppt/slides/slide1.xml" Id="Rd6c2d388ac8648cf" /><Relationship Type="http://schemas.openxmlformats.org/officeDocument/2006/relationships/slide" Target="/ppt/slides/slide2.xml" Id="R6392a515f22c4d03" /><Relationship Type="http://schemas.openxmlformats.org/officeDocument/2006/relationships/slide" Target="/ppt/slides/slide3.xml" Id="Ref08edbce4b5434e" /><Relationship Type="http://schemas.openxmlformats.org/officeDocument/2006/relationships/slide" Target="/ppt/slides/slide4.xml" Id="Rba0b33cf9b724a5c" /><Relationship Type="http://schemas.openxmlformats.org/officeDocument/2006/relationships/slide" Target="/ppt/slides/slide5.xml" Id="Rd844e727ec894e4d" /><Relationship Type="http://schemas.openxmlformats.org/officeDocument/2006/relationships/slide" Target="/ppt/slides/slide6.xml" Id="Rf51193f0150f4421" /><Relationship Type="http://schemas.openxmlformats.org/officeDocument/2006/relationships/slide" Target="/ppt/slides/slide7.xml" Id="R6bb2983b3d164084" /><Relationship Type="http://schemas.openxmlformats.org/officeDocument/2006/relationships/slide" Target="/ppt/slides/slide8.xml" Id="Rf239f5d02cb94d7f" /><Relationship Type="http://schemas.openxmlformats.org/officeDocument/2006/relationships/slide" Target="/ppt/slides/slide9.xml" Id="R2d3e41abfa04466a" /><Relationship Type="http://schemas.openxmlformats.org/officeDocument/2006/relationships/slide" Target="/ppt/slides/slide10.xml" Id="R904f30e898454fa5" /><Relationship Type="http://schemas.openxmlformats.org/officeDocument/2006/relationships/slide" Target="/ppt/slides/slide11.xml" Id="R9c78aa9eee0d45b1" /><Relationship Type="http://schemas.openxmlformats.org/officeDocument/2006/relationships/slide" Target="/ppt/slides/slide12.xml" Id="R22595bbfa0f24b96" /><Relationship Type="http://schemas.openxmlformats.org/officeDocument/2006/relationships/slide" Target="/ppt/slides/slide13.xml" Id="R7de827be75c14f66" /><Relationship Type="http://schemas.openxmlformats.org/officeDocument/2006/relationships/slide" Target="/ppt/slides/slide14.xml" Id="Rd02a7b5c60a64a7a" /><Relationship Type="http://schemas.openxmlformats.org/officeDocument/2006/relationships/slide" Target="/ppt/slides/slide15.xml" Id="R518ab10c0c954159" /><Relationship Type="http://schemas.openxmlformats.org/officeDocument/2006/relationships/slide" Target="/ppt/slides/slide16.xml" Id="R47677128fcbc4ab4" /><Relationship Type="http://schemas.openxmlformats.org/officeDocument/2006/relationships/slide" Target="/ppt/slides/slide17.xml" Id="Re9571b2f5c4e4f66" /><Relationship Type="http://schemas.openxmlformats.org/officeDocument/2006/relationships/slide" Target="/ppt/slides/slide18.xml" Id="R20db5c76e1a04f31" /><Relationship Type="http://schemas.openxmlformats.org/officeDocument/2006/relationships/slide" Target="/ppt/slides/slide19.xml" Id="R65e07640a6844b94" /><Relationship Type="http://schemas.openxmlformats.org/officeDocument/2006/relationships/slide" Target="/ppt/slides/slide20.xml" Id="Rd3579902c9804c1e" /><Relationship Type="http://schemas.openxmlformats.org/officeDocument/2006/relationships/slide" Target="/ppt/slides/slide21.xml" Id="R565bc1e6faba4727" /><Relationship Type="http://schemas.openxmlformats.org/officeDocument/2006/relationships/slide" Target="/ppt/slides/slide22.xml" Id="R8933e7ebe76247e3" /><Relationship Type="http://schemas.openxmlformats.org/officeDocument/2006/relationships/slide" Target="/ppt/slides/slide23.xml" Id="R3609d726b9f9487b" /><Relationship Type="http://schemas.openxmlformats.org/officeDocument/2006/relationships/slide" Target="/ppt/slides/slide24.xml" Id="R5b5ecce1c3624d74" /><Relationship Type="http://schemas.openxmlformats.org/officeDocument/2006/relationships/slide" Target="/ppt/slides/slide25.xml" Id="Rcca479b951fd4d57" /><Relationship Type="http://schemas.openxmlformats.org/officeDocument/2006/relationships/slide" Target="/ppt/slides/slide26.xml" Id="Rf6155c443e9e4bb7" /><Relationship Type="http://schemas.openxmlformats.org/officeDocument/2006/relationships/slide" Target="/ppt/slides/slide27.xml" Id="R1985642518a747bc" /><Relationship Type="http://schemas.openxmlformats.org/officeDocument/2006/relationships/slide" Target="/ppt/slides/slide28.xml" Id="R126adb59424847f5" /><Relationship Type="http://schemas.openxmlformats.org/officeDocument/2006/relationships/slide" Target="/ppt/slides/slide29.xml" Id="R4d9ff45b7eb14c4a" /><Relationship Type="http://schemas.openxmlformats.org/officeDocument/2006/relationships/slide" Target="/ppt/slides/slide30.xml" Id="R4049bdceab434db9" /><Relationship Type="http://schemas.openxmlformats.org/officeDocument/2006/relationships/slide" Target="/ppt/slides/slide31.xml" Id="R913890252d184874" /><Relationship Type="http://schemas.openxmlformats.org/officeDocument/2006/relationships/slide" Target="/ppt/slides/slide32.xml" Id="R105a0ecc90ec49ad" /><Relationship Type="http://schemas.openxmlformats.org/officeDocument/2006/relationships/slide" Target="/ppt/slides/slide33.xml" Id="R01d9fe9400414d75" /><Relationship Type="http://schemas.openxmlformats.org/officeDocument/2006/relationships/slide" Target="/ppt/slides/slide34.xml" Id="Raf8cf95b19fa4e1a" /><Relationship Type="http://schemas.openxmlformats.org/officeDocument/2006/relationships/slide" Target="/ppt/slides/slide35.xml" Id="Ra03aeffba2a043fb" /><Relationship Type="http://schemas.openxmlformats.org/officeDocument/2006/relationships/slide" Target="/ppt/slides/slide36.xml" Id="R83e3f5c6717b4f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d71619679741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c91fdb94534e97" /><Relationship Type="http://schemas.openxmlformats.org/officeDocument/2006/relationships/notesMaster" Target="/ppt/notesMasters/notesMaster1.xml" Id="R1d6e022e87b144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da94579b8d4953" /><Relationship Type="http://schemas.openxmlformats.org/officeDocument/2006/relationships/notesMaster" Target="/ppt/notesMasters/notesMaster1.xml" Id="R4703c1b0fe1d42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efd87515f44498" /><Relationship Type="http://schemas.openxmlformats.org/officeDocument/2006/relationships/notesMaster" Target="/ppt/notesMasters/notesMaster1.xml" Id="R33cdd1190b324d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4927f1cecb4014" /><Relationship Type="http://schemas.openxmlformats.org/officeDocument/2006/relationships/notesMaster" Target="/ppt/notesMasters/notesMaster1.xml" Id="R73b9f2c9f78445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11f12e55e6483f" /><Relationship Type="http://schemas.openxmlformats.org/officeDocument/2006/relationships/notesMaster" Target="/ppt/notesMasters/notesMaster1.xml" Id="Ra057cb2329ee4a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e3cf726f0c4931" /><Relationship Type="http://schemas.openxmlformats.org/officeDocument/2006/relationships/notesMaster" Target="/ppt/notesMasters/notesMaster1.xml" Id="Rc92078071eb742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f51a9b99094c3c" /><Relationship Type="http://schemas.openxmlformats.org/officeDocument/2006/relationships/notesMaster" Target="/ppt/notesMasters/notesMaster1.xml" Id="Rf299f046982947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5af53959604ad2" /><Relationship Type="http://schemas.openxmlformats.org/officeDocument/2006/relationships/notesMaster" Target="/ppt/notesMasters/notesMaster1.xml" Id="R9be60a6b58134a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2563c16064482d" /><Relationship Type="http://schemas.openxmlformats.org/officeDocument/2006/relationships/notesMaster" Target="/ppt/notesMasters/notesMaster1.xml" Id="Rf4505322610149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69bfd15dc846c3" /><Relationship Type="http://schemas.openxmlformats.org/officeDocument/2006/relationships/notesMaster" Target="/ppt/notesMasters/notesMaster1.xml" Id="R6da0db1797c6401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6a58ac688b4ccd" /><Relationship Type="http://schemas.openxmlformats.org/officeDocument/2006/relationships/notesMaster" Target="/ppt/notesMasters/notesMaster1.xml" Id="R0a1ddfd869314be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6ecbd2f9baa4162" /><Relationship Type="http://schemas.openxmlformats.org/officeDocument/2006/relationships/notesMaster" Target="/ppt/notesMasters/notesMaster1.xml" Id="Rbd21322d71eb4ad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2d53f6024c4e4c" /><Relationship Type="http://schemas.openxmlformats.org/officeDocument/2006/relationships/notesMaster" Target="/ppt/notesMasters/notesMaster1.xml" Id="Rb989f88e870a456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0e21d7bde4246b9" /><Relationship Type="http://schemas.openxmlformats.org/officeDocument/2006/relationships/notesMaster" Target="/ppt/notesMasters/notesMaster1.xml" Id="R8035f16b13b8412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04d51fb47fc47d3" /><Relationship Type="http://schemas.openxmlformats.org/officeDocument/2006/relationships/notesMaster" Target="/ppt/notesMasters/notesMaster1.xml" Id="R2fc0a65ff8d045b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944e09848d44a9a" /><Relationship Type="http://schemas.openxmlformats.org/officeDocument/2006/relationships/notesMaster" Target="/ppt/notesMasters/notesMaster1.xml" Id="Rfaeaff9fbdc0499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7cb34e8d8f54748" /><Relationship Type="http://schemas.openxmlformats.org/officeDocument/2006/relationships/notesMaster" Target="/ppt/notesMasters/notesMaster1.xml" Id="Ra39c8e75d3ab420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e541aa1ff8043f2" /><Relationship Type="http://schemas.openxmlformats.org/officeDocument/2006/relationships/notesMaster" Target="/ppt/notesMasters/notesMaster1.xml" Id="Rda589b78a411401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e6eaa4a1fc4add" /><Relationship Type="http://schemas.openxmlformats.org/officeDocument/2006/relationships/notesMaster" Target="/ppt/notesMasters/notesMaster1.xml" Id="R046b2ba7d8804b2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3deef4124784ba8" /><Relationship Type="http://schemas.openxmlformats.org/officeDocument/2006/relationships/notesMaster" Target="/ppt/notesMasters/notesMaster1.xml" Id="R77f5098efcc149d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09bf551e11a4693" /><Relationship Type="http://schemas.openxmlformats.org/officeDocument/2006/relationships/notesMaster" Target="/ppt/notesMasters/notesMaster1.xml" Id="R9d59985f40c54df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1e868315a694946" /><Relationship Type="http://schemas.openxmlformats.org/officeDocument/2006/relationships/notesMaster" Target="/ppt/notesMasters/notesMaster1.xml" Id="R8d50b4f4b3b3450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514097fa24d4bd8" /><Relationship Type="http://schemas.openxmlformats.org/officeDocument/2006/relationships/notesMaster" Target="/ppt/notesMasters/notesMaster1.xml" Id="Rca47fb53b067430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b7ed18b4d7b41e1" /><Relationship Type="http://schemas.openxmlformats.org/officeDocument/2006/relationships/notesMaster" Target="/ppt/notesMasters/notesMaster1.xml" Id="R93681d07e785425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00ecb6a7d844e58" /><Relationship Type="http://schemas.openxmlformats.org/officeDocument/2006/relationships/notesMaster" Target="/ppt/notesMasters/notesMaster1.xml" Id="Re2650e8c8ee741f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0d9cbe6de864740" /><Relationship Type="http://schemas.openxmlformats.org/officeDocument/2006/relationships/notesMaster" Target="/ppt/notesMasters/notesMaster1.xml" Id="R6bbe42dce67a4a7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077689c0bd7462d" /><Relationship Type="http://schemas.openxmlformats.org/officeDocument/2006/relationships/notesMaster" Target="/ppt/notesMasters/notesMaster1.xml" Id="R2e4624049f60492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f757036d1fd44af" /><Relationship Type="http://schemas.openxmlformats.org/officeDocument/2006/relationships/notesMaster" Target="/ppt/notesMasters/notesMaster1.xml" Id="Rbfb19bd00bdd471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f618884363749c9" /><Relationship Type="http://schemas.openxmlformats.org/officeDocument/2006/relationships/notesMaster" Target="/ppt/notesMasters/notesMaster1.xml" Id="Rf73f449f54ca474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883aff331ba4e97" /><Relationship Type="http://schemas.openxmlformats.org/officeDocument/2006/relationships/notesMaster" Target="/ppt/notesMasters/notesMaster1.xml" Id="R3f58134257b747c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6923acea3354f51" /><Relationship Type="http://schemas.openxmlformats.org/officeDocument/2006/relationships/notesMaster" Target="/ppt/notesMasters/notesMaster1.xml" Id="R581a62ddce3c429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ca8300633ba4d46" /><Relationship Type="http://schemas.openxmlformats.org/officeDocument/2006/relationships/notesMaster" Target="/ppt/notesMasters/notesMaster1.xml" Id="R62ce3ffea2e94e0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086c50f38ac4df3" /><Relationship Type="http://schemas.openxmlformats.org/officeDocument/2006/relationships/notesMaster" Target="/ppt/notesMasters/notesMaster1.xml" Id="R20713456cde04ea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1374c6ed1ec41ea" /><Relationship Type="http://schemas.openxmlformats.org/officeDocument/2006/relationships/notesMaster" Target="/ppt/notesMasters/notesMaster1.xml" Id="Rc8ec244c853449b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957b87aae2b446a" /><Relationship Type="http://schemas.openxmlformats.org/officeDocument/2006/relationships/notesMaster" Target="/ppt/notesMasters/notesMaster1.xml" Id="R97daf26d857f4f1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ab1f303dbec472d" /><Relationship Type="http://schemas.openxmlformats.org/officeDocument/2006/relationships/notesMaster" Target="/ppt/notesMasters/notesMaster1.xml" Id="R9410ec33059747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Начать нужно не с моделей, а с задачи. "Сохранить язык" может означать разные вещи: сделать тексты доступными, помочь преподавателям, расшифровать архивные записи, создать клавиатуру, спелчекер, переводчик, корпус, учебные материалы или инструменты для исследователей. Важно сразу отделить технический интерес от реальной пользы.</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Этот слайд нужен, чтобы сразу увидеть группу как набор компетенций, а не как "студентов с разным уровнем Python". У кого-то может быть языковая или региональная экспертиза, у кого-то - опыт работы с архивами, у кого-то - навыки перевода, преподавания, программирования, полевой работы, анализа данных или взаимодействия с сообществами. Это напрямую влияет на выбор проектных треков.</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этом слайде не надо сразу подсказывать ответы. Дать студентам 7-10 минут на общий брейншторм. Писать ответы на доске или в общей таблице. Важно, чтобы прозвучали не только модели, но и люди, образование, доступность письменности, архивы, права, мотивация сообщества, материалы для детей, словари, медиа.</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Здесь нужно собрать ответы студентов в более системную карту. ML - только один слой. Он полезен, когда помогает производить, искать, расшифровывать, переводить, проверять или структурировать языковые материалы. Но без сообщества и данных модель сама по себе язык не сохраняет.</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Нужно явно проговорить цепочки. OCR позволяет получить текст из изображений, а потом использовать его для корпуса, перевода, спелчекера или локальной LLM. ASR позволяет получить текст "из просто записи голоса": интервью, сказки, разговоры, учебные фразы. Alignment помогает связать тексты на двух языках. Спелчекер помогает не только пользователям, но и OCR/ASR-постобработке.</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Это ключевая логика курса. Не надо начинать с обучения модели, если уже есть готовый корпус или baseline. Сначала нужно узнать, что существует: Hugging Face, GitHub, ELAR, Zenodo, CLARIN, OPUS, Common Voice, архивы, локальные проекты. Если готовые ресурсы есть, проверяем их качество. Если нет, планируем сбор.</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Нужно снизить порог входа. Для студентов, которые начали Python только в прошлом году, результатом не обязана быть большая модель. Маленький, проверенный, документированный артефакт лучше, чем нестабильное "мы обучили нейросеть" без данных и оценки.</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Каждая команда должна выбрать не только язык, но и подход. Например: "делаем OCR для учебника", "проверяем ASR на архивных записях", "собираем веб-корпус", "ищем параллельные тексты", "делаем спелчекер". Выбор должен быть связан с доступностью данных и компетенциями команды.</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Опросник нужен не для оценки студентов, а для проектирования команд. Если кто-то знает язык или регион, это критическая экспертиза. Если кто-то умеет структурировать данные или работать с LLM, это тоже роль. Команды должны собираться не только по дружбе, но и по ресурсам.</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VibeCoding в этом курсе - не магическое программирование без понимания. Это режим, где студент формулирует задачу, просит LLM предложить план, генерирует небольшой кусок кода или таблицу, запускает, проверяет, показывает ошибку модели и улучшает. Главный навык - задавать проверяемые задачи и не принимать ответ на веру.</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Показать студентам пример прямо на занятии. Важно добавить запрет на выдуманные ссылки и требование помечать неопределенность. LLM должна помогать думать, но не заменять проверку источников.</a:t>
            </a:r>
          </a:p>
          <a:p xmlns:a="http://schemas.openxmlformats.org/drawingml/2006/main">
            <a:r>
              <a:t/>
            </a:r>
          </a:p>
          <a:p xmlns:a="http://schemas.openxmlformats.org/drawingml/2006/main">
            <a:r>
              <a:t>Пример промпта:</a:t>
            </a:r>
          </a:p>
          <a:p xmlns:a="http://schemas.openxmlformats.org/drawingml/2006/main">
            <a:r>
              <a:t>``</a:t>
            </a:r>
          </a:p>
          <a:p xmlns:a="http://schemas.openxmlformats.org/drawingml/2006/main">
            <a:r>
              <a:t>Мы команда на курсе по ML для малоресурсных языков.</a:t>
            </a:r>
          </a:p>
          <a:p xmlns:a="http://schemas.openxmlformats.org/drawingml/2006/main">
            <a:r>
              <a:t>Хотим выбрать проект для языка X. У нас базовый Python, 8 недель,</a:t>
            </a:r>
          </a:p>
          <a:p xmlns:a="http://schemas.openxmlformats.org/drawingml/2006/main">
            <a:r>
              <a:t>возможны тексты из открытого веба и 1-2 носителя для консультаций.</a:t>
            </a:r>
          </a:p>
          <a:p xmlns:a="http://schemas.openxmlformats.org/drawingml/2006/main">
            <a:r>
              <a:t>Предложи 5 проектных гипотез от простой к сложной: датасет, OCR, ASR,</a:t>
            </a:r>
          </a:p>
          <a:p xmlns:a="http://schemas.openxmlformats.org/drawingml/2006/main">
            <a:r>
              <a:t>перевод, спелчекер или локальный LLM-ассистент.</a:t>
            </a:r>
          </a:p>
          <a:p xmlns:a="http://schemas.openxmlformats.org/drawingml/2006/main">
            <a:r>
              <a:t>Для каждой гипотезы укажи: нужные данные, минимальный первый шаг,</a:t>
            </a:r>
          </a:p>
          <a:p xmlns:a="http://schemas.openxmlformats.org/drawingml/2006/main">
            <a:r>
              <a:t>риски, метрику успеха и что проверить вручную.</a:t>
            </a:r>
          </a:p>
          <a:p xmlns:a="http://schemas.openxmlformats.org/drawingml/2006/main">
            <a:r>
              <a:t>Не выдумывай конкретные датасеты или ссылки.</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Список меняется, поэтому студентам нужно проверять актуальные лимиты. Бесплатные версии подходят для брейншторма, конспектов, таблиц, простого кода и анализа ошибок. Для чувствительных данных лучше использовать локальные модели или предварительно обезличивать материалы.</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Платные инструменты не обязательны для всех. Они полезны, когда команда ведет проект с файлами, кодом, отчетами и проверками. Codex особенно удобен, когда работа уже стала проектом: есть папка, данные, скрипты, README, отчеты, и нужно поручать агенту конкретные изменения.</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Codex - это не чат "ответь словами", а рабочая среда для агентной разработки. Ему удобно поручать задачи вида: "создай 8 файлов программы курса", "проверь корпус на дубли", "собери data card", "напиши notebook для CER", "проверь, что инструкции запускаются". Важно давать агенту ограниченную, проверяемую задачу и смотреть diff или результат.</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Объяснить разницу между LLM как собеседником и агентом как исполнителем в рабочей папке. Skills полезны, когда есть повторяемый формат: например, каждый раз создавать data card по одному шаблону или проверять OCR-отчет по чек-листу.</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Здесь важно дать не маркетинговое, а рабочее определение. Обычный чат отвечает текстом. Агент получает цель и может действовать во внешней среде: читать файлы, вызывать API, запускать скрипты, искать источники, обновлять таблицы, создавать отчеты. Интеллектуальный агент не просто выполняет одну команду: он может спланировать последовательность шагов, увидеть, что результат изменился или оказался плохим, перестроить план и при необходимости обратиться к человеку или другому агенту.</a:t>
            </a:r>
          </a:p>
          <a:p xmlns:a="http://schemas.openxmlformats.org/drawingml/2006/main">
            <a:r>
              <a:t/>
            </a:r>
          </a:p>
          <a:p xmlns:a="http://schemas.openxmlformats.org/drawingml/2006/main">
            <a:r>
              <a:t>AI-агент в этом курсе стоит понимать как агентную систему на базе генеративного искусственного интеллекта. Такая система использует LLM не только для генерации текста, но и для выбора следующего действия: какой файл открыть, какой инструмент вызвать, какой результат проверить, когда остановиться и когда запросить подтверждение.</a:t>
            </a:r>
          </a:p>
          <a:p xmlns:a="http://schemas.openxmlformats.org/drawingml/2006/main">
            <a:r>
              <a:t/>
            </a:r>
          </a:p>
          <a:p xmlns:a="http://schemas.openxmlformats.org/drawingml/2006/main">
            <a:r>
              <a:t>Комментарий к структуре блока: про AI-агентов, возможно, не нужно подробно давать виды архитектур как отдельную классификацию. Достаточно объяснить, что такое агенты и общий принцип их работы. Конкретную архитектуру для языковой лаборатории можно придумать по ходу дела: она, скорее всего, будет напоминать один из известных видов, но важнее идти от задачи, данных, ограничений и ролей команды.</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Эти архитектуры различаются не только степенью автономности, но и тем, откуда агент берет контекст. ChatBot в основном опирается на системный промпт и историю диалога. RAGBot ищет ответ в загруженных документах. Copilot встроен в рабочую среду и помогает человеку выполнять действия. Code Copilot воспринимает весь проект как базу знаний: файлы, структуру папок, README, код, тесты, историю изменений. ReAct-агент сам выбирает инструменты и повторяет цикл действия. MultiAgent-система распределяет работу между несколькими ролями.</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ChatBot - это базовая схема: есть модель, системный промпт, пользовательские сообщения и ответ. Такой бот может быть очень полезен для объяснений, тренировки вопросов, создания персонажа, учебного консультанта или помощника с определенной манерой общения. Но если ему не дать инструменты, документы или поиск, он не знает, что происходит во внешнем мире, не проверяет источники и не видит файлы проекта.</a:t>
            </a:r>
          </a:p>
          <a:p xmlns:a="http://schemas.openxmlformats.org/drawingml/2006/main">
            <a:r>
              <a:t/>
            </a:r>
          </a:p>
          <a:p xmlns:a="http://schemas.openxmlformats.org/drawingml/2006/main">
            <a:r>
              <a:t>Для задач сохранения языков ChatBot подходит как помощник для брейншторма, обучения, составления вопросов для интервью, генерации черновиков карточек словаря или объяснения кода. Но ему нельзя поручать финальную проверку фактов, лицензий, языковой нормы или качества корпуса.</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RAGBot - это бот с retrieval-augmented generation: перед ответом он ищет релевантные фрагменты в загруженных документах и строит ответ на их основе. Например, мы загрузили методичку, словарь, архивное описание, data card или набор PDF, и бот отвечает, опираясь на найденные фрагменты. Это делает систему более структурированной и проверяемой, чем обычный ChatBot, но часто менее мощной и менее гибкой: она выполняет поиск один раз, получает набор фрагментов и дальше отвечает в рамках найденного контекста.</a:t>
            </a:r>
          </a:p>
          <a:p xmlns:a="http://schemas.openxmlformats.org/drawingml/2006/main">
            <a:r>
              <a:t/>
            </a:r>
          </a:p>
          <a:p xmlns:a="http://schemas.openxmlformats.org/drawingml/2006/main">
            <a:r>
              <a:t>Важно объяснить ограничение: если нужный фрагмент не найден на первом поиске, RAGBot может не догадаться переформулировать запрос, открыть другой файл или построить многошаговый план. Он хорош для вопросов по документам, но хуже для сложных workflows, где нужно читать файлы, запускать код, проверять результат и менять стратегию.</a:t>
            </a:r>
          </a:p>
          <a:p xmlns:a="http://schemas.openxmlformats.org/drawingml/2006/main">
            <a:r>
              <a:t/>
            </a:r>
          </a:p>
          <a:p xmlns:a="http://schemas.openxmlformats.org/drawingml/2006/main">
            <a:r>
              <a:t>Copilot - более широкая идея: ассистент встроен в среду, где человек уже работает. Это может быть браузер, офисный документ, таблица, редактор кода или IDE. Человек остается главным оператором, а ассистент предлагает, дописывает, объясняет, ищет по доступному контексту и помогает быстрее двигаться.</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Copilot - это не просто автодополнение строки кода. В хорошем сценарии он видит проект как живую базу знаний: какие файлы есть, где лежат данные, как запускаются скрипты, какие тесты проверяют результат, что написано в README. Поэтому он может ответить не только "как написать функцию", но и "где в этом проекте считается CER", "почему этот notebook не запускается", "какой файл отвечает за очистку корпуса", "что нужно добавить в data card".</a:t>
            </a:r>
          </a:p>
          <a:p xmlns:a="http://schemas.openxmlformats.org/drawingml/2006/main">
            <a:r>
              <a:t/>
            </a:r>
          </a:p>
          <a:p xmlns:a="http://schemas.openxmlformats.org/drawingml/2006/main">
            <a:r>
              <a:t>Для курса это ключевая идея. Если команда ведет проект как папку с понятной структурой, README, источниками, notes, скриптами и результатами, агенту можно давать конкретные задачи: проверить корпус на дубли, собрать отчет, написать маленький pipeline, найти пропущенные поля в таблице источников. Чем аккуратнее проект оформлен, тем лучше работает code copilot.</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MultiAgent-системе мы не просим одну модель сделать все. Мы проектируем несколько ролей: агент-исследователь ищет источники, агент-критик проверяет риски и слабые места, агент-координатор следит за планом, агент-исполнитель пишет код или готовит отчет. Между ними должны быть правила: кто ставит задачу, кто принимает результат, как фиксируются аргументы, кто имеет право менять файлы, когда нужно спрашивать человека.</a:t>
            </a:r>
          </a:p>
          <a:p xmlns:a="http://schemas.openxmlformats.org/drawingml/2006/main">
            <a:r>
              <a:t/>
            </a:r>
          </a:p>
          <a:p xmlns:a="http://schemas.openxmlformats.org/drawingml/2006/main">
            <a:r>
              <a:t>Такая архитектура полезна, когда задача действительно сложная и состоит из разных типов работы. Но она не всегда нужна. Иногда один хороший code copilot с четким заданием надежнее, чем четыре агента, которые производят много текста и не сходятся в решении.</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Это вопрос докладчика к группе. Важно не искать один "правильный" ответ, а связать архитектуру с задачей.</a:t>
            </a:r>
          </a:p>
          <a:p xmlns:a="http://schemas.openxmlformats.org/drawingml/2006/main">
            <a:r>
              <a:t/>
            </a:r>
          </a:p>
          <a:p xmlns:a="http://schemas.openxmlformats.org/drawingml/2006/main">
            <a:r>
              <a:t>Возможные направления ответа:</a:t>
            </a:r>
          </a:p>
          <a:p xmlns:a="http://schemas.openxmlformats.org/drawingml/2006/main">
            <a:r>
              <a:t>- ChatBot: учебный ассистент, тренажер диалога, объяснение терминов, черновики вопросов для интервью.</a:t>
            </a:r>
          </a:p>
          <a:p xmlns:a="http://schemas.openxmlformats.org/drawingml/2006/main">
            <a:r>
              <a:t>- RAGBot: вопросы по архивным документам, методичкам, словарям, data card, юридическим условиям доступа, корпусной документации.</a:t>
            </a:r>
          </a:p>
          <a:p xmlns:a="http://schemas.openxmlformats.org/drawingml/2006/main">
            <a:r>
              <a:t>- Code Copilot: очистка корпуса, OCR/ASR-pipeline, проверка таблиц, скрипты метрик, README, data card, воспроизводимость проекта.</a:t>
            </a:r>
          </a:p>
          <a:p xmlns:a="http://schemas.openxmlformats.org/drawingml/2006/main">
            <a:r>
              <a:t>- MultiAgent: проектная лаборатория, где нужно разделить поиск источников, проверку лицензий, техническую обработку, ревью качества и документацию.</a:t>
            </a:r>
          </a:p>
          <a:p xmlns:a="http://schemas.openxmlformats.org/drawingml/2006/main">
            <a:r>
              <a:t/>
            </a:r>
          </a:p>
          <a:p xmlns:a="http://schemas.openxmlformats.org/drawingml/2006/main">
            <a:r>
              <a:t>Отдельно подчеркнуть: для языковых данных всегда нужен человек с языковой, региональной или этической экспертизой. Агент может ускорить работу, но не должен единолично решать, что является правильной формой языка, что можно публиковать и как представлять сообщество.</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Short-term memory - это краткосрочная память агента: то, что находится в текущем контексте задачи. Например, последние сообщения, открытые фрагменты файлов, промежуточный план, результаты только что запущенной команды. Она помогает агенту связно вести работу внутри одной сессии, но обычно исчезает или сильно сокращается после завершения задачи.</a:t>
            </a:r>
          </a:p>
          <a:p xmlns:a="http://schemas.openxmlformats.org/drawingml/2006/main">
            <a:r>
              <a:t/>
            </a:r>
          </a:p>
          <a:p xmlns:a="http://schemas.openxmlformats.org/drawingml/2006/main">
            <a:r>
              <a:t>Long-term memory - это долговременная память: сведения, которые сохраняются между сессиями и могут быть использованы позже. Например, описание проекта, предпочтения команды, структура корпуса, принятые правила именования файлов, список источников, типичные ошибки OCR, решения по лицензиям. Для языковой лаборатории это полезно, потому что проекты длятся неделями, а не один чат.</a:t>
            </a:r>
          </a:p>
          <a:p xmlns:a="http://schemas.openxmlformats.org/drawingml/2006/main">
            <a:r>
              <a:t/>
            </a:r>
          </a:p>
          <a:p xmlns:a="http://schemas.openxmlformats.org/drawingml/2006/main">
            <a:r>
              <a:t>Но память опасна, если ее не контролировать. Агент может сохранить неточную гипотезу как факт, использовать устаревшее решение или запомнить приватную информацию. Поэтому хорошая агентская память должна быть прозрачной: видно, что сохранено, откуда это взялось, когда обновлялось и кто может это исправить или удалить.</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 это явная, сериализуемая модель текущего контекста агента: цели, план, краткая и длинная память, результаты вызовов инструментов, наблюдения, управляющие метаданные. На основании них выбирается следующий шаг выполнения задачи.</a:t>
            </a:r>
          </a:p>
          <a:p xmlns:a="http://schemas.openxmlformats.org/drawingml/2006/main">
            <a:r>
              <a:t/>
            </a:r>
          </a:p>
          <a:p xmlns:a="http://schemas.openxmlformats.org/drawingml/2006/main">
            <a:r>
              <a:t>Слово "сериализуемая" здесь важно: состояние можно записать в структурированном виде, например как JSON, таблицу, лог или набор полей в базе данных. Это не просто "что-то у модели в голове", а проверяемая структура: какая цель сейчас активна, какой шаг плана выполняется, какие инструменты уже вызывались, что они вернули, какие ограничения действуют, кто должен подтвердить опасное действие.</a:t>
            </a:r>
          </a:p>
          <a:p xmlns:a="http://schemas.openxmlformats.org/drawingml/2006/main">
            <a:r>
              <a:t/>
            </a:r>
          </a:p>
          <a:p xmlns:a="http://schemas.openxmlformats.org/drawingml/2006/main">
            <a:r>
              <a:t>Для языковой лаборатории state помогает не терять ход работы. Например: агент знает, что команда собирает корпус для языка X, что текущая цель - проверить 20 источников, что уже найдено 8 URL, что два источника имеют неясную лицензию, что OCR для трех страниц дал высокий процент ошибок, а следующий безопасный шаг - попросить человека проверить лицензию или добавить метаданные.</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обычно наиболее гибкая и функциональная архитектура, потому что агент не ограничен одним ответом и одним заранее заданным действием. Он может решить: сначала прочитать README, затем посмотреть CSV, затем запустить проверку дублей, затем исправить скрипт, затем написать отчет. В языковой лаборатории это удобно для повторяемых пайплайнов: разведка источников, OCR/ASR-обработка, очистка корпуса, подготовка data card, проверка артефактов перед сдачей.</a:t>
            </a:r>
          </a:p>
          <a:p xmlns:a="http://schemas.openxmlformats.org/drawingml/2006/main">
            <a:r>
              <a:t/>
            </a:r>
          </a:p>
          <a:p xmlns:a="http://schemas.openxmlformats.org/drawingml/2006/main">
            <a:r>
              <a:t>Но гибкость дает риск. Инструмент может быть вызван не к месту, внешний API может вернуть шум, сгенерированный код может изменить не тот файл, а модель может уверенно продолжать работу после неверного наблюдения. Поэтому ReAct-агентам нужны ограничения прав, логи действий, маленькие задачи, проверяемые промежуточные результаты и человеческое подтверждение для опасных операций. Поддерживают такую архитектуру только достаточно продвинутые модели: слабая модель хуже планирует, хуже выбирает инструменты и чаще теряет цель.</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Инструмент - это не "любая возможность модели", а описанный интерфейс: что можно вызвать, какие аргументы передать, какой результат получить и какие ограничения соблюдать. Например, агент может вызвать OCR для страницы, ASR для аудиофайла, поиск по корпусу, скрипт дедупликации, API таблицы или команду проверки README. Формальный контракт важен: без него агент не действует надежно, а просто генерирует текст о том, что "можно было бы сделать".</a:t>
            </a:r>
          </a:p>
          <a:p xmlns:a="http://schemas.openxmlformats.org/drawingml/2006/main">
            <a:r>
              <a:t/>
            </a:r>
          </a:p>
          <a:p xmlns:a="http://schemas.openxmlformats.org/drawingml/2006/main">
            <a:r>
              <a:t>В практическом смысле тулза - это функция с именем, описанием и JSON-схемой аргументов, доступная модели для выбора и вызова в ходе решения задачи. Модель не просто "знает", что можно искать или запускать код, а видит список доступных функций и должна сгенерировать корректные параметры. В экосистемах агентных фреймворков инструмент оборачивает произвольный код с явной схемой ввода-вывода, чтобы модель могла корректно сгенерировать параметры и получить машинно-обрабатываемый результат. Поэтому хорошая тулза - это не только код, но и понятное имя, точное описание, строгая схема аргументов, предсказуемый формат ответа и ограничения на побочные эффекты.</a:t>
            </a:r>
          </a:p>
          <a:p xmlns:a="http://schemas.openxmlformats.org/drawingml/2006/main">
            <a:r>
              <a:t/>
            </a:r>
          </a:p>
          <a:p xmlns:a="http://schemas.openxmlformats.org/drawingml/2006/main">
            <a:r>
              <a:t>Инструменты могут быть внутренними, например чтение файлов проекта, запуск тестов или поиск по локальной папке, и внешними, например браузер, облачное хранилище, API архива, переводческий сервис или база данных. Кэширование помогает не пересчитывать дорогие операции: embeddings для уже обработанных текстов, результаты OCR для страниц, которые не менялись, или промежуточные отчеты по качеству корпуса. Для малоресурсных языков это особенно важно, потому что данные часто собираются малыми порциями, а проверка должна быть воспроизводимой.</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Агентная система полезна там, где есть повторяемый workflow. Для языковой лаборатории это может быть не один большой "умный агент", а набор ограниченных ролей: агент-исследователь источников, агент-инженер пайплайна, агент-ревьюер данных, агент-документатор. Важно, чтобы агент не принимал финальные решения о языке, норме, правах и публикации данных без человека.</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OpenClaw и похожие агентные фреймворки стоит обсуждать как класс инструментов: self-hosted агент, который может иметь доступ к файлам, браузеру, расписанию, внешним каналам и набору навыков. Для сохранения языков это полезно не как "модная штука", а как инфраструктура языковой лаборатории: регулярно искать новые материалы, проверять лицензии, запускать очистку, считать метрики, собирать отчеты команд. Но ставить такой стек в первый день не обязательно. Сначала нужно спроектировать, какой повторяемый процесс он автоматизирует и какие права доступа ему безопасно давать.</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Этот слайд обязателен. Чем доступнее VibeCoding, тем важнее контроль качества. Студенты должны привыкнуть задавать вопросы: откуда данные, можно ли их использовать, что именно исправила модель, где лог, как воспроизвести результат, кто проверил языковой материал.</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Первое домашнее задание нужно не для оценки, а для сборки лаборатории. По анкетам преподаватель поймет, кто уже использует Codex или Claude Code, кто может быстро поднять проектную папку с GitHub, кто знает малоресурсный язык или является носителем, у кого сильнее программирование, кто хочет работать с данными, моделями, метриками, интерфейсами или документацией. На основе этих ответов удобнее собирать команды так, чтобы в каждой команде был хотя бы один человек с рабочим агентным инструментом, а лучше - с Codex или Claude Code, подключенным к учебному проекту.</a:t>
            </a:r>
          </a:p>
          <a:p xmlns:a="http://schemas.openxmlformats.org/drawingml/2006/main">
            <a:r>
              <a:t/>
            </a:r>
          </a:p>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Local markdown source: course_sessions/01_diagnostika_i_lab_maloresursnogo_yazyka.md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d6fe28af234a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1a58e97ca04d32" /><Relationship Type="http://schemas.openxmlformats.org/officeDocument/2006/relationships/slideLayout" Target="/ppt/slideLayouts/slideLayout1.xml" Id="Rcf5eaef113f44a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5eaef113f44a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6d43c093684fea" /><Relationship Type="http://schemas.openxmlformats.org/officeDocument/2006/relationships/notesSlide" Target="/ppt/notesSlides/notesSlide1.xml" Id="R929cbdb0c3494e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548548a12214421" /><Relationship Type="http://schemas.openxmlformats.org/officeDocument/2006/relationships/notesSlide" Target="/ppt/notesSlides/notesSlide2.xml" Id="R4f76297f4ccc49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30f307b7b34320" /><Relationship Type="http://schemas.openxmlformats.org/officeDocument/2006/relationships/notesSlide" Target="/ppt/notesSlides/notesSlide3.xml" Id="Re8867d7fc5054b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3a70ad993c4e9e" /><Relationship Type="http://schemas.openxmlformats.org/officeDocument/2006/relationships/notesSlide" Target="/ppt/notesSlides/notesSlide4.xml" Id="R2afe76cfd6234a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d7e6a40a289449a" /><Relationship Type="http://schemas.openxmlformats.org/officeDocument/2006/relationships/notesSlide" Target="/ppt/notesSlides/notesSlide5.xml" Id="Ra76e90a6279f42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c2f53b346145af" /><Relationship Type="http://schemas.openxmlformats.org/officeDocument/2006/relationships/notesSlide" Target="/ppt/notesSlides/notesSlide6.xml" Id="Rbd148508760d4c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b968777779487b" /><Relationship Type="http://schemas.openxmlformats.org/officeDocument/2006/relationships/notesSlide" Target="/ppt/notesSlides/notesSlide7.xml" Id="R3a9293415cc146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1dd326b664747b2" /><Relationship Type="http://schemas.openxmlformats.org/officeDocument/2006/relationships/notesSlide" Target="/ppt/notesSlides/notesSlide8.xml" Id="Rf3b58efd7a384e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da48bd12a90448c" /><Relationship Type="http://schemas.openxmlformats.org/officeDocument/2006/relationships/notesSlide" Target="/ppt/notesSlides/notesSlide9.xml" Id="R2272eac6f0e646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24d70bba6bb4fcc" /><Relationship Type="http://schemas.openxmlformats.org/officeDocument/2006/relationships/notesSlide" Target="/ppt/notesSlides/notesSlide10.xml" Id="Rba9443f2bbfc4c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b388ce16f32417c" /><Relationship Type="http://schemas.openxmlformats.org/officeDocument/2006/relationships/notesSlide" Target="/ppt/notesSlides/notesSlide11.xml" Id="Rb6cded7888ec458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648d575a4d24d8b" /><Relationship Type="http://schemas.openxmlformats.org/officeDocument/2006/relationships/notesSlide" Target="/ppt/notesSlides/notesSlide12.xml" Id="R39c1a32224224d0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62731ad7e1b4c0f" /><Relationship Type="http://schemas.openxmlformats.org/officeDocument/2006/relationships/notesSlide" Target="/ppt/notesSlides/notesSlide13.xml" Id="Rc5ad95745419443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a4baba72ba1446d" /><Relationship Type="http://schemas.openxmlformats.org/officeDocument/2006/relationships/notesSlide" Target="/ppt/notesSlides/notesSlide14.xml" Id="Rd077647fed86401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9ac75033f9547b7" /><Relationship Type="http://schemas.openxmlformats.org/officeDocument/2006/relationships/notesSlide" Target="/ppt/notesSlides/notesSlide15.xml" Id="R96c42d168ae44d9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280e819c2154773" /><Relationship Type="http://schemas.openxmlformats.org/officeDocument/2006/relationships/notesSlide" Target="/ppt/notesSlides/notesSlide16.xml" Id="R04f71999275e472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2692235ac644790" /><Relationship Type="http://schemas.openxmlformats.org/officeDocument/2006/relationships/notesSlide" Target="/ppt/notesSlides/notesSlide17.xml" Id="Rd454f92540a0408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44467243b9d43e5" /><Relationship Type="http://schemas.openxmlformats.org/officeDocument/2006/relationships/notesSlide" Target="/ppt/notesSlides/notesSlide18.xml" Id="Rcfc13bce013f43b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00bfd8d063d4501" /><Relationship Type="http://schemas.openxmlformats.org/officeDocument/2006/relationships/notesSlide" Target="/ppt/notesSlides/notesSlide19.xml" Id="R53aec7a6a56f463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5f5c1beab454f4e" /><Relationship Type="http://schemas.openxmlformats.org/officeDocument/2006/relationships/notesSlide" Target="/ppt/notesSlides/notesSlide20.xml" Id="R3f77e3c3cc334c4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f328b8ec9a943ed" /><Relationship Type="http://schemas.openxmlformats.org/officeDocument/2006/relationships/notesSlide" Target="/ppt/notesSlides/notesSlide21.xml" Id="R929ef33ad1a04f1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fe3b5cbe64c4daf" /><Relationship Type="http://schemas.openxmlformats.org/officeDocument/2006/relationships/notesSlide" Target="/ppt/notesSlides/notesSlide22.xml" Id="R41cdd02be35147f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d700eebcc9d4f12" /><Relationship Type="http://schemas.openxmlformats.org/officeDocument/2006/relationships/notesSlide" Target="/ppt/notesSlides/notesSlide23.xml" Id="R580915de46044f3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80af369b08e4fcc" /><Relationship Type="http://schemas.openxmlformats.org/officeDocument/2006/relationships/notesSlide" Target="/ppt/notesSlides/notesSlide24.xml" Id="R280d57dfd88d454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520e4a5a1864a54" /><Relationship Type="http://schemas.openxmlformats.org/officeDocument/2006/relationships/notesSlide" Target="/ppt/notesSlides/notesSlide25.xml" Id="R4f64f018f2b1478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1fde328019440f2" /><Relationship Type="http://schemas.openxmlformats.org/officeDocument/2006/relationships/notesSlide" Target="/ppt/notesSlides/notesSlide26.xml" Id="R9ae54087619641a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77b76e0f79c46ab" /><Relationship Type="http://schemas.openxmlformats.org/officeDocument/2006/relationships/notesSlide" Target="/ppt/notesSlides/notesSlide27.xml" Id="Ree59895427d4430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1c06221b60048b2" /><Relationship Type="http://schemas.openxmlformats.org/officeDocument/2006/relationships/notesSlide" Target="/ppt/notesSlides/notesSlide28.xml" Id="R84c849e28b25443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a86b73c374c4e2d" /><Relationship Type="http://schemas.openxmlformats.org/officeDocument/2006/relationships/notesSlide" Target="/ppt/notesSlides/notesSlide29.xml" Id="R2cb0f67106c6425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85bb3972ef44544" /><Relationship Type="http://schemas.openxmlformats.org/officeDocument/2006/relationships/notesSlide" Target="/ppt/notesSlides/notesSlide30.xml" Id="R45468488136c424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562058f33004232" /><Relationship Type="http://schemas.openxmlformats.org/officeDocument/2006/relationships/notesSlide" Target="/ppt/notesSlides/notesSlide31.xml" Id="R492e5172990c42b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9cc60e819ea434e" /><Relationship Type="http://schemas.openxmlformats.org/officeDocument/2006/relationships/notesSlide" Target="/ppt/notesSlides/notesSlide32.xml" Id="Reb7ba7d71447463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0318e64df334964" /><Relationship Type="http://schemas.openxmlformats.org/officeDocument/2006/relationships/notesSlide" Target="/ppt/notesSlides/notesSlide33.xml" Id="R49b6c5253bfa4c3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aa60c8f96dd4746" /><Relationship Type="http://schemas.openxmlformats.org/officeDocument/2006/relationships/notesSlide" Target="/ppt/notesSlides/notesSlide34.xml" Id="Rb23e80fdf67b4de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9ecb254743d47b7" /><Relationship Type="http://schemas.openxmlformats.org/officeDocument/2006/relationships/notesSlide" Target="/ppt/notesSlides/notesSlide35.xml" Id="Rb9160ff6613f461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5f897ed8b604901" /><Relationship Type="http://schemas.openxmlformats.org/officeDocument/2006/relationships/notesSlide" Target="/ppt/notesSlides/notesSlide36.xml" Id="R9aeb5a2f237d4698"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A4FC26-4C1A-4E6A-94BF-7D2407FF57E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76B87"/>
          </a:solidFill>
          <a:ln xmlns:a="http://schemas.openxmlformats.org/drawingml/2006/main" w="0">
            <a:solidFill>
              <a:srgbClr val="176B87"/>
            </a:solidFill>
            <a:prstDash val="solid"/>
          </a:ln>
        </p:spPr>
      </p:sp>
      <p:sp>
        <p:nvSpPr>
          <p:cNvPr id="2" name="">
            <a:extLst xmlns:a="http://schemas.openxmlformats.org/drawingml/2006/main">
              <a:ext uri="{FF2B5EF4-FFF2-40B4-BE49-F238E27FC236}">
                <a16:creationId xmlns:a16="http://schemas.microsoft.com/office/drawing/2014/main" id="{50BE61F2-23EC-49C1-BE62-85A7BF088429}"/>
              </a:ext>
            </a:extLst>
          </p:cNvPr>
          <p:cNvSpPr>
            <a:spLocks xmlns:a="http://schemas.openxmlformats.org/drawingml/2006/main" noGrp="1"/>
          </p:cNvSpPr>
          <p:nvPr/>
        </p:nvSpPr>
        <p:spPr>
          <a:xfrm xmlns:a="http://schemas.openxmlformats.org/drawingml/2006/main">
            <a:off x="723900" y="6858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76B87"/>
                </a:solidFill>
              </a:defRPr>
            </a:pPr>
            <a:r>
              <a:rPr sz="1350" b="1">
                <a:solidFill>
                  <a:srgbClr val="176B87"/>
                </a:solidFill>
              </a:rPr>
              <a:t>Курс по ML для малоресурсных языков</a:t>
            </a:r>
          </a:p>
        </p:txBody>
      </p:sp>
      <p:sp>
        <p:nvSpPr>
          <p:cNvPr id="3" name="">
            <a:extLst xmlns:a="http://schemas.openxmlformats.org/drawingml/2006/main">
              <a:ext uri="{FF2B5EF4-FFF2-40B4-BE49-F238E27FC236}">
                <a16:creationId xmlns:a16="http://schemas.microsoft.com/office/drawing/2014/main" id="{824BB91F-3927-41EA-AD27-AD4CF0461408}"/>
              </a:ext>
            </a:extLst>
          </p:cNvPr>
          <p:cNvSpPr>
            <a:spLocks xmlns:a="http://schemas.openxmlformats.org/drawingml/2006/main" noGrp="1"/>
          </p:cNvSpPr>
          <p:nvPr/>
        </p:nvSpPr>
        <p:spPr>
          <a:xfrm xmlns:a="http://schemas.openxmlformats.org/drawingml/2006/main">
            <a:off x="723900" y="1619250"/>
            <a:ext cx="942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750" b="1">
                <a:solidFill>
                  <a:srgbClr val="1D2433"/>
                </a:solidFill>
              </a:defRPr>
            </a:pPr>
            <a:r>
              <a:rPr sz="3750" b="1">
                <a:solidFill>
                  <a:srgbClr val="1D2433"/>
                </a:solidFill>
              </a:rPr>
              <a:t>Занятие 1. От простого к сложному: как ML-лаборатория может помогать сохранять язык</a:t>
            </a:r>
          </a:p>
        </p:txBody>
      </p:sp>
      <p:sp>
        <p:nvSpPr>
          <p:cNvPr id="4" name="">
            <a:extLst xmlns:a="http://schemas.openxmlformats.org/drawingml/2006/main">
              <a:ext uri="{FF2B5EF4-FFF2-40B4-BE49-F238E27FC236}">
                <a16:creationId xmlns:a16="http://schemas.microsoft.com/office/drawing/2014/main" id="{C530E688-5C5E-4E93-89D1-59EF4317097B}"/>
              </a:ext>
            </a:extLst>
          </p:cNvPr>
          <p:cNvSpPr>
            <a:spLocks xmlns:a="http://schemas.openxmlformats.org/drawingml/2006/main" noGrp="1"/>
          </p:cNvSpPr>
          <p:nvPr/>
        </p:nvSpPr>
        <p:spPr>
          <a:xfrm xmlns:a="http://schemas.openxmlformats.org/drawingml/2006/main">
            <a:off x="762000" y="3733800"/>
            <a:ext cx="857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64748B"/>
                </a:solidFill>
              </a:defRPr>
            </a:pPr>
            <a:r>
              <a:rPr sz="1650">
                <a:solidFill>
                  <a:srgbClr val="64748B"/>
                </a:solidFill>
              </a:rPr>
              <a:t>Первое занятие запускает курс как совместную исследовательскую лабораторию. Студенты не получают готовый список "правильных" задач, а вместе с преподавателем строят карту: что значит сохранить язык, какие факторы на это влияют, к...</a:t>
            </a:r>
          </a:p>
        </p:txBody>
      </p:sp>
      <p:sp>
        <p:nvSpPr>
          <p:cNvPr id="5" name="">
            <a:extLst xmlns:a="http://schemas.openxmlformats.org/drawingml/2006/main">
              <a:ext uri="{FF2B5EF4-FFF2-40B4-BE49-F238E27FC236}">
                <a16:creationId xmlns:a16="http://schemas.microsoft.com/office/drawing/2014/main" id="{50781B23-4221-448F-9638-9320C6717A13}"/>
              </a:ext>
            </a:extLst>
          </p:cNvPr>
          <p:cNvSpPr>
            <a:spLocks xmlns:a="http://schemas.openxmlformats.org/drawingml/2006/main" noGrp="1"/>
          </p:cNvSpPr>
          <p:nvPr/>
        </p:nvSpPr>
        <p:spPr>
          <a:xfrm xmlns:a="http://schemas.openxmlformats.org/drawingml/2006/main">
            <a:off x="762000" y="5334000"/>
            <a:ext cx="781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1D2433"/>
                </a:solidFill>
              </a:defRPr>
            </a:pPr>
            <a:r>
              <a:rPr sz="1500">
                <a:solidFill>
                  <a:srgbClr val="1D2433"/>
                </a:solidFill>
              </a:rPr>
              <a:t>Лекция, семинар, домашнее задание и заметки докладчика</a:t>
            </a:r>
          </a:p>
        </p:txBody>
      </p:sp>
      <p:sp>
        <p:nvSpPr>
          <p:cNvPr id="6" name="">
            <a:extLst xmlns:a="http://schemas.openxmlformats.org/drawingml/2006/main">
              <a:ext uri="{FF2B5EF4-FFF2-40B4-BE49-F238E27FC236}">
                <a16:creationId xmlns:a16="http://schemas.microsoft.com/office/drawing/2014/main" id="{EF094B37-3FC6-4B2A-B074-5E3AEEA3FFAE}"/>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7" name="">
            <a:extLst xmlns:a="http://schemas.openxmlformats.org/drawingml/2006/main">
              <a:ext uri="{FF2B5EF4-FFF2-40B4-BE49-F238E27FC236}">
                <a16:creationId xmlns:a16="http://schemas.microsoft.com/office/drawing/2014/main" id="{F1DF48F8-E0B6-4203-8B33-AA5A8B7A3771}"/>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1/36</a:t>
            </a:r>
          </a:p>
        </p:txBody>
      </p:sp>
    </p:spTree>
    <p:extLst>
      <p:ext uri="{BB962C8B-B14F-4D97-AF65-F5344CB8AC3E}">
        <p14:creationId xmlns:p14="http://schemas.microsoft.com/office/powerpoint/2010/main" val="6020074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E200586-4F57-474D-A85F-EB7C5E7D217D}"/>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D3714084-4073-4159-8B05-FA39AB572DD3}"/>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Вопрос курса</a:t>
            </a:r>
          </a:p>
        </p:txBody>
      </p:sp>
      <p:sp>
        <p:nvSpPr>
          <p:cNvPr id="3" name="">
            <a:extLst xmlns:a="http://schemas.openxmlformats.org/drawingml/2006/main">
              <a:ext uri="{FF2B5EF4-FFF2-40B4-BE49-F238E27FC236}">
                <a16:creationId xmlns:a16="http://schemas.microsoft.com/office/drawing/2014/main" id="{2CFA672B-CA35-4572-A272-9F4A27BB3A3B}"/>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7016D4B-1F2C-4C61-B15A-F1594EB94929}"/>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Как машинное обучение может помогать сохранять малоресурсные языки?</a:t>
            </a:r>
          </a:p>
        </p:txBody>
      </p:sp>
      <p:sp>
        <p:nvSpPr>
          <p:cNvPr id="5" name="">
            <a:extLst xmlns:a="http://schemas.openxmlformats.org/drawingml/2006/main">
              <a:ext uri="{FF2B5EF4-FFF2-40B4-BE49-F238E27FC236}">
                <a16:creationId xmlns:a16="http://schemas.microsoft.com/office/drawing/2014/main" id="{763388D1-FBC5-43A9-8CF3-FD6B29AF929F}"/>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C540596-F253-44B1-B7A4-C3BDC99874D8}"/>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Что можно сделать уже сейчас?</a:t>
            </a:r>
          </a:p>
        </p:txBody>
      </p:sp>
      <p:sp>
        <p:nvSpPr>
          <p:cNvPr id="7" name="">
            <a:extLst xmlns:a="http://schemas.openxmlformats.org/drawingml/2006/main">
              <a:ext uri="{FF2B5EF4-FFF2-40B4-BE49-F238E27FC236}">
                <a16:creationId xmlns:a16="http://schemas.microsoft.com/office/drawing/2014/main" id="{2099B64F-0BEF-4A70-882B-AE6E805E17C5}"/>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F2D82FB-4676-4175-9721-B0B52DC82454}"/>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Что требует данных, сообщества и полевой работы?</a:t>
            </a:r>
          </a:p>
        </p:txBody>
      </p:sp>
      <p:sp>
        <p:nvSpPr>
          <p:cNvPr id="9" name="">
            <a:extLst xmlns:a="http://schemas.openxmlformats.org/drawingml/2006/main">
              <a:ext uri="{FF2B5EF4-FFF2-40B4-BE49-F238E27FC236}">
                <a16:creationId xmlns:a16="http://schemas.microsoft.com/office/drawing/2014/main" id="{D6529103-C171-4C50-A277-E55B80AB7D2B}"/>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F65CA61-477C-478E-B325-390E52A550C5}"/>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Как не спутать полезный инструмент с красивым демо?</a:t>
            </a:r>
          </a:p>
        </p:txBody>
      </p:sp>
      <p:sp>
        <p:nvSpPr>
          <p:cNvPr id="11" name="">
            <a:extLst xmlns:a="http://schemas.openxmlformats.org/drawingml/2006/main">
              <a:ext uri="{FF2B5EF4-FFF2-40B4-BE49-F238E27FC236}">
                <a16:creationId xmlns:a16="http://schemas.microsoft.com/office/drawing/2014/main" id="{975DA00F-A49A-4B57-8C9E-60F23BEC03BE}"/>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DA99453-9DC1-4B2B-8B7F-00CB7F6AA93B}"/>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3" name="">
            <a:extLst xmlns:a="http://schemas.openxmlformats.org/drawingml/2006/main">
              <a:ext uri="{FF2B5EF4-FFF2-40B4-BE49-F238E27FC236}">
                <a16:creationId xmlns:a16="http://schemas.microsoft.com/office/drawing/2014/main" id="{7E62EBE7-3C59-4A60-B660-1BB12D698A4C}"/>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2/36</a:t>
            </a:r>
          </a:p>
        </p:txBody>
      </p:sp>
    </p:spTree>
    <p:extLst>
      <p:ext uri="{BB962C8B-B14F-4D97-AF65-F5344CB8AC3E}">
        <p14:creationId xmlns:p14="http://schemas.microsoft.com/office/powerpoint/2010/main" val="4470735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F2B6755-20EB-416C-9606-3F46088A39FF}"/>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0DD0DD6B-FA79-4989-8A46-BB8270B300F2}"/>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Как вы оказались на этом курсе?</a:t>
            </a:r>
          </a:p>
        </p:txBody>
      </p:sp>
      <p:sp>
        <p:nvSpPr>
          <p:cNvPr id="3" name="">
            <a:extLst xmlns:a="http://schemas.openxmlformats.org/drawingml/2006/main">
              <a:ext uri="{FF2B5EF4-FFF2-40B4-BE49-F238E27FC236}">
                <a16:creationId xmlns:a16="http://schemas.microsoft.com/office/drawing/2014/main" id="{2F592161-ADC1-4247-9CC6-CCE3F5204301}"/>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3AD84DF-8D10-435F-B808-0C3D6A486D40}"/>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Почему вы выбрали этот курс?</a:t>
            </a:r>
          </a:p>
        </p:txBody>
      </p:sp>
      <p:sp>
        <p:nvSpPr>
          <p:cNvPr id="5" name="">
            <a:extLst xmlns:a="http://schemas.openxmlformats.org/drawingml/2006/main">
              <a:ext uri="{FF2B5EF4-FFF2-40B4-BE49-F238E27FC236}">
                <a16:creationId xmlns:a16="http://schemas.microsoft.com/office/drawing/2014/main" id="{1AC528D5-3ED2-4457-B98F-D0EAC3E4EE17}"/>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1D38CB1-5C0B-487A-B46F-ADE2D008F9DA}"/>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В чем видите потенциальную пользу для себя?</a:t>
            </a:r>
          </a:p>
        </p:txBody>
      </p:sp>
      <p:sp>
        <p:nvSpPr>
          <p:cNvPr id="7" name="">
            <a:extLst xmlns:a="http://schemas.openxmlformats.org/drawingml/2006/main">
              <a:ext uri="{FF2B5EF4-FFF2-40B4-BE49-F238E27FC236}">
                <a16:creationId xmlns:a16="http://schemas.microsoft.com/office/drawing/2014/main" id="{022B4E35-C095-4C61-B45A-5FCFA6FC6402}"/>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136E862-5510-40D6-AE8A-EDA7232A35F6}"/>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В чем может быть ваш вклад?</a:t>
            </a:r>
          </a:p>
        </p:txBody>
      </p:sp>
      <p:sp>
        <p:nvSpPr>
          <p:cNvPr id="9" name="">
            <a:extLst xmlns:a="http://schemas.openxmlformats.org/drawingml/2006/main">
              <a:ext uri="{FF2B5EF4-FFF2-40B4-BE49-F238E27FC236}">
                <a16:creationId xmlns:a16="http://schemas.microsoft.com/office/drawing/2014/main" id="{87635293-DF42-4B12-99FC-16ACD43A6DD5}"/>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1F184B3-8438-4E6A-A62D-E994EAB2F777}"/>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Какие языки, регионы, данные, навыки или контакты вы приносите в группу?</a:t>
            </a:r>
          </a:p>
        </p:txBody>
      </p:sp>
      <p:sp>
        <p:nvSpPr>
          <p:cNvPr id="11" name="">
            <a:extLst xmlns:a="http://schemas.openxmlformats.org/drawingml/2006/main">
              <a:ext uri="{FF2B5EF4-FFF2-40B4-BE49-F238E27FC236}">
                <a16:creationId xmlns:a16="http://schemas.microsoft.com/office/drawing/2014/main" id="{59759595-5EAF-407F-B255-D599B6E43149}"/>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FF3D9AA-15E2-4FAE-8BBD-EC749688450A}"/>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3" name="">
            <a:extLst xmlns:a="http://schemas.openxmlformats.org/drawingml/2006/main">
              <a:ext uri="{FF2B5EF4-FFF2-40B4-BE49-F238E27FC236}">
                <a16:creationId xmlns:a16="http://schemas.microsoft.com/office/drawing/2014/main" id="{DA53F039-B47A-4ED0-9E88-8664E8EAA949}"/>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3/36</a:t>
            </a:r>
          </a:p>
        </p:txBody>
      </p:sp>
    </p:spTree>
    <p:extLst>
      <p:ext uri="{BB962C8B-B14F-4D97-AF65-F5344CB8AC3E}">
        <p14:creationId xmlns:p14="http://schemas.microsoft.com/office/powerpoint/2010/main" val="13520155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086F678-2704-4362-B84C-F29C65A895AE}"/>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24AB448D-F95C-4CD1-8549-A50F0A43BCD1}"/>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Брейншторм: как можно сохранять язык?</a:t>
            </a:r>
          </a:p>
        </p:txBody>
      </p:sp>
      <p:sp>
        <p:nvSpPr>
          <p:cNvPr id="3" name="">
            <a:extLst xmlns:a="http://schemas.openxmlformats.org/drawingml/2006/main">
              <a:ext uri="{FF2B5EF4-FFF2-40B4-BE49-F238E27FC236}">
                <a16:creationId xmlns:a16="http://schemas.microsoft.com/office/drawing/2014/main" id="{BB13EB9D-B452-40D8-B8E3-D1D7B751203A}"/>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7E5E77B-3205-471B-9E84-DA5EB95B0647}"/>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Что вообще помогает языку жить?</a:t>
            </a:r>
          </a:p>
        </p:txBody>
      </p:sp>
      <p:sp>
        <p:nvSpPr>
          <p:cNvPr id="5" name="">
            <a:extLst xmlns:a="http://schemas.openxmlformats.org/drawingml/2006/main">
              <a:ext uri="{FF2B5EF4-FFF2-40B4-BE49-F238E27FC236}">
                <a16:creationId xmlns:a16="http://schemas.microsoft.com/office/drawing/2014/main" id="{664C470D-BF22-4D90-97DE-E1C8954D008D}"/>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4940FBA-CB85-481A-BA4B-6497E5A25E1B}"/>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Какие данные нужны?</a:t>
            </a:r>
          </a:p>
        </p:txBody>
      </p:sp>
      <p:sp>
        <p:nvSpPr>
          <p:cNvPr id="7" name="">
            <a:extLst xmlns:a="http://schemas.openxmlformats.org/drawingml/2006/main">
              <a:ext uri="{FF2B5EF4-FFF2-40B4-BE49-F238E27FC236}">
                <a16:creationId xmlns:a16="http://schemas.microsoft.com/office/drawing/2014/main" id="{34321547-DBA8-4452-972C-40C7A6425017}"/>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2270E8C-A198-417F-A834-290B2838C8E9}"/>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Какие инструменты нужны носителям, преподавателям, исследователям?</a:t>
            </a:r>
          </a:p>
        </p:txBody>
      </p:sp>
      <p:sp>
        <p:nvSpPr>
          <p:cNvPr id="9" name="">
            <a:extLst xmlns:a="http://schemas.openxmlformats.org/drawingml/2006/main">
              <a:ext uri="{FF2B5EF4-FFF2-40B4-BE49-F238E27FC236}">
                <a16:creationId xmlns:a16="http://schemas.microsoft.com/office/drawing/2014/main" id="{FC748DD9-FD44-4A2B-B938-57FB48AEDC5D}"/>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E559246-BF5C-482A-B353-90B3FB75DC19}"/>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Что можно сделать без ML?</a:t>
            </a:r>
          </a:p>
        </p:txBody>
      </p:sp>
      <p:sp>
        <p:nvSpPr>
          <p:cNvPr id="11" name="">
            <a:extLst xmlns:a="http://schemas.openxmlformats.org/drawingml/2006/main">
              <a:ext uri="{FF2B5EF4-FFF2-40B4-BE49-F238E27FC236}">
                <a16:creationId xmlns:a16="http://schemas.microsoft.com/office/drawing/2014/main" id="{D8DB7656-9B10-42E6-A5E7-8635673C6BE3}"/>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4745725-9BE8-47BB-9987-C98B13B2ECEC}"/>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Где ML действительно ускоряет работу?</a:t>
            </a:r>
          </a:p>
        </p:txBody>
      </p:sp>
      <p:sp>
        <p:nvSpPr>
          <p:cNvPr id="13" name="">
            <a:extLst xmlns:a="http://schemas.openxmlformats.org/drawingml/2006/main">
              <a:ext uri="{FF2B5EF4-FFF2-40B4-BE49-F238E27FC236}">
                <a16:creationId xmlns:a16="http://schemas.microsoft.com/office/drawing/2014/main" id="{10BE927B-3606-46C3-9641-0E3B50E6339F}"/>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29CC947-0166-4094-979C-A5188A0945C3}"/>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5" name="">
            <a:extLst xmlns:a="http://schemas.openxmlformats.org/drawingml/2006/main">
              <a:ext uri="{FF2B5EF4-FFF2-40B4-BE49-F238E27FC236}">
                <a16:creationId xmlns:a16="http://schemas.microsoft.com/office/drawing/2014/main" id="{12AF3407-CBD3-4BA8-8171-CB70668D10EF}"/>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4/36</a:t>
            </a:r>
          </a:p>
        </p:txBody>
      </p:sp>
    </p:spTree>
    <p:extLst>
      <p:ext uri="{BB962C8B-B14F-4D97-AF65-F5344CB8AC3E}">
        <p14:creationId xmlns:p14="http://schemas.microsoft.com/office/powerpoint/2010/main" val="11117470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AC74AC3-CAD7-4AE5-8034-B906416A603F}"/>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5F41DEA1-ADD2-4D99-ABC9-810871FB1BB4}"/>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Возможные ответы: что влияет на сохранение языка</a:t>
            </a:r>
          </a:p>
        </p:txBody>
      </p:sp>
      <p:sp>
        <p:nvSpPr>
          <p:cNvPr id="3" name="">
            <a:extLst xmlns:a="http://schemas.openxmlformats.org/drawingml/2006/main">
              <a:ext uri="{FF2B5EF4-FFF2-40B4-BE49-F238E27FC236}">
                <a16:creationId xmlns:a16="http://schemas.microsoft.com/office/drawing/2014/main" id="{BA917DBB-8F99-4215-A1A9-73458C593EF7}"/>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E0AFAD0-4397-4BA2-BA13-73D5A76162AE}"/>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Передача между поколениями</a:t>
            </a:r>
          </a:p>
        </p:txBody>
      </p:sp>
      <p:sp>
        <p:nvSpPr>
          <p:cNvPr id="5" name="">
            <a:extLst xmlns:a="http://schemas.openxmlformats.org/drawingml/2006/main">
              <a:ext uri="{FF2B5EF4-FFF2-40B4-BE49-F238E27FC236}">
                <a16:creationId xmlns:a16="http://schemas.microsoft.com/office/drawing/2014/main" id="{7BB1E1BF-FA29-42C6-A332-6E06F715AC00}"/>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8AC58F3-0EAE-4B15-83FF-C19D06102D2B}"/>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Престиж и видимость языка</a:t>
            </a:r>
          </a:p>
        </p:txBody>
      </p:sp>
      <p:sp>
        <p:nvSpPr>
          <p:cNvPr id="7" name="">
            <a:extLst xmlns:a="http://schemas.openxmlformats.org/drawingml/2006/main">
              <a:ext uri="{FF2B5EF4-FFF2-40B4-BE49-F238E27FC236}">
                <a16:creationId xmlns:a16="http://schemas.microsoft.com/office/drawing/2014/main" id="{C19927BF-E265-4133-B446-3A4478F38402}"/>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EB73047-D80C-40F1-B0A9-384F1312C1EE}"/>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Образование и учебные материалы</a:t>
            </a:r>
          </a:p>
        </p:txBody>
      </p:sp>
      <p:sp>
        <p:nvSpPr>
          <p:cNvPr id="9" name="">
            <a:extLst xmlns:a="http://schemas.openxmlformats.org/drawingml/2006/main">
              <a:ext uri="{FF2B5EF4-FFF2-40B4-BE49-F238E27FC236}">
                <a16:creationId xmlns:a16="http://schemas.microsoft.com/office/drawing/2014/main" id="{21D5D759-AAFC-4ED5-84A9-458F403D9EF8}"/>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5FBBFE9-A021-4F74-A02D-66E308028117}"/>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Доступные тексты, аудио, словари, архивы</a:t>
            </a:r>
          </a:p>
        </p:txBody>
      </p:sp>
      <p:sp>
        <p:nvSpPr>
          <p:cNvPr id="11" name="">
            <a:extLst xmlns:a="http://schemas.openxmlformats.org/drawingml/2006/main">
              <a:ext uri="{FF2B5EF4-FFF2-40B4-BE49-F238E27FC236}">
                <a16:creationId xmlns:a16="http://schemas.microsoft.com/office/drawing/2014/main" id="{BAEBA8F1-44DB-4EFD-9D7A-82D84801A2A1}"/>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CF64467-ACC9-4E56-B35D-EE7DADCAB2AD}"/>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Цифровая инфраструктура: клавиатуры, поиск, OCR, ASR, перевод, спелчекер</a:t>
            </a:r>
          </a:p>
        </p:txBody>
      </p:sp>
      <p:sp>
        <p:nvSpPr>
          <p:cNvPr id="13" name="">
            <a:extLst xmlns:a="http://schemas.openxmlformats.org/drawingml/2006/main">
              <a:ext uri="{FF2B5EF4-FFF2-40B4-BE49-F238E27FC236}">
                <a16:creationId xmlns:a16="http://schemas.microsoft.com/office/drawing/2014/main" id="{03348C41-9E29-4AC7-83ED-92FBAD428C81}"/>
              </a:ext>
            </a:extLst>
          </p:cNvPr>
          <p:cNvSpPr>
            <a:spLocks xmlns:a="http://schemas.openxmlformats.org/drawingml/2006/main" noGrp="1"/>
          </p:cNvSpPr>
          <p:nvPr/>
        </p:nvSpPr>
        <p:spPr>
          <a:xfrm xmlns:a="http://schemas.openxmlformats.org/drawingml/2006/main">
            <a:off x="762000" y="46482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DAB4542-1374-4B73-8F24-CF7534F97CC6}"/>
              </a:ext>
            </a:extLst>
          </p:cNvPr>
          <p:cNvSpPr>
            <a:spLocks xmlns:a="http://schemas.openxmlformats.org/drawingml/2006/main" noGrp="1"/>
          </p:cNvSpPr>
          <p:nvPr/>
        </p:nvSpPr>
        <p:spPr>
          <a:xfrm xmlns:a="http://schemas.openxmlformats.org/drawingml/2006/main">
            <a:off x="1047750" y="45720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Сообщество, согласие, права на данные</a:t>
            </a:r>
          </a:p>
        </p:txBody>
      </p:sp>
      <p:sp>
        <p:nvSpPr>
          <p:cNvPr id="15" name="">
            <a:extLst xmlns:a="http://schemas.openxmlformats.org/drawingml/2006/main">
              <a:ext uri="{FF2B5EF4-FFF2-40B4-BE49-F238E27FC236}">
                <a16:creationId xmlns:a16="http://schemas.microsoft.com/office/drawing/2014/main" id="{C115B9DF-4FA9-4ECF-BC27-136167F3C9F7}"/>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4C30E9D-11CD-446F-9CE1-2158BEEE0829}"/>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7" name="">
            <a:extLst xmlns:a="http://schemas.openxmlformats.org/drawingml/2006/main">
              <a:ext uri="{FF2B5EF4-FFF2-40B4-BE49-F238E27FC236}">
                <a16:creationId xmlns:a16="http://schemas.microsoft.com/office/drawing/2014/main" id="{4FF2B35E-10F2-47BD-86DA-779DA3BAE43A}"/>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5/36</a:t>
            </a:r>
          </a:p>
        </p:txBody>
      </p:sp>
    </p:spTree>
    <p:extLst>
      <p:ext uri="{BB962C8B-B14F-4D97-AF65-F5344CB8AC3E}">
        <p14:creationId xmlns:p14="http://schemas.microsoft.com/office/powerpoint/2010/main" val="7577913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F774F5E-F17C-4F57-A4DB-2303FACE16A3}"/>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934A1816-2100-42AA-AD02-105F288DCBD0}"/>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Что дают разные ML-инструменты</a:t>
            </a:r>
          </a:p>
        </p:txBody>
      </p:sp>
      <p:sp>
        <p:nvSpPr>
          <p:cNvPr id="3" name="">
            <a:extLst xmlns:a="http://schemas.openxmlformats.org/drawingml/2006/main">
              <a:ext uri="{FF2B5EF4-FFF2-40B4-BE49-F238E27FC236}">
                <a16:creationId xmlns:a16="http://schemas.microsoft.com/office/drawing/2014/main" id="{4F8E1773-E4AF-439B-B14C-F4764FD70D8F}"/>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608CB5B-F884-4711-BFD8-1C227AF8A197}"/>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OCR: оцифровать книги, газеты, учебники, архивные PDF</a:t>
            </a:r>
          </a:p>
        </p:txBody>
      </p:sp>
      <p:sp>
        <p:nvSpPr>
          <p:cNvPr id="5" name="">
            <a:extLst xmlns:a="http://schemas.openxmlformats.org/drawingml/2006/main">
              <a:ext uri="{FF2B5EF4-FFF2-40B4-BE49-F238E27FC236}">
                <a16:creationId xmlns:a16="http://schemas.microsoft.com/office/drawing/2014/main" id="{3D3DC55E-C561-43EA-85F0-ACCE1AC62C1B}"/>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3DD812A-A805-4CEC-8E07-48FA233E4762}"/>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ASR: получить тексты из записей речи</a:t>
            </a:r>
          </a:p>
        </p:txBody>
      </p:sp>
      <p:sp>
        <p:nvSpPr>
          <p:cNvPr id="7" name="">
            <a:extLst xmlns:a="http://schemas.openxmlformats.org/drawingml/2006/main">
              <a:ext uri="{FF2B5EF4-FFF2-40B4-BE49-F238E27FC236}">
                <a16:creationId xmlns:a16="http://schemas.microsoft.com/office/drawing/2014/main" id="{6CDC8631-8AAF-4578-BCCB-11C83DF80CF8}"/>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093A7ED-2BB9-42E1-8FEE-A4EFC1B263B3}"/>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MT: строить перевод и параллельные корпуса</a:t>
            </a:r>
          </a:p>
        </p:txBody>
      </p:sp>
      <p:sp>
        <p:nvSpPr>
          <p:cNvPr id="9" name="">
            <a:extLst xmlns:a="http://schemas.openxmlformats.org/drawingml/2006/main">
              <a:ext uri="{FF2B5EF4-FFF2-40B4-BE49-F238E27FC236}">
                <a16:creationId xmlns:a16="http://schemas.microsoft.com/office/drawing/2014/main" id="{C7C5FFEE-AA39-4679-8EB5-1476DD561F26}"/>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8463BEE-DA60-46B9-A1D3-4B642D2A3B95}"/>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Alignment: находить пары переводов в текстах</a:t>
            </a:r>
          </a:p>
        </p:txBody>
      </p:sp>
      <p:sp>
        <p:nvSpPr>
          <p:cNvPr id="11" name="">
            <a:extLst xmlns:a="http://schemas.openxmlformats.org/drawingml/2006/main">
              <a:ext uri="{FF2B5EF4-FFF2-40B4-BE49-F238E27FC236}">
                <a16:creationId xmlns:a16="http://schemas.microsoft.com/office/drawing/2014/main" id="{095E3D1F-D816-4C13-A93B-60C00641883E}"/>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BFDAC85-B78B-4780-BA9B-FE62C57141EB}"/>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Спелчекер: поддержать письмо и очистку данных</a:t>
            </a:r>
          </a:p>
        </p:txBody>
      </p:sp>
      <p:sp>
        <p:nvSpPr>
          <p:cNvPr id="13" name="">
            <a:extLst xmlns:a="http://schemas.openxmlformats.org/drawingml/2006/main">
              <a:ext uri="{FF2B5EF4-FFF2-40B4-BE49-F238E27FC236}">
                <a16:creationId xmlns:a16="http://schemas.microsoft.com/office/drawing/2014/main" id="{D9A0CC03-6ABA-4DB6-9C52-1AE143F758B6}"/>
              </a:ext>
            </a:extLst>
          </p:cNvPr>
          <p:cNvSpPr>
            <a:spLocks xmlns:a="http://schemas.openxmlformats.org/drawingml/2006/main" noGrp="1"/>
          </p:cNvSpPr>
          <p:nvPr/>
        </p:nvSpPr>
        <p:spPr>
          <a:xfrm xmlns:a="http://schemas.openxmlformats.org/drawingml/2006/main">
            <a:off x="762000" y="46482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6792F16-3F2C-490F-A840-246B282A37F1}"/>
              </a:ext>
            </a:extLst>
          </p:cNvPr>
          <p:cNvSpPr>
            <a:spLocks xmlns:a="http://schemas.openxmlformats.org/drawingml/2006/main" noGrp="1"/>
          </p:cNvSpPr>
          <p:nvPr/>
        </p:nvSpPr>
        <p:spPr>
          <a:xfrm xmlns:a="http://schemas.openxmlformats.org/drawingml/2006/main">
            <a:off x="1047750" y="45720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LLM: анализ, генерация черновиков, ассистивная разметка, локальные помощники</a:t>
            </a:r>
          </a:p>
        </p:txBody>
      </p:sp>
      <p:sp>
        <p:nvSpPr>
          <p:cNvPr id="15" name="">
            <a:extLst xmlns:a="http://schemas.openxmlformats.org/drawingml/2006/main">
              <a:ext uri="{FF2B5EF4-FFF2-40B4-BE49-F238E27FC236}">
                <a16:creationId xmlns:a16="http://schemas.microsoft.com/office/drawing/2014/main" id="{BC55BBE6-035F-4ED1-8083-E1324495B4F7}"/>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D3C7C4A-56CB-4D70-B217-838F97B69F2A}"/>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7" name="">
            <a:extLst xmlns:a="http://schemas.openxmlformats.org/drawingml/2006/main">
              <a:ext uri="{FF2B5EF4-FFF2-40B4-BE49-F238E27FC236}">
                <a16:creationId xmlns:a16="http://schemas.microsoft.com/office/drawing/2014/main" id="{7523BB96-AF1E-4E49-919C-91A567B29392}"/>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6/36</a:t>
            </a:r>
          </a:p>
        </p:txBody>
      </p:sp>
    </p:spTree>
    <p:extLst>
      <p:ext uri="{BB962C8B-B14F-4D97-AF65-F5344CB8AC3E}">
        <p14:creationId xmlns:p14="http://schemas.microsoft.com/office/powerpoint/2010/main" val="9423809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70660C3-3B48-4703-9939-1004CF6162F7}"/>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46A6F2DF-9F6C-4637-81C8-0696F50C2BB7}"/>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От простого к сложному</a:t>
            </a:r>
          </a:p>
        </p:txBody>
      </p:sp>
      <p:sp>
        <p:nvSpPr>
          <p:cNvPr id="3" name="">
            <a:extLst xmlns:a="http://schemas.openxmlformats.org/drawingml/2006/main">
              <a:ext uri="{FF2B5EF4-FFF2-40B4-BE49-F238E27FC236}">
                <a16:creationId xmlns:a16="http://schemas.microsoft.com/office/drawing/2014/main" id="{4D3D11E2-824D-43BE-9DD1-1632DE40CF74}"/>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CCE7E4-2BB7-480B-916B-BA89A3C12529}"/>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Найти готовые датасеты</a:t>
            </a:r>
          </a:p>
        </p:txBody>
      </p:sp>
      <p:sp>
        <p:nvSpPr>
          <p:cNvPr id="5" name="">
            <a:extLst xmlns:a="http://schemas.openxmlformats.org/drawingml/2006/main">
              <a:ext uri="{FF2B5EF4-FFF2-40B4-BE49-F238E27FC236}">
                <a16:creationId xmlns:a16="http://schemas.microsoft.com/office/drawing/2014/main" id="{5DAD0825-4C36-4455-9F2D-8970074320B5}"/>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9D62807-C991-4B63-9C7D-BBBA3F106932}"/>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Найти готовые модели</a:t>
            </a:r>
          </a:p>
        </p:txBody>
      </p:sp>
      <p:sp>
        <p:nvSpPr>
          <p:cNvPr id="7" name="">
            <a:extLst xmlns:a="http://schemas.openxmlformats.org/drawingml/2006/main">
              <a:ext uri="{FF2B5EF4-FFF2-40B4-BE49-F238E27FC236}">
                <a16:creationId xmlns:a16="http://schemas.microsoft.com/office/drawing/2014/main" id="{639BCD64-E9EF-46FB-9787-9BACA735A7AA}"/>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F9863CF-921B-4AD9-A1F6-9B9AA00F7846}"/>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Проверить baseline на своих примерах</a:t>
            </a:r>
          </a:p>
        </p:txBody>
      </p:sp>
      <p:sp>
        <p:nvSpPr>
          <p:cNvPr id="9" name="">
            <a:extLst xmlns:a="http://schemas.openxmlformats.org/drawingml/2006/main">
              <a:ext uri="{FF2B5EF4-FFF2-40B4-BE49-F238E27FC236}">
                <a16:creationId xmlns:a16="http://schemas.microsoft.com/office/drawing/2014/main" id="{4C265EC3-7E97-4B7D-A5C8-A69C07AE4286}"/>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EB2B099-94C0-4487-8657-078918B4BA20}"/>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Если есть данные - дообучить или адаптировать модель</a:t>
            </a:r>
          </a:p>
        </p:txBody>
      </p:sp>
      <p:sp>
        <p:nvSpPr>
          <p:cNvPr id="11" name="">
            <a:extLst xmlns:a="http://schemas.openxmlformats.org/drawingml/2006/main">
              <a:ext uri="{FF2B5EF4-FFF2-40B4-BE49-F238E27FC236}">
                <a16:creationId xmlns:a16="http://schemas.microsoft.com/office/drawing/2014/main" id="{8EE89B79-562A-4E0A-984C-1ADCD2B59BB5}"/>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8BFDBED-7600-4C81-AC5B-161A1184446C}"/>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Если данных нет - собрать минимальный датасет</a:t>
            </a:r>
          </a:p>
        </p:txBody>
      </p:sp>
      <p:sp>
        <p:nvSpPr>
          <p:cNvPr id="13" name="">
            <a:extLst xmlns:a="http://schemas.openxmlformats.org/drawingml/2006/main">
              <a:ext uri="{FF2B5EF4-FFF2-40B4-BE49-F238E27FC236}">
                <a16:creationId xmlns:a16="http://schemas.microsoft.com/office/drawing/2014/main" id="{53314E17-D9F5-46F5-99CB-069F2071F9AF}"/>
              </a:ext>
            </a:extLst>
          </p:cNvPr>
          <p:cNvSpPr>
            <a:spLocks xmlns:a="http://schemas.openxmlformats.org/drawingml/2006/main" noGrp="1"/>
          </p:cNvSpPr>
          <p:nvPr/>
        </p:nvSpPr>
        <p:spPr>
          <a:xfrm xmlns:a="http://schemas.openxmlformats.org/drawingml/2006/main">
            <a:off x="762000" y="46482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60D9399-422C-4F50-B15F-3A2AB13B2490}"/>
              </a:ext>
            </a:extLst>
          </p:cNvPr>
          <p:cNvSpPr>
            <a:spLocks xmlns:a="http://schemas.openxmlformats.org/drawingml/2006/main" noGrp="1"/>
          </p:cNvSpPr>
          <p:nvPr/>
        </p:nvSpPr>
        <p:spPr>
          <a:xfrm xmlns:a="http://schemas.openxmlformats.org/drawingml/2006/main">
            <a:off x="1047750" y="45720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Если задача чувствительная - сначала согласие, протокол и хранение</a:t>
            </a:r>
          </a:p>
        </p:txBody>
      </p:sp>
      <p:sp>
        <p:nvSpPr>
          <p:cNvPr id="15" name="">
            <a:extLst xmlns:a="http://schemas.openxmlformats.org/drawingml/2006/main">
              <a:ext uri="{FF2B5EF4-FFF2-40B4-BE49-F238E27FC236}">
                <a16:creationId xmlns:a16="http://schemas.microsoft.com/office/drawing/2014/main" id="{5CF5E93E-FBC9-41E7-89B5-EEABF9C9454B}"/>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56C7931-06A7-4181-94F1-1778F6A9DF66}"/>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7" name="">
            <a:extLst xmlns:a="http://schemas.openxmlformats.org/drawingml/2006/main">
              <a:ext uri="{FF2B5EF4-FFF2-40B4-BE49-F238E27FC236}">
                <a16:creationId xmlns:a16="http://schemas.microsoft.com/office/drawing/2014/main" id="{2ABBF3E9-3A75-4486-8027-70A1B26D67DC}"/>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7/36</a:t>
            </a:r>
          </a:p>
        </p:txBody>
      </p:sp>
    </p:spTree>
    <p:extLst>
      <p:ext uri="{BB962C8B-B14F-4D97-AF65-F5344CB8AC3E}">
        <p14:creationId xmlns:p14="http://schemas.microsoft.com/office/powerpoint/2010/main" val="16782269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7E4EA0D-578C-4312-B75B-4096842D3290}"/>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EBC4163B-2E67-43D0-B42E-F55B1FBDCB24}"/>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Что считается первым полезным результатом</a:t>
            </a:r>
          </a:p>
        </p:txBody>
      </p:sp>
      <p:sp>
        <p:nvSpPr>
          <p:cNvPr id="3" name="">
            <a:extLst xmlns:a="http://schemas.openxmlformats.org/drawingml/2006/main">
              <a:ext uri="{FF2B5EF4-FFF2-40B4-BE49-F238E27FC236}">
                <a16:creationId xmlns:a16="http://schemas.microsoft.com/office/drawing/2014/main" id="{00DECF8A-9C1B-463B-A667-5CD67268E27E}"/>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D0F06A0-B003-41EF-BD24-F2615B46D207}"/>
              </a:ext>
            </a:extLst>
          </p:cNvPr>
          <p:cNvSpPr>
            <a:spLocks xmlns:a="http://schemas.openxmlformats.org/drawingml/2006/main" noGrp="1"/>
          </p:cNvSpPr>
          <p:nvPr/>
        </p:nvSpPr>
        <p:spPr>
          <a:xfrm xmlns:a="http://schemas.openxmlformats.org/drawingml/2006/main">
            <a:off x="1047750" y="18097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Таблица найденных ресурсов</a:t>
            </a:r>
          </a:p>
        </p:txBody>
      </p:sp>
      <p:sp>
        <p:nvSpPr>
          <p:cNvPr id="5" name="">
            <a:extLst xmlns:a="http://schemas.openxmlformats.org/drawingml/2006/main">
              <a:ext uri="{FF2B5EF4-FFF2-40B4-BE49-F238E27FC236}">
                <a16:creationId xmlns:a16="http://schemas.microsoft.com/office/drawing/2014/main" id="{CDD891FF-E16E-44AB-9AB5-054B312F5049}"/>
              </a:ext>
            </a:extLst>
          </p:cNvPr>
          <p:cNvSpPr>
            <a:spLocks xmlns:a="http://schemas.openxmlformats.org/drawingml/2006/main" noGrp="1"/>
          </p:cNvSpPr>
          <p:nvPr/>
        </p:nvSpPr>
        <p:spPr>
          <a:xfrm xmlns:a="http://schemas.openxmlformats.org/drawingml/2006/main">
            <a:off x="762000" y="23431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6FCBA9-A356-49C4-BB98-229DD25312CA}"/>
              </a:ext>
            </a:extLst>
          </p:cNvPr>
          <p:cNvSpPr>
            <a:spLocks xmlns:a="http://schemas.openxmlformats.org/drawingml/2006/main" noGrp="1"/>
          </p:cNvSpPr>
          <p:nvPr/>
        </p:nvSpPr>
        <p:spPr>
          <a:xfrm xmlns:a="http://schemas.openxmlformats.org/drawingml/2006/main">
            <a:off x="1047750" y="22669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20 проверенных текстов</a:t>
            </a:r>
          </a:p>
        </p:txBody>
      </p:sp>
      <p:sp>
        <p:nvSpPr>
          <p:cNvPr id="7" name="">
            <a:extLst xmlns:a="http://schemas.openxmlformats.org/drawingml/2006/main">
              <a:ext uri="{FF2B5EF4-FFF2-40B4-BE49-F238E27FC236}">
                <a16:creationId xmlns:a16="http://schemas.microsoft.com/office/drawing/2014/main" id="{3A14D80D-262C-45D1-8062-A405CDA533A6}"/>
              </a:ext>
            </a:extLst>
          </p:cNvPr>
          <p:cNvSpPr>
            <a:spLocks xmlns:a="http://schemas.openxmlformats.org/drawingml/2006/main" noGrp="1"/>
          </p:cNvSpPr>
          <p:nvPr/>
        </p:nvSpPr>
        <p:spPr>
          <a:xfrm xmlns:a="http://schemas.openxmlformats.org/drawingml/2006/main">
            <a:off x="762000" y="28003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569E492-C14A-40AB-9FA9-4C7454E84911}"/>
              </a:ext>
            </a:extLst>
          </p:cNvPr>
          <p:cNvSpPr>
            <a:spLocks xmlns:a="http://schemas.openxmlformats.org/drawingml/2006/main" noGrp="1"/>
          </p:cNvSpPr>
          <p:nvPr/>
        </p:nvSpPr>
        <p:spPr>
          <a:xfrm xmlns:a="http://schemas.openxmlformats.org/drawingml/2006/main">
            <a:off x="1047750" y="27241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30 строк OCR ground truth</a:t>
            </a:r>
          </a:p>
        </p:txBody>
      </p:sp>
      <p:sp>
        <p:nvSpPr>
          <p:cNvPr id="9" name="">
            <a:extLst xmlns:a="http://schemas.openxmlformats.org/drawingml/2006/main">
              <a:ext uri="{FF2B5EF4-FFF2-40B4-BE49-F238E27FC236}">
                <a16:creationId xmlns:a16="http://schemas.microsoft.com/office/drawing/2014/main" id="{134D3326-54FB-4351-8E7F-46272F2AB8A4}"/>
              </a:ext>
            </a:extLst>
          </p:cNvPr>
          <p:cNvSpPr>
            <a:spLocks xmlns:a="http://schemas.openxmlformats.org/drawingml/2006/main" noGrp="1"/>
          </p:cNvSpPr>
          <p:nvPr/>
        </p:nvSpPr>
        <p:spPr>
          <a:xfrm xmlns:a="http://schemas.openxmlformats.org/drawingml/2006/main">
            <a:off x="762000" y="32575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06D9A1E-4068-4687-895E-1A35E4BCDA0C}"/>
              </a:ext>
            </a:extLst>
          </p:cNvPr>
          <p:cNvSpPr>
            <a:spLocks xmlns:a="http://schemas.openxmlformats.org/drawingml/2006/main" noGrp="1"/>
          </p:cNvSpPr>
          <p:nvPr/>
        </p:nvSpPr>
        <p:spPr>
          <a:xfrm xmlns:a="http://schemas.openxmlformats.org/drawingml/2006/main">
            <a:off x="1047750" y="31813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1 минута расшифрованного аудио</a:t>
            </a:r>
          </a:p>
        </p:txBody>
      </p:sp>
      <p:sp>
        <p:nvSpPr>
          <p:cNvPr id="11" name="">
            <a:extLst xmlns:a="http://schemas.openxmlformats.org/drawingml/2006/main">
              <a:ext uri="{FF2B5EF4-FFF2-40B4-BE49-F238E27FC236}">
                <a16:creationId xmlns:a16="http://schemas.microsoft.com/office/drawing/2014/main" id="{836550B3-04D9-4FCF-B04A-8334BB71780C}"/>
              </a:ext>
            </a:extLst>
          </p:cNvPr>
          <p:cNvSpPr>
            <a:spLocks xmlns:a="http://schemas.openxmlformats.org/drawingml/2006/main" noGrp="1"/>
          </p:cNvSpPr>
          <p:nvPr/>
        </p:nvSpPr>
        <p:spPr>
          <a:xfrm xmlns:a="http://schemas.openxmlformats.org/drawingml/2006/main">
            <a:off x="762000" y="3714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B94D85B-D4A4-4E5A-897A-5CDC3391F6C2}"/>
              </a:ext>
            </a:extLst>
          </p:cNvPr>
          <p:cNvSpPr>
            <a:spLocks xmlns:a="http://schemas.openxmlformats.org/drawingml/2006/main" noGrp="1"/>
          </p:cNvSpPr>
          <p:nvPr/>
        </p:nvSpPr>
        <p:spPr>
          <a:xfrm xmlns:a="http://schemas.openxmlformats.org/drawingml/2006/main">
            <a:off x="1047750" y="36385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50 пар параллельных сегментов</a:t>
            </a:r>
          </a:p>
        </p:txBody>
      </p:sp>
      <p:sp>
        <p:nvSpPr>
          <p:cNvPr id="13" name="">
            <a:extLst xmlns:a="http://schemas.openxmlformats.org/drawingml/2006/main">
              <a:ext uri="{FF2B5EF4-FFF2-40B4-BE49-F238E27FC236}">
                <a16:creationId xmlns:a16="http://schemas.microsoft.com/office/drawing/2014/main" id="{0324589C-D2CD-437D-BECC-C3CAB332AE79}"/>
              </a:ext>
            </a:extLst>
          </p:cNvPr>
          <p:cNvSpPr>
            <a:spLocks xmlns:a="http://schemas.openxmlformats.org/drawingml/2006/main" noGrp="1"/>
          </p:cNvSpPr>
          <p:nvPr/>
        </p:nvSpPr>
        <p:spPr>
          <a:xfrm xmlns:a="http://schemas.openxmlformats.org/drawingml/2006/main">
            <a:off x="762000" y="41719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91569F8-7FC2-4630-BC26-EC62E4405EC6}"/>
              </a:ext>
            </a:extLst>
          </p:cNvPr>
          <p:cNvSpPr>
            <a:spLocks xmlns:a="http://schemas.openxmlformats.org/drawingml/2006/main" noGrp="1"/>
          </p:cNvSpPr>
          <p:nvPr/>
        </p:nvSpPr>
        <p:spPr>
          <a:xfrm xmlns:a="http://schemas.openxmlformats.org/drawingml/2006/main">
            <a:off x="1047750" y="40957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Частотный словарь и список спорных форм</a:t>
            </a:r>
          </a:p>
        </p:txBody>
      </p:sp>
      <p:sp>
        <p:nvSpPr>
          <p:cNvPr id="15" name="">
            <a:extLst xmlns:a="http://schemas.openxmlformats.org/drawingml/2006/main">
              <a:ext uri="{FF2B5EF4-FFF2-40B4-BE49-F238E27FC236}">
                <a16:creationId xmlns:a16="http://schemas.microsoft.com/office/drawing/2014/main" id="{A2418069-53C4-41BE-8AA2-71EB0279AEA2}"/>
              </a:ext>
            </a:extLst>
          </p:cNvPr>
          <p:cNvSpPr>
            <a:spLocks xmlns:a="http://schemas.openxmlformats.org/drawingml/2006/main" noGrp="1"/>
          </p:cNvSpPr>
          <p:nvPr/>
        </p:nvSpPr>
        <p:spPr>
          <a:xfrm xmlns:a="http://schemas.openxmlformats.org/drawingml/2006/main">
            <a:off x="762000" y="46291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6672DFB-403E-4A52-826C-ECEAD0D11FF7}"/>
              </a:ext>
            </a:extLst>
          </p:cNvPr>
          <p:cNvSpPr>
            <a:spLocks xmlns:a="http://schemas.openxmlformats.org/drawingml/2006/main" noGrp="1"/>
          </p:cNvSpPr>
          <p:nvPr/>
        </p:nvSpPr>
        <p:spPr>
          <a:xfrm xmlns:a="http://schemas.openxmlformats.org/drawingml/2006/main">
            <a:off x="1047750" y="45529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Мини-демо или воспроизводимый notebook</a:t>
            </a:r>
          </a:p>
        </p:txBody>
      </p:sp>
      <p:sp>
        <p:nvSpPr>
          <p:cNvPr id="17" name="">
            <a:extLst xmlns:a="http://schemas.openxmlformats.org/drawingml/2006/main">
              <a:ext uri="{FF2B5EF4-FFF2-40B4-BE49-F238E27FC236}">
                <a16:creationId xmlns:a16="http://schemas.microsoft.com/office/drawing/2014/main" id="{ACC88FF7-A309-4536-BFE2-9F06E53CC671}"/>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BBD2D00-ED99-4012-8A1F-776F169C7415}"/>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9" name="">
            <a:extLst xmlns:a="http://schemas.openxmlformats.org/drawingml/2006/main">
              <a:ext uri="{FF2B5EF4-FFF2-40B4-BE49-F238E27FC236}">
                <a16:creationId xmlns:a16="http://schemas.microsoft.com/office/drawing/2014/main" id="{B7BBB02C-569E-4FBE-A6A2-87D7CA55B48F}"/>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8/36</a:t>
            </a:r>
          </a:p>
        </p:txBody>
      </p:sp>
    </p:spTree>
    <p:extLst>
      <p:ext uri="{BB962C8B-B14F-4D97-AF65-F5344CB8AC3E}">
        <p14:creationId xmlns:p14="http://schemas.microsoft.com/office/powerpoint/2010/main" val="8711477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1830B2A-C04E-4C91-A413-58A7556258E6}"/>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CC3BC36B-8177-4232-AAED-0C5A4E06BE6D}"/>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Командный выбор: язык и подход</a:t>
            </a:r>
          </a:p>
        </p:txBody>
      </p:sp>
      <p:sp>
        <p:nvSpPr>
          <p:cNvPr id="3" name="">
            <a:extLst xmlns:a="http://schemas.openxmlformats.org/drawingml/2006/main">
              <a:ext uri="{FF2B5EF4-FFF2-40B4-BE49-F238E27FC236}">
                <a16:creationId xmlns:a16="http://schemas.microsoft.com/office/drawing/2014/main" id="{079D5EAD-83B7-477F-B0CD-449FA5AB22B2}"/>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3E3A19F-F5A6-497D-94EF-BE536D6F38F9}"/>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Какой язык или языковая ситуация?</a:t>
            </a:r>
          </a:p>
        </p:txBody>
      </p:sp>
      <p:sp>
        <p:nvSpPr>
          <p:cNvPr id="5" name="">
            <a:extLst xmlns:a="http://schemas.openxmlformats.org/drawingml/2006/main">
              <a:ext uri="{FF2B5EF4-FFF2-40B4-BE49-F238E27FC236}">
                <a16:creationId xmlns:a16="http://schemas.microsoft.com/office/drawing/2014/main" id="{47D976B9-D387-41F3-8055-D12B774B529B}"/>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D378A7C-99CE-48EA-976A-128F65CD8097}"/>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Кто пользователи результата?</a:t>
            </a:r>
          </a:p>
        </p:txBody>
      </p:sp>
      <p:sp>
        <p:nvSpPr>
          <p:cNvPr id="7" name="">
            <a:extLst xmlns:a="http://schemas.openxmlformats.org/drawingml/2006/main">
              <a:ext uri="{FF2B5EF4-FFF2-40B4-BE49-F238E27FC236}">
                <a16:creationId xmlns:a16="http://schemas.microsoft.com/office/drawing/2014/main" id="{DF83C83E-3627-4CFF-8493-07AC9E4E23A5}"/>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F40B44A-080E-43AE-A255-677FE423724A}"/>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Что уже есть: данные, модели, словари, контакты?</a:t>
            </a:r>
          </a:p>
        </p:txBody>
      </p:sp>
      <p:sp>
        <p:nvSpPr>
          <p:cNvPr id="9" name="">
            <a:extLst xmlns:a="http://schemas.openxmlformats.org/drawingml/2006/main">
              <a:ext uri="{FF2B5EF4-FFF2-40B4-BE49-F238E27FC236}">
                <a16:creationId xmlns:a16="http://schemas.microsoft.com/office/drawing/2014/main" id="{8CB7EC4C-F944-4C60-9B82-4376D43440DC}"/>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0089086-E6B9-4BED-BE20-15D2CE227126}"/>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Что реалистично за курс?</a:t>
            </a:r>
          </a:p>
        </p:txBody>
      </p:sp>
      <p:sp>
        <p:nvSpPr>
          <p:cNvPr id="11" name="">
            <a:extLst xmlns:a="http://schemas.openxmlformats.org/drawingml/2006/main">
              <a:ext uri="{FF2B5EF4-FFF2-40B4-BE49-F238E27FC236}">
                <a16:creationId xmlns:a16="http://schemas.microsoft.com/office/drawing/2014/main" id="{AE6AB823-9121-43EE-A191-78A17E01A917}"/>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2EAA77C-2487-4E8B-B5F9-8C72FF8D02C5}"/>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Что может стать заделом для летней школы?</a:t>
            </a:r>
          </a:p>
        </p:txBody>
      </p:sp>
      <p:sp>
        <p:nvSpPr>
          <p:cNvPr id="13" name="">
            <a:extLst xmlns:a="http://schemas.openxmlformats.org/drawingml/2006/main">
              <a:ext uri="{FF2B5EF4-FFF2-40B4-BE49-F238E27FC236}">
                <a16:creationId xmlns:a16="http://schemas.microsoft.com/office/drawing/2014/main" id="{E1BF01AF-64CD-4CC7-B09D-E0E75F915968}"/>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4534514-7135-4F48-B039-BA1E5819BE78}"/>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5" name="">
            <a:extLst xmlns:a="http://schemas.openxmlformats.org/drawingml/2006/main">
              <a:ext uri="{FF2B5EF4-FFF2-40B4-BE49-F238E27FC236}">
                <a16:creationId xmlns:a16="http://schemas.microsoft.com/office/drawing/2014/main" id="{BAA86A69-31B2-42F6-BE1E-02777F3138FC}"/>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9/36</a:t>
            </a:r>
          </a:p>
        </p:txBody>
      </p:sp>
    </p:spTree>
    <p:extLst>
      <p:ext uri="{BB962C8B-B14F-4D97-AF65-F5344CB8AC3E}">
        <p14:creationId xmlns:p14="http://schemas.microsoft.com/office/powerpoint/2010/main" val="8903077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5A96479-59FE-4C75-A0CB-C972DD1232AE}"/>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3168622C-9B2D-42CE-9D33-7908E7F37E5C}"/>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Опросник как способ использовать экспертизу группы</a:t>
            </a:r>
          </a:p>
        </p:txBody>
      </p:sp>
      <p:sp>
        <p:nvSpPr>
          <p:cNvPr id="3" name="">
            <a:extLst xmlns:a="http://schemas.openxmlformats.org/drawingml/2006/main">
              <a:ext uri="{FF2B5EF4-FFF2-40B4-BE49-F238E27FC236}">
                <a16:creationId xmlns:a16="http://schemas.microsoft.com/office/drawing/2014/main" id="{A4B5B163-2305-452A-9BB4-7E1C5D2BD85C}"/>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080105C-BA1B-4489-AA6B-3775C7384D6C}"/>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Python, Git, таблицы, командная строка</a:t>
            </a:r>
          </a:p>
        </p:txBody>
      </p:sp>
      <p:sp>
        <p:nvSpPr>
          <p:cNvPr id="5" name="">
            <a:extLst xmlns:a="http://schemas.openxmlformats.org/drawingml/2006/main">
              <a:ext uri="{FF2B5EF4-FFF2-40B4-BE49-F238E27FC236}">
                <a16:creationId xmlns:a16="http://schemas.microsoft.com/office/drawing/2014/main" id="{DD9438CD-82A6-4A68-9C8F-5C3DDA72449D}"/>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F93DDA5-DA59-4E80-A2BB-D879EEF75C2F}"/>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Знание языков и регионов</a:t>
            </a:r>
          </a:p>
        </p:txBody>
      </p:sp>
      <p:sp>
        <p:nvSpPr>
          <p:cNvPr id="7" name="">
            <a:extLst xmlns:a="http://schemas.openxmlformats.org/drawingml/2006/main">
              <a:ext uri="{FF2B5EF4-FFF2-40B4-BE49-F238E27FC236}">
                <a16:creationId xmlns:a16="http://schemas.microsoft.com/office/drawing/2014/main" id="{35260A8B-F092-4521-A5C7-BDB3F8DE5B3B}"/>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CF98E3B-43F6-4855-950A-12E5028CA818}"/>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Лингвистика, перевод, архивы, полевая работа</a:t>
            </a:r>
          </a:p>
        </p:txBody>
      </p:sp>
      <p:sp>
        <p:nvSpPr>
          <p:cNvPr id="9" name="">
            <a:extLst xmlns:a="http://schemas.openxmlformats.org/drawingml/2006/main">
              <a:ext uri="{FF2B5EF4-FFF2-40B4-BE49-F238E27FC236}">
                <a16:creationId xmlns:a16="http://schemas.microsoft.com/office/drawing/2014/main" id="{6F3B0134-D9C2-47BC-88DD-E1F27A610620}"/>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478A03E-7B48-4BF2-9A14-E56EAAC255D8}"/>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Доступ к данным или контактам</a:t>
            </a:r>
          </a:p>
        </p:txBody>
      </p:sp>
      <p:sp>
        <p:nvSpPr>
          <p:cNvPr id="11" name="">
            <a:extLst xmlns:a="http://schemas.openxmlformats.org/drawingml/2006/main">
              <a:ext uri="{FF2B5EF4-FFF2-40B4-BE49-F238E27FC236}">
                <a16:creationId xmlns:a16="http://schemas.microsoft.com/office/drawing/2014/main" id="{16689C04-907E-4F84-86D7-6A5BEBDE2CAD}"/>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C422C98-4DB4-421D-A478-C80F9602A698}"/>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Интересы: OCR, ASR, перевод, корпус, спелчекер, LLM</a:t>
            </a:r>
          </a:p>
        </p:txBody>
      </p:sp>
      <p:sp>
        <p:nvSpPr>
          <p:cNvPr id="13" name="">
            <a:extLst xmlns:a="http://schemas.openxmlformats.org/drawingml/2006/main">
              <a:ext uri="{FF2B5EF4-FFF2-40B4-BE49-F238E27FC236}">
                <a16:creationId xmlns:a16="http://schemas.microsoft.com/office/drawing/2014/main" id="{21BCC9E6-ACF9-4C50-8779-CC5A1D5C1FBF}"/>
              </a:ext>
            </a:extLst>
          </p:cNvPr>
          <p:cNvSpPr>
            <a:spLocks xmlns:a="http://schemas.openxmlformats.org/drawingml/2006/main" noGrp="1"/>
          </p:cNvSpPr>
          <p:nvPr/>
        </p:nvSpPr>
        <p:spPr>
          <a:xfrm xmlns:a="http://schemas.openxmlformats.org/drawingml/2006/main">
            <a:off x="762000" y="46482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0C03198-66F5-4A07-9594-0EDE14320011}"/>
              </a:ext>
            </a:extLst>
          </p:cNvPr>
          <p:cNvSpPr>
            <a:spLocks xmlns:a="http://schemas.openxmlformats.org/drawingml/2006/main" noGrp="1"/>
          </p:cNvSpPr>
          <p:nvPr/>
        </p:nvSpPr>
        <p:spPr>
          <a:xfrm xmlns:a="http://schemas.openxmlformats.org/drawingml/2006/main">
            <a:off x="1047750" y="45720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Ограничения: время, права, чувствительные данные</a:t>
            </a:r>
          </a:p>
        </p:txBody>
      </p:sp>
      <p:sp>
        <p:nvSpPr>
          <p:cNvPr id="15" name="">
            <a:extLst xmlns:a="http://schemas.openxmlformats.org/drawingml/2006/main">
              <a:ext uri="{FF2B5EF4-FFF2-40B4-BE49-F238E27FC236}">
                <a16:creationId xmlns:a16="http://schemas.microsoft.com/office/drawing/2014/main" id="{ECA0EB78-59D4-45A1-9E69-DB72D666B21D}"/>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C6AFB90-B953-414A-90D4-FE6E1B78CC69}"/>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7" name="">
            <a:extLst xmlns:a="http://schemas.openxmlformats.org/drawingml/2006/main">
              <a:ext uri="{FF2B5EF4-FFF2-40B4-BE49-F238E27FC236}">
                <a16:creationId xmlns:a16="http://schemas.microsoft.com/office/drawing/2014/main" id="{B8B11565-A2B7-4EF2-8523-B1B23A5FF06B}"/>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10/36</a:t>
            </a:r>
          </a:p>
        </p:txBody>
      </p:sp>
    </p:spTree>
    <p:extLst>
      <p:ext uri="{BB962C8B-B14F-4D97-AF65-F5344CB8AC3E}">
        <p14:creationId xmlns:p14="http://schemas.microsoft.com/office/powerpoint/2010/main" val="2014420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EF6478F-9259-4472-AECB-52263796AAE9}"/>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AE4B45F5-B297-4AF3-B46A-5321D972D9F2}"/>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VibeCoding: базовый принцип</a:t>
            </a:r>
          </a:p>
        </p:txBody>
      </p:sp>
      <p:sp>
        <p:nvSpPr>
          <p:cNvPr id="3" name="">
            <a:extLst xmlns:a="http://schemas.openxmlformats.org/drawingml/2006/main">
              <a:ext uri="{FF2B5EF4-FFF2-40B4-BE49-F238E27FC236}">
                <a16:creationId xmlns:a16="http://schemas.microsoft.com/office/drawing/2014/main" id="{2E8E0E44-9B3C-4443-9E76-AE09F126A055}"/>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92467A8-5A43-41E7-8100-EDA4743CF89E}"/>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Не "напиши мне все"</a:t>
            </a:r>
          </a:p>
        </p:txBody>
      </p:sp>
      <p:sp>
        <p:nvSpPr>
          <p:cNvPr id="5" name="">
            <a:extLst xmlns:a="http://schemas.openxmlformats.org/drawingml/2006/main">
              <a:ext uri="{FF2B5EF4-FFF2-40B4-BE49-F238E27FC236}">
                <a16:creationId xmlns:a16="http://schemas.microsoft.com/office/drawing/2014/main" id="{B901BB34-4034-4FCF-A659-DCF0D76A1C9B}"/>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4454C6E-A600-4C20-B9E7-EC87774CC7A8}"/>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А "помоги разложить задачу"</a:t>
            </a:r>
          </a:p>
        </p:txBody>
      </p:sp>
      <p:sp>
        <p:nvSpPr>
          <p:cNvPr id="7" name="">
            <a:extLst xmlns:a="http://schemas.openxmlformats.org/drawingml/2006/main">
              <a:ext uri="{FF2B5EF4-FFF2-40B4-BE49-F238E27FC236}">
                <a16:creationId xmlns:a16="http://schemas.microsoft.com/office/drawing/2014/main" id="{EF2307BB-06E6-4958-9C9A-F14088BA4DAC}"/>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8DC9B17-1330-4C29-BEDB-F8D488E53068}"/>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Сначала цель и ограничения</a:t>
            </a:r>
          </a:p>
        </p:txBody>
      </p:sp>
      <p:sp>
        <p:nvSpPr>
          <p:cNvPr id="9" name="">
            <a:extLst xmlns:a="http://schemas.openxmlformats.org/drawingml/2006/main">
              <a:ext uri="{FF2B5EF4-FFF2-40B4-BE49-F238E27FC236}">
                <a16:creationId xmlns:a16="http://schemas.microsoft.com/office/drawing/2014/main" id="{C8D3FFAD-513E-44A3-9862-921B9D2F2975}"/>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32726B6-94F4-424D-8F26-F65BDB2ED9AE}"/>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Потом план</a:t>
            </a:r>
          </a:p>
        </p:txBody>
      </p:sp>
      <p:sp>
        <p:nvSpPr>
          <p:cNvPr id="11" name="">
            <a:extLst xmlns:a="http://schemas.openxmlformats.org/drawingml/2006/main">
              <a:ext uri="{FF2B5EF4-FFF2-40B4-BE49-F238E27FC236}">
                <a16:creationId xmlns:a16="http://schemas.microsoft.com/office/drawing/2014/main" id="{A43ED816-3732-4D2F-A7D0-8B9179EEF4A8}"/>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B6885B5-BBC7-45C3-85A7-8F387D24F1FF}"/>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Потом маленький проверяемый шаг</a:t>
            </a:r>
          </a:p>
        </p:txBody>
      </p:sp>
      <p:sp>
        <p:nvSpPr>
          <p:cNvPr id="13" name="">
            <a:extLst xmlns:a="http://schemas.openxmlformats.org/drawingml/2006/main">
              <a:ext uri="{FF2B5EF4-FFF2-40B4-BE49-F238E27FC236}">
                <a16:creationId xmlns:a16="http://schemas.microsoft.com/office/drawing/2014/main" id="{6D97CDDE-E3B9-47C9-9402-40C4212678F6}"/>
              </a:ext>
            </a:extLst>
          </p:cNvPr>
          <p:cNvSpPr>
            <a:spLocks xmlns:a="http://schemas.openxmlformats.org/drawingml/2006/main" noGrp="1"/>
          </p:cNvSpPr>
          <p:nvPr/>
        </p:nvSpPr>
        <p:spPr>
          <a:xfrm xmlns:a="http://schemas.openxmlformats.org/drawingml/2006/main">
            <a:off x="762000" y="46482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4C86994-C3D8-46A8-A831-8B78AF86FBC3}"/>
              </a:ext>
            </a:extLst>
          </p:cNvPr>
          <p:cNvSpPr>
            <a:spLocks xmlns:a="http://schemas.openxmlformats.org/drawingml/2006/main" noGrp="1"/>
          </p:cNvSpPr>
          <p:nvPr/>
        </p:nvSpPr>
        <p:spPr>
          <a:xfrm xmlns:a="http://schemas.openxmlformats.org/drawingml/2006/main">
            <a:off x="1047750" y="45720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Потом критика результата</a:t>
            </a:r>
          </a:p>
        </p:txBody>
      </p:sp>
      <p:sp>
        <p:nvSpPr>
          <p:cNvPr id="15" name="">
            <a:extLst xmlns:a="http://schemas.openxmlformats.org/drawingml/2006/main">
              <a:ext uri="{FF2B5EF4-FFF2-40B4-BE49-F238E27FC236}">
                <a16:creationId xmlns:a16="http://schemas.microsoft.com/office/drawing/2014/main" id="{4A0FA90B-D28F-41C1-BF2C-E47988068DCA}"/>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A429135-3E0F-4E48-B4C9-7967DB166439}"/>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7" name="">
            <a:extLst xmlns:a="http://schemas.openxmlformats.org/drawingml/2006/main">
              <a:ext uri="{FF2B5EF4-FFF2-40B4-BE49-F238E27FC236}">
                <a16:creationId xmlns:a16="http://schemas.microsoft.com/office/drawing/2014/main" id="{1180625C-6A58-4DFC-B118-C716EBF2656E}"/>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11/36</a:t>
            </a:r>
          </a:p>
        </p:txBody>
      </p:sp>
    </p:spTree>
    <p:extLst>
      <p:ext uri="{BB962C8B-B14F-4D97-AF65-F5344CB8AC3E}">
        <p14:creationId xmlns:p14="http://schemas.microsoft.com/office/powerpoint/2010/main" val="20017755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37F5FBC-39CB-4783-BEEF-0B79B88ABD54}"/>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DEF27797-7577-4B40-9FC1-9D2FFED6C5D8}"/>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Как брейнштормить проект с LLM</a:t>
            </a:r>
          </a:p>
        </p:txBody>
      </p:sp>
      <p:sp>
        <p:nvSpPr>
          <p:cNvPr id="3" name="">
            <a:extLst xmlns:a="http://schemas.openxmlformats.org/drawingml/2006/main">
              <a:ext uri="{FF2B5EF4-FFF2-40B4-BE49-F238E27FC236}">
                <a16:creationId xmlns:a16="http://schemas.microsoft.com/office/drawing/2014/main" id="{4739337D-95FE-4D1F-BD6C-B25BE7364FCC}"/>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181A27D-9747-40D1-8E57-6998E10F8E10}"/>
              </a:ext>
            </a:extLst>
          </p:cNvPr>
          <p:cNvSpPr>
            <a:spLocks xmlns:a="http://schemas.openxmlformats.org/drawingml/2006/main" noGrp="1"/>
          </p:cNvSpPr>
          <p:nvPr/>
        </p:nvSpPr>
        <p:spPr>
          <a:xfrm xmlns:a="http://schemas.openxmlformats.org/drawingml/2006/main">
            <a:off x="1047750" y="18097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Хороший промпт содержит:</a:t>
            </a:r>
          </a:p>
        </p:txBody>
      </p:sp>
      <p:sp>
        <p:nvSpPr>
          <p:cNvPr id="5" name="">
            <a:extLst xmlns:a="http://schemas.openxmlformats.org/drawingml/2006/main">
              <a:ext uri="{FF2B5EF4-FFF2-40B4-BE49-F238E27FC236}">
                <a16:creationId xmlns:a16="http://schemas.microsoft.com/office/drawing/2014/main" id="{89C2E050-4D76-4614-AD8C-64473F0CC85B}"/>
              </a:ext>
            </a:extLst>
          </p:cNvPr>
          <p:cNvSpPr>
            <a:spLocks xmlns:a="http://schemas.openxmlformats.org/drawingml/2006/main" noGrp="1"/>
          </p:cNvSpPr>
          <p:nvPr/>
        </p:nvSpPr>
        <p:spPr>
          <a:xfrm xmlns:a="http://schemas.openxmlformats.org/drawingml/2006/main">
            <a:off x="762000" y="23431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5857E3F-9E51-4880-8698-ACE2E2770A9A}"/>
              </a:ext>
            </a:extLst>
          </p:cNvPr>
          <p:cNvSpPr>
            <a:spLocks xmlns:a="http://schemas.openxmlformats.org/drawingml/2006/main" noGrp="1"/>
          </p:cNvSpPr>
          <p:nvPr/>
        </p:nvSpPr>
        <p:spPr>
          <a:xfrm xmlns:a="http://schemas.openxmlformats.org/drawingml/2006/main">
            <a:off x="1047750" y="22669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язык и регион;</a:t>
            </a:r>
          </a:p>
        </p:txBody>
      </p:sp>
      <p:sp>
        <p:nvSpPr>
          <p:cNvPr id="7" name="">
            <a:extLst xmlns:a="http://schemas.openxmlformats.org/drawingml/2006/main">
              <a:ext uri="{FF2B5EF4-FFF2-40B4-BE49-F238E27FC236}">
                <a16:creationId xmlns:a16="http://schemas.microsoft.com/office/drawing/2014/main" id="{558D6403-7B26-4075-9F9F-18A7ACDA11A0}"/>
              </a:ext>
            </a:extLst>
          </p:cNvPr>
          <p:cNvSpPr>
            <a:spLocks xmlns:a="http://schemas.openxmlformats.org/drawingml/2006/main" noGrp="1"/>
          </p:cNvSpPr>
          <p:nvPr/>
        </p:nvSpPr>
        <p:spPr>
          <a:xfrm xmlns:a="http://schemas.openxmlformats.org/drawingml/2006/main">
            <a:off x="762000" y="28003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E4E7CCA-382C-49C7-B7EE-AB3F5807C38E}"/>
              </a:ext>
            </a:extLst>
          </p:cNvPr>
          <p:cNvSpPr>
            <a:spLocks xmlns:a="http://schemas.openxmlformats.org/drawingml/2006/main" noGrp="1"/>
          </p:cNvSpPr>
          <p:nvPr/>
        </p:nvSpPr>
        <p:spPr>
          <a:xfrm xmlns:a="http://schemas.openxmlformats.org/drawingml/2006/main">
            <a:off x="1047750" y="27241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типы доступных данных;</a:t>
            </a:r>
          </a:p>
        </p:txBody>
      </p:sp>
      <p:sp>
        <p:nvSpPr>
          <p:cNvPr id="9" name="">
            <a:extLst xmlns:a="http://schemas.openxmlformats.org/drawingml/2006/main">
              <a:ext uri="{FF2B5EF4-FFF2-40B4-BE49-F238E27FC236}">
                <a16:creationId xmlns:a16="http://schemas.microsoft.com/office/drawing/2014/main" id="{7BC5E62C-77D1-45B8-B482-2A9A34E5EBD3}"/>
              </a:ext>
            </a:extLst>
          </p:cNvPr>
          <p:cNvSpPr>
            <a:spLocks xmlns:a="http://schemas.openxmlformats.org/drawingml/2006/main" noGrp="1"/>
          </p:cNvSpPr>
          <p:nvPr/>
        </p:nvSpPr>
        <p:spPr>
          <a:xfrm xmlns:a="http://schemas.openxmlformats.org/drawingml/2006/main">
            <a:off x="762000" y="32575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2268A8F-F5FA-4160-AE17-F1E78254CDED}"/>
              </a:ext>
            </a:extLst>
          </p:cNvPr>
          <p:cNvSpPr>
            <a:spLocks xmlns:a="http://schemas.openxmlformats.org/drawingml/2006/main" noGrp="1"/>
          </p:cNvSpPr>
          <p:nvPr/>
        </p:nvSpPr>
        <p:spPr>
          <a:xfrm xmlns:a="http://schemas.openxmlformats.org/drawingml/2006/main">
            <a:off x="1047750" y="31813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желаемый артефакт;</a:t>
            </a:r>
          </a:p>
        </p:txBody>
      </p:sp>
      <p:sp>
        <p:nvSpPr>
          <p:cNvPr id="11" name="">
            <a:extLst xmlns:a="http://schemas.openxmlformats.org/drawingml/2006/main">
              <a:ext uri="{FF2B5EF4-FFF2-40B4-BE49-F238E27FC236}">
                <a16:creationId xmlns:a16="http://schemas.microsoft.com/office/drawing/2014/main" id="{A05DB3F9-BF3F-43B0-BD58-CC95C17D0B04}"/>
              </a:ext>
            </a:extLst>
          </p:cNvPr>
          <p:cNvSpPr>
            <a:spLocks xmlns:a="http://schemas.openxmlformats.org/drawingml/2006/main" noGrp="1"/>
          </p:cNvSpPr>
          <p:nvPr/>
        </p:nvSpPr>
        <p:spPr>
          <a:xfrm xmlns:a="http://schemas.openxmlformats.org/drawingml/2006/main">
            <a:off x="762000" y="3714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CFC1B55-F17C-4FC4-A3CE-F7259F7D4233}"/>
              </a:ext>
            </a:extLst>
          </p:cNvPr>
          <p:cNvSpPr>
            <a:spLocks xmlns:a="http://schemas.openxmlformats.org/drawingml/2006/main" noGrp="1"/>
          </p:cNvSpPr>
          <p:nvPr/>
        </p:nvSpPr>
        <p:spPr>
          <a:xfrm xmlns:a="http://schemas.openxmlformats.org/drawingml/2006/main">
            <a:off x="1047750" y="36385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уровень команды;</a:t>
            </a:r>
          </a:p>
        </p:txBody>
      </p:sp>
      <p:sp>
        <p:nvSpPr>
          <p:cNvPr id="13" name="">
            <a:extLst xmlns:a="http://schemas.openxmlformats.org/drawingml/2006/main">
              <a:ext uri="{FF2B5EF4-FFF2-40B4-BE49-F238E27FC236}">
                <a16:creationId xmlns:a16="http://schemas.microsoft.com/office/drawing/2014/main" id="{9B6CD7B3-A96A-4097-92E3-94D2E816DA9A}"/>
              </a:ext>
            </a:extLst>
          </p:cNvPr>
          <p:cNvSpPr>
            <a:spLocks xmlns:a="http://schemas.openxmlformats.org/drawingml/2006/main" noGrp="1"/>
          </p:cNvSpPr>
          <p:nvPr/>
        </p:nvSpPr>
        <p:spPr>
          <a:xfrm xmlns:a="http://schemas.openxmlformats.org/drawingml/2006/main">
            <a:off x="762000" y="41719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7605CC9-B86E-463F-A933-F53A562FC410}"/>
              </a:ext>
            </a:extLst>
          </p:cNvPr>
          <p:cNvSpPr>
            <a:spLocks xmlns:a="http://schemas.openxmlformats.org/drawingml/2006/main" noGrp="1"/>
          </p:cNvSpPr>
          <p:nvPr/>
        </p:nvSpPr>
        <p:spPr>
          <a:xfrm xmlns:a="http://schemas.openxmlformats.org/drawingml/2006/main">
            <a:off x="1047750" y="40957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ограничения по правам и времени;</a:t>
            </a:r>
          </a:p>
        </p:txBody>
      </p:sp>
      <p:sp>
        <p:nvSpPr>
          <p:cNvPr id="15" name="">
            <a:extLst xmlns:a="http://schemas.openxmlformats.org/drawingml/2006/main">
              <a:ext uri="{FF2B5EF4-FFF2-40B4-BE49-F238E27FC236}">
                <a16:creationId xmlns:a16="http://schemas.microsoft.com/office/drawing/2014/main" id="{26B522EE-54CD-4C6E-9D23-9D072CE30350}"/>
              </a:ext>
            </a:extLst>
          </p:cNvPr>
          <p:cNvSpPr>
            <a:spLocks xmlns:a="http://schemas.openxmlformats.org/drawingml/2006/main" noGrp="1"/>
          </p:cNvSpPr>
          <p:nvPr/>
        </p:nvSpPr>
        <p:spPr>
          <a:xfrm xmlns:a="http://schemas.openxmlformats.org/drawingml/2006/main">
            <a:off x="762000" y="46291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7946D1B-D149-4A8E-818E-5B33A16B5EE6}"/>
              </a:ext>
            </a:extLst>
          </p:cNvPr>
          <p:cNvSpPr>
            <a:spLocks xmlns:a="http://schemas.openxmlformats.org/drawingml/2006/main" noGrp="1"/>
          </p:cNvSpPr>
          <p:nvPr/>
        </p:nvSpPr>
        <p:spPr>
          <a:xfrm xmlns:a="http://schemas.openxmlformats.org/drawingml/2006/main">
            <a:off x="1047750" y="45529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просьбу не выдумывать источники.</a:t>
            </a:r>
          </a:p>
        </p:txBody>
      </p:sp>
      <p:sp>
        <p:nvSpPr>
          <p:cNvPr id="17" name="">
            <a:extLst xmlns:a="http://schemas.openxmlformats.org/drawingml/2006/main">
              <a:ext uri="{FF2B5EF4-FFF2-40B4-BE49-F238E27FC236}">
                <a16:creationId xmlns:a16="http://schemas.microsoft.com/office/drawing/2014/main" id="{091EF7A4-822E-46A9-B811-E353FED57A45}"/>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DDD6C9D-026B-4138-A72C-4C304AD9DF6A}"/>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9" name="">
            <a:extLst xmlns:a="http://schemas.openxmlformats.org/drawingml/2006/main">
              <a:ext uri="{FF2B5EF4-FFF2-40B4-BE49-F238E27FC236}">
                <a16:creationId xmlns:a16="http://schemas.microsoft.com/office/drawing/2014/main" id="{E469E509-3C2F-4F9D-B4A3-048415C2868B}"/>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12/36</a:t>
            </a:r>
          </a:p>
        </p:txBody>
      </p:sp>
    </p:spTree>
    <p:extLst>
      <p:ext uri="{BB962C8B-B14F-4D97-AF65-F5344CB8AC3E}">
        <p14:creationId xmlns:p14="http://schemas.microsoft.com/office/powerpoint/2010/main" val="286033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2A7C0E5-276C-418E-B4A5-E1C521A12177}"/>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4B24C798-1F05-4CB2-8C11-7437AEA64F0D}"/>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Бесплатные и доступные LLM для старта</a:t>
            </a:r>
          </a:p>
        </p:txBody>
      </p:sp>
      <p:sp>
        <p:nvSpPr>
          <p:cNvPr id="3" name="">
            <a:extLst xmlns:a="http://schemas.openxmlformats.org/drawingml/2006/main">
              <a:ext uri="{FF2B5EF4-FFF2-40B4-BE49-F238E27FC236}">
                <a16:creationId xmlns:a16="http://schemas.microsoft.com/office/drawing/2014/main" id="{FE64552C-E488-47BC-B9A5-4B1131DC4FF3}"/>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7793C51-84B4-477B-A51D-8EBB2B59914C}"/>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ChatGPT Free: общий брейншторм, тексты, таблицы, базовый код</a:t>
            </a:r>
          </a:p>
        </p:txBody>
      </p:sp>
      <p:sp>
        <p:nvSpPr>
          <p:cNvPr id="5" name="">
            <a:extLst xmlns:a="http://schemas.openxmlformats.org/drawingml/2006/main">
              <a:ext uri="{FF2B5EF4-FFF2-40B4-BE49-F238E27FC236}">
                <a16:creationId xmlns:a16="http://schemas.microsoft.com/office/drawing/2014/main" id="{90358813-9360-4197-A251-DA476718EBD6}"/>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3A5ED34-A125-4A9D-B93B-5F230ABD126D}"/>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Google Gemini: мультимодальные задачи, работа с документами и общая аналитика</a:t>
            </a:r>
          </a:p>
        </p:txBody>
      </p:sp>
      <p:sp>
        <p:nvSpPr>
          <p:cNvPr id="7" name="">
            <a:extLst xmlns:a="http://schemas.openxmlformats.org/drawingml/2006/main">
              <a:ext uri="{FF2B5EF4-FFF2-40B4-BE49-F238E27FC236}">
                <a16:creationId xmlns:a16="http://schemas.microsoft.com/office/drawing/2014/main" id="{FA0DC1F9-D7DA-4C4C-9D13-FA1EB7F7AC30}"/>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C3BED1D-3799-407F-9C12-B7CB7F3F3B4F}"/>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Claude Free: длинные тексты, редактирование, структурирование, документы</a:t>
            </a:r>
          </a:p>
        </p:txBody>
      </p:sp>
      <p:sp>
        <p:nvSpPr>
          <p:cNvPr id="9" name="">
            <a:extLst xmlns:a="http://schemas.openxmlformats.org/drawingml/2006/main">
              <a:ext uri="{FF2B5EF4-FFF2-40B4-BE49-F238E27FC236}">
                <a16:creationId xmlns:a16="http://schemas.microsoft.com/office/drawing/2014/main" id="{FE15EB33-C27D-436F-AEC2-8FC7AB4E528A}"/>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3CB2977-C78A-439E-A53B-6640E57059C0}"/>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Microsoft Copilot: быстрый помощник в браузере и офисных сценариях</a:t>
            </a:r>
          </a:p>
        </p:txBody>
      </p:sp>
      <p:sp>
        <p:nvSpPr>
          <p:cNvPr id="11" name="">
            <a:extLst xmlns:a="http://schemas.openxmlformats.org/drawingml/2006/main">
              <a:ext uri="{FF2B5EF4-FFF2-40B4-BE49-F238E27FC236}">
                <a16:creationId xmlns:a16="http://schemas.microsoft.com/office/drawing/2014/main" id="{C29DF4A5-028F-4D16-8BB2-2E25AE817803}"/>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BD650A8-85FA-4886-B05F-F8FD457A41D2}"/>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Perplexity: поиск с источниками и первичная разведка</a:t>
            </a:r>
          </a:p>
        </p:txBody>
      </p:sp>
      <p:sp>
        <p:nvSpPr>
          <p:cNvPr id="13" name="">
            <a:extLst xmlns:a="http://schemas.openxmlformats.org/drawingml/2006/main">
              <a:ext uri="{FF2B5EF4-FFF2-40B4-BE49-F238E27FC236}">
                <a16:creationId xmlns:a16="http://schemas.microsoft.com/office/drawing/2014/main" id="{32EBFCBE-2BF4-4E92-A0DE-0A0C52655C70}"/>
              </a:ext>
            </a:extLst>
          </p:cNvPr>
          <p:cNvSpPr>
            <a:spLocks xmlns:a="http://schemas.openxmlformats.org/drawingml/2006/main" noGrp="1"/>
          </p:cNvSpPr>
          <p:nvPr/>
        </p:nvSpPr>
        <p:spPr>
          <a:xfrm xmlns:a="http://schemas.openxmlformats.org/drawingml/2006/main">
            <a:off x="762000" y="46482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630C039-B4FB-4AFF-9980-E43E91214B93}"/>
              </a:ext>
            </a:extLst>
          </p:cNvPr>
          <p:cNvSpPr>
            <a:spLocks xmlns:a="http://schemas.openxmlformats.org/drawingml/2006/main" noGrp="1"/>
          </p:cNvSpPr>
          <p:nvPr/>
        </p:nvSpPr>
        <p:spPr>
          <a:xfrm xmlns:a="http://schemas.openxmlformats.org/drawingml/2006/main">
            <a:off x="1047750" y="45720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Локальные модели: Ollama / LM Studio, если важна приватность</a:t>
            </a:r>
          </a:p>
        </p:txBody>
      </p:sp>
      <p:sp>
        <p:nvSpPr>
          <p:cNvPr id="15" name="">
            <a:extLst xmlns:a="http://schemas.openxmlformats.org/drawingml/2006/main">
              <a:ext uri="{FF2B5EF4-FFF2-40B4-BE49-F238E27FC236}">
                <a16:creationId xmlns:a16="http://schemas.microsoft.com/office/drawing/2014/main" id="{EA82B6D9-195A-4554-A6BB-A9D3EBCD0A01}"/>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2813576-F64B-4132-A4FF-DDD95A658A82}"/>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7" name="">
            <a:extLst xmlns:a="http://schemas.openxmlformats.org/drawingml/2006/main">
              <a:ext uri="{FF2B5EF4-FFF2-40B4-BE49-F238E27FC236}">
                <a16:creationId xmlns:a16="http://schemas.microsoft.com/office/drawing/2014/main" id="{88F59158-96F1-49F1-B76B-E979CBD46ED5}"/>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13/36</a:t>
            </a:r>
          </a:p>
        </p:txBody>
      </p:sp>
    </p:spTree>
    <p:extLst>
      <p:ext uri="{BB962C8B-B14F-4D97-AF65-F5344CB8AC3E}">
        <p14:creationId xmlns:p14="http://schemas.microsoft.com/office/powerpoint/2010/main" val="70060383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BD7E9E4-D877-4EAE-A1FF-7D035A7293FA}"/>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38A7DDEE-BDC1-4CB2-84D6-63EC129DCA49}"/>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Топовые альтернативы и когда они нужны</a:t>
            </a:r>
          </a:p>
        </p:txBody>
      </p:sp>
      <p:sp>
        <p:nvSpPr>
          <p:cNvPr id="3" name="">
            <a:extLst xmlns:a="http://schemas.openxmlformats.org/drawingml/2006/main">
              <a:ext uri="{FF2B5EF4-FFF2-40B4-BE49-F238E27FC236}">
                <a16:creationId xmlns:a16="http://schemas.microsoft.com/office/drawing/2014/main" id="{985246A9-968A-4B38-ACA3-8CC44E8D9119}"/>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54F6292-593D-4823-8AAC-59D28FFA814D}"/>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ChatGPT Plus/Pro/Team/Edu: сильные модели, файлы, мультимодальность, проекты</a:t>
            </a:r>
          </a:p>
        </p:txBody>
      </p:sp>
      <p:sp>
        <p:nvSpPr>
          <p:cNvPr id="5" name="">
            <a:extLst xmlns:a="http://schemas.openxmlformats.org/drawingml/2006/main">
              <a:ext uri="{FF2B5EF4-FFF2-40B4-BE49-F238E27FC236}">
                <a16:creationId xmlns:a16="http://schemas.microsoft.com/office/drawing/2014/main" id="{ADAEC6CB-E324-4D30-B235-62FF6A55A3E0}"/>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6CF7D65-CB9C-4D18-A82C-14B1E1835E83}"/>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Claude Pro/Team: длинный контекст, редактура, анализ документов</a:t>
            </a:r>
          </a:p>
        </p:txBody>
      </p:sp>
      <p:sp>
        <p:nvSpPr>
          <p:cNvPr id="7" name="">
            <a:extLst xmlns:a="http://schemas.openxmlformats.org/drawingml/2006/main">
              <a:ext uri="{FF2B5EF4-FFF2-40B4-BE49-F238E27FC236}">
                <a16:creationId xmlns:a16="http://schemas.microsoft.com/office/drawing/2014/main" id="{02A64F4D-AD7B-40FB-84C4-35A34A2056FA}"/>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5043F29-8B86-40D9-97DB-BB554D4BE1CF}"/>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Gemini Advanced / Google AI Pro: интеграция с Google-экосистемой</a:t>
            </a:r>
          </a:p>
        </p:txBody>
      </p:sp>
      <p:sp>
        <p:nvSpPr>
          <p:cNvPr id="9" name="">
            <a:extLst xmlns:a="http://schemas.openxmlformats.org/drawingml/2006/main">
              <a:ext uri="{FF2B5EF4-FFF2-40B4-BE49-F238E27FC236}">
                <a16:creationId xmlns:a16="http://schemas.microsoft.com/office/drawing/2014/main" id="{290F3482-1448-4C6B-99F3-DAFFEB06AD4B}"/>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734AB38-263E-439B-830B-9392D0BAF612}"/>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Perplexity Pro: исследовательский поиск и источники</a:t>
            </a:r>
          </a:p>
        </p:txBody>
      </p:sp>
      <p:sp>
        <p:nvSpPr>
          <p:cNvPr id="11" name="">
            <a:extLst xmlns:a="http://schemas.openxmlformats.org/drawingml/2006/main">
              <a:ext uri="{FF2B5EF4-FFF2-40B4-BE49-F238E27FC236}">
                <a16:creationId xmlns:a16="http://schemas.microsoft.com/office/drawing/2014/main" id="{07B38DEB-7B84-41F1-84E9-B30BAA9C1287}"/>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E7EC6EC-B99C-410F-B57C-A6EAB93787D5}"/>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Codex: агентная работа с файлами, кодом, пайплайнами, тестами и документацией</a:t>
            </a:r>
          </a:p>
        </p:txBody>
      </p:sp>
      <p:sp>
        <p:nvSpPr>
          <p:cNvPr id="13" name="">
            <a:extLst xmlns:a="http://schemas.openxmlformats.org/drawingml/2006/main">
              <a:ext uri="{FF2B5EF4-FFF2-40B4-BE49-F238E27FC236}">
                <a16:creationId xmlns:a16="http://schemas.microsoft.com/office/drawing/2014/main" id="{F6AF5E7C-EAFE-4B51-B03D-69A0FD842B55}"/>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26E13CF-4976-44F3-85D5-3418365EA03D}"/>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5" name="">
            <a:extLst xmlns:a="http://schemas.openxmlformats.org/drawingml/2006/main">
              <a:ext uri="{FF2B5EF4-FFF2-40B4-BE49-F238E27FC236}">
                <a16:creationId xmlns:a16="http://schemas.microsoft.com/office/drawing/2014/main" id="{18C151FD-3009-45BD-B664-728189997F0B}"/>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14/36</a:t>
            </a:r>
          </a:p>
        </p:txBody>
      </p:sp>
    </p:spTree>
    <p:extLst>
      <p:ext uri="{BB962C8B-B14F-4D97-AF65-F5344CB8AC3E}">
        <p14:creationId xmlns:p14="http://schemas.microsoft.com/office/powerpoint/2010/main" val="6353856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3DF831B-ECE9-4C84-B8B2-6F296A81DF6F}"/>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66C4EFCB-E2B1-452B-AD99-FBC0DA29D915}"/>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Как использовать Codex в этом курсе</a:t>
            </a:r>
          </a:p>
        </p:txBody>
      </p:sp>
      <p:sp>
        <p:nvSpPr>
          <p:cNvPr id="3" name="">
            <a:extLst xmlns:a="http://schemas.openxmlformats.org/drawingml/2006/main">
              <a:ext uri="{FF2B5EF4-FFF2-40B4-BE49-F238E27FC236}">
                <a16:creationId xmlns:a16="http://schemas.microsoft.com/office/drawing/2014/main" id="{8CCE6134-A62E-4B78-A207-D014AB334EFA}"/>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299D874-F68E-48D2-8C44-754441E18432}"/>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Дать агенту папку проекта</a:t>
            </a:r>
          </a:p>
        </p:txBody>
      </p:sp>
      <p:sp>
        <p:nvSpPr>
          <p:cNvPr id="5" name="">
            <a:extLst xmlns:a="http://schemas.openxmlformats.org/drawingml/2006/main">
              <a:ext uri="{FF2B5EF4-FFF2-40B4-BE49-F238E27FC236}">
                <a16:creationId xmlns:a16="http://schemas.microsoft.com/office/drawing/2014/main" id="{7AADD628-FBF2-46A2-AC7E-678BD5EFDDD5}"/>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5F381B2-5807-47C2-9F04-94DA1F833F6A}"/>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Попросить найти данные и структуру файлов</a:t>
            </a:r>
          </a:p>
        </p:txBody>
      </p:sp>
      <p:sp>
        <p:nvSpPr>
          <p:cNvPr id="7" name="">
            <a:extLst xmlns:a="http://schemas.openxmlformats.org/drawingml/2006/main">
              <a:ext uri="{FF2B5EF4-FFF2-40B4-BE49-F238E27FC236}">
                <a16:creationId xmlns:a16="http://schemas.microsoft.com/office/drawing/2014/main" id="{EE9B9C6B-DD86-40BC-84C1-7BF650B68250}"/>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CE26B28-8D62-47CB-ACF7-A71C83C5C1D7}"/>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Попросить создать скрипт очистки или отчет</a:t>
            </a:r>
          </a:p>
        </p:txBody>
      </p:sp>
      <p:sp>
        <p:nvSpPr>
          <p:cNvPr id="9" name="">
            <a:extLst xmlns:a="http://schemas.openxmlformats.org/drawingml/2006/main">
              <a:ext uri="{FF2B5EF4-FFF2-40B4-BE49-F238E27FC236}">
                <a16:creationId xmlns:a16="http://schemas.microsoft.com/office/drawing/2014/main" id="{58877518-03EC-466C-9199-ABE6C30DFA17}"/>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D7BA994-4D26-49B6-814B-8622E2283272}"/>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Попросить проверить README, data card, model card</a:t>
            </a:r>
          </a:p>
        </p:txBody>
      </p:sp>
      <p:sp>
        <p:nvSpPr>
          <p:cNvPr id="11" name="">
            <a:extLst xmlns:a="http://schemas.openxmlformats.org/drawingml/2006/main">
              <a:ext uri="{FF2B5EF4-FFF2-40B4-BE49-F238E27FC236}">
                <a16:creationId xmlns:a16="http://schemas.microsoft.com/office/drawing/2014/main" id="{DFF1A830-03C9-432E-AEC4-35671615F112}"/>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F4F11BE-4E29-4ACA-8B35-0D402B41BEBB}"/>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Запускать несколько агентов на независимые задачи</a:t>
            </a:r>
          </a:p>
        </p:txBody>
      </p:sp>
      <p:sp>
        <p:nvSpPr>
          <p:cNvPr id="13" name="">
            <a:extLst xmlns:a="http://schemas.openxmlformats.org/drawingml/2006/main">
              <a:ext uri="{FF2B5EF4-FFF2-40B4-BE49-F238E27FC236}">
                <a16:creationId xmlns:a16="http://schemas.microsoft.com/office/drawing/2014/main" id="{F4D9F8CE-FD49-43CC-933B-9B2FE959F3FE}"/>
              </a:ext>
            </a:extLst>
          </p:cNvPr>
          <p:cNvSpPr>
            <a:spLocks xmlns:a="http://schemas.openxmlformats.org/drawingml/2006/main" noGrp="1"/>
          </p:cNvSpPr>
          <p:nvPr/>
        </p:nvSpPr>
        <p:spPr>
          <a:xfrm xmlns:a="http://schemas.openxmlformats.org/drawingml/2006/main">
            <a:off x="762000" y="46482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054F499-9BCE-4F20-8972-0B8FBC8EA81E}"/>
              </a:ext>
            </a:extLst>
          </p:cNvPr>
          <p:cNvSpPr>
            <a:spLocks xmlns:a="http://schemas.openxmlformats.org/drawingml/2006/main" noGrp="1"/>
          </p:cNvSpPr>
          <p:nvPr/>
        </p:nvSpPr>
        <p:spPr>
          <a:xfrm xmlns:a="http://schemas.openxmlformats.org/drawingml/2006/main">
            <a:off x="1047750" y="45720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Использовать Skills для повторяемых рабочих процессов</a:t>
            </a:r>
          </a:p>
        </p:txBody>
      </p:sp>
      <p:sp>
        <p:nvSpPr>
          <p:cNvPr id="15" name="">
            <a:extLst xmlns:a="http://schemas.openxmlformats.org/drawingml/2006/main">
              <a:ext uri="{FF2B5EF4-FFF2-40B4-BE49-F238E27FC236}">
                <a16:creationId xmlns:a16="http://schemas.microsoft.com/office/drawing/2014/main" id="{CB9D8570-F878-4438-A9D9-8D2D3509D54A}"/>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7126E06-876A-45E5-A7BC-1480650B89EF}"/>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7" name="">
            <a:extLst xmlns:a="http://schemas.openxmlformats.org/drawingml/2006/main">
              <a:ext uri="{FF2B5EF4-FFF2-40B4-BE49-F238E27FC236}">
                <a16:creationId xmlns:a16="http://schemas.microsoft.com/office/drawing/2014/main" id="{F33CA546-08BA-4F4E-AD17-82DCC1E91020}"/>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15/36</a:t>
            </a:r>
          </a:p>
        </p:txBody>
      </p:sp>
    </p:spTree>
    <p:extLst>
      <p:ext uri="{BB962C8B-B14F-4D97-AF65-F5344CB8AC3E}">
        <p14:creationId xmlns:p14="http://schemas.microsoft.com/office/powerpoint/2010/main" val="35715102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666939E-2673-4C7D-8BF3-518AB6288E73}"/>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AD9B9AAB-D236-4809-BE52-2FB663851A2A}"/>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Чем помогают агенты и Skills</a:t>
            </a:r>
          </a:p>
        </p:txBody>
      </p:sp>
      <p:sp>
        <p:nvSpPr>
          <p:cNvPr id="3" name="">
            <a:extLst xmlns:a="http://schemas.openxmlformats.org/drawingml/2006/main">
              <a:ext uri="{FF2B5EF4-FFF2-40B4-BE49-F238E27FC236}">
                <a16:creationId xmlns:a16="http://schemas.microsoft.com/office/drawing/2014/main" id="{CC788029-3660-4480-A431-18B4C371A246}"/>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594A36A-5E38-4AA6-BD09-342108E68420}"/>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Агент-исследователь: найти варианты источников и риски</a:t>
            </a:r>
          </a:p>
        </p:txBody>
      </p:sp>
      <p:sp>
        <p:nvSpPr>
          <p:cNvPr id="5" name="">
            <a:extLst xmlns:a="http://schemas.openxmlformats.org/drawingml/2006/main">
              <a:ext uri="{FF2B5EF4-FFF2-40B4-BE49-F238E27FC236}">
                <a16:creationId xmlns:a16="http://schemas.microsoft.com/office/drawing/2014/main" id="{B8C3B35B-E652-4DD1-ACCE-94708DD15D97}"/>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56954F1-AC02-45AD-A935-A0C363993BD5}"/>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Агент-инженер: собрать скрипт или notebook</a:t>
            </a:r>
          </a:p>
        </p:txBody>
      </p:sp>
      <p:sp>
        <p:nvSpPr>
          <p:cNvPr id="7" name="">
            <a:extLst xmlns:a="http://schemas.openxmlformats.org/drawingml/2006/main">
              <a:ext uri="{FF2B5EF4-FFF2-40B4-BE49-F238E27FC236}">
                <a16:creationId xmlns:a16="http://schemas.microsoft.com/office/drawing/2014/main" id="{4F9E2283-ADDB-45FB-ACC9-78048BDDE0BB}"/>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1108FFA-7841-41ED-B134-7B8CCCE5435D}"/>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Агент-ревьюер: найти ошибки в данных и документации</a:t>
            </a:r>
          </a:p>
        </p:txBody>
      </p:sp>
      <p:sp>
        <p:nvSpPr>
          <p:cNvPr id="9" name="">
            <a:extLst xmlns:a="http://schemas.openxmlformats.org/drawingml/2006/main">
              <a:ext uri="{FF2B5EF4-FFF2-40B4-BE49-F238E27FC236}">
                <a16:creationId xmlns:a16="http://schemas.microsoft.com/office/drawing/2014/main" id="{9AE6D6CB-4978-4AA1-970A-4A76C2BA0EE1}"/>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EAF0679-680F-4611-AD23-EBBDD7094674}"/>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Skill: повторяемая инструкция для OCR, таблиц, документов, презентаций</a:t>
            </a:r>
          </a:p>
        </p:txBody>
      </p:sp>
      <p:sp>
        <p:nvSpPr>
          <p:cNvPr id="11" name="">
            <a:extLst xmlns:a="http://schemas.openxmlformats.org/drawingml/2006/main">
              <a:ext uri="{FF2B5EF4-FFF2-40B4-BE49-F238E27FC236}">
                <a16:creationId xmlns:a16="http://schemas.microsoft.com/office/drawing/2014/main" id="{5DE05B42-7A74-4881-9C7A-5F46A35DE291}"/>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EF38D7F-16F8-4CAF-9652-DB652F060D15}"/>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Автоматизации: периодически проверять источники или задачи проекта</a:t>
            </a:r>
          </a:p>
        </p:txBody>
      </p:sp>
      <p:sp>
        <p:nvSpPr>
          <p:cNvPr id="13" name="">
            <a:extLst xmlns:a="http://schemas.openxmlformats.org/drawingml/2006/main">
              <a:ext uri="{FF2B5EF4-FFF2-40B4-BE49-F238E27FC236}">
                <a16:creationId xmlns:a16="http://schemas.microsoft.com/office/drawing/2014/main" id="{0CC186FC-D133-424A-B665-620812EBB39F}"/>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0E17FBF-4D65-4458-AF44-72BA0059F474}"/>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5" name="">
            <a:extLst xmlns:a="http://schemas.openxmlformats.org/drawingml/2006/main">
              <a:ext uri="{FF2B5EF4-FFF2-40B4-BE49-F238E27FC236}">
                <a16:creationId xmlns:a16="http://schemas.microsoft.com/office/drawing/2014/main" id="{425EC6BC-617E-430B-9708-4AB735BE17EB}"/>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16/36</a:t>
            </a:r>
          </a:p>
        </p:txBody>
      </p:sp>
    </p:spTree>
    <p:extLst>
      <p:ext uri="{BB962C8B-B14F-4D97-AF65-F5344CB8AC3E}">
        <p14:creationId xmlns:p14="http://schemas.microsoft.com/office/powerpoint/2010/main" val="166100876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B3BF3D6-7724-4895-971A-ED46225927E8}"/>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941B1F2B-1338-4C48-99D6-C8557061561C}"/>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Что такое агент</a:t>
            </a:r>
          </a:p>
        </p:txBody>
      </p:sp>
      <p:sp>
        <p:nvSpPr>
          <p:cNvPr id="3" name="">
            <a:extLst xmlns:a="http://schemas.openxmlformats.org/drawingml/2006/main">
              <a:ext uri="{FF2B5EF4-FFF2-40B4-BE49-F238E27FC236}">
                <a16:creationId xmlns:a16="http://schemas.microsoft.com/office/drawing/2014/main" id="{43B4BCC3-A77B-4E60-ACB0-73BB519A8B94}"/>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9F43ABC-D45A-46BB-AD72-A9935F34D17A}"/>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Агент: система, способная совершать автономные действия во внешней среде для достижения поставленных целей</a:t>
            </a:r>
          </a:p>
        </p:txBody>
      </p:sp>
      <p:sp>
        <p:nvSpPr>
          <p:cNvPr id="5" name="">
            <a:extLst xmlns:a="http://schemas.openxmlformats.org/drawingml/2006/main">
              <a:ext uri="{FF2B5EF4-FFF2-40B4-BE49-F238E27FC236}">
                <a16:creationId xmlns:a16="http://schemas.microsoft.com/office/drawing/2014/main" id="{DD74D542-430C-4D01-96DD-1AE56DC65364}"/>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2E2D81C-4C52-4F80-8E33-6B9331B47EAA}"/>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Интеллектуальный агент: планирует действия, реагирует на изменения, взаимодействует с человеком и другими аге...</a:t>
            </a:r>
          </a:p>
        </p:txBody>
      </p:sp>
      <p:sp>
        <p:nvSpPr>
          <p:cNvPr id="7" name="">
            <a:extLst xmlns:a="http://schemas.openxmlformats.org/drawingml/2006/main">
              <a:ext uri="{FF2B5EF4-FFF2-40B4-BE49-F238E27FC236}">
                <a16:creationId xmlns:a16="http://schemas.microsoft.com/office/drawing/2014/main" id="{16E1377B-49A6-42AF-A177-FCF337CB412E}"/>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0F9E06C-B6A0-4F1D-96AB-88632E9A7A02}"/>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AI-агент: система на базе генеративного ИИ, которая планирует, действует, реагирует и взаимодействует</a:t>
            </a:r>
          </a:p>
        </p:txBody>
      </p:sp>
      <p:sp>
        <p:nvSpPr>
          <p:cNvPr id="9" name="">
            <a:extLst xmlns:a="http://schemas.openxmlformats.org/drawingml/2006/main">
              <a:ext uri="{FF2B5EF4-FFF2-40B4-BE49-F238E27FC236}">
                <a16:creationId xmlns:a16="http://schemas.microsoft.com/office/drawing/2014/main" id="{00AFA689-34A4-4F01-9EAC-4D6BAA58AF6C}"/>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D25CBE2-5FDF-4927-BD46-575000E7EF71}"/>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1" name="">
            <a:extLst xmlns:a="http://schemas.openxmlformats.org/drawingml/2006/main">
              <a:ext uri="{FF2B5EF4-FFF2-40B4-BE49-F238E27FC236}">
                <a16:creationId xmlns:a16="http://schemas.microsoft.com/office/drawing/2014/main" id="{86A67C57-973E-47C8-86F5-AC8553E8F63D}"/>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17/36</a:t>
            </a:r>
          </a:p>
        </p:txBody>
      </p:sp>
    </p:spTree>
    <p:extLst>
      <p:ext uri="{BB962C8B-B14F-4D97-AF65-F5344CB8AC3E}">
        <p14:creationId xmlns:p14="http://schemas.microsoft.com/office/powerpoint/2010/main" val="192029098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967AFEA-5B65-43C2-8456-64F9BB9542DF}"/>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9389BA9E-DFA0-4DE9-981F-4E3B1B937F5D}"/>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Типичные архитектуры AI-агентов</a:t>
            </a:r>
          </a:p>
        </p:txBody>
      </p:sp>
      <p:sp>
        <p:nvSpPr>
          <p:cNvPr id="3" name="">
            <a:extLst xmlns:a="http://schemas.openxmlformats.org/drawingml/2006/main">
              <a:ext uri="{FF2B5EF4-FFF2-40B4-BE49-F238E27FC236}">
                <a16:creationId xmlns:a16="http://schemas.microsoft.com/office/drawing/2014/main" id="{B3ACE244-81C7-4CF2-ACC7-DB3A85AB979E}"/>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0ED58B8-BF0D-4730-983A-BC8F3982AC11}"/>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ChatBot: простая диалоговая архитектура</a:t>
            </a:r>
          </a:p>
        </p:txBody>
      </p:sp>
      <p:sp>
        <p:nvSpPr>
          <p:cNvPr id="5" name="">
            <a:extLst xmlns:a="http://schemas.openxmlformats.org/drawingml/2006/main">
              <a:ext uri="{FF2B5EF4-FFF2-40B4-BE49-F238E27FC236}">
                <a16:creationId xmlns:a16="http://schemas.microsoft.com/office/drawing/2014/main" id="{D3C0D435-7E41-47F4-810A-BED6FFC07984}"/>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BD6EFE5-4B0D-4109-B5D9-C1B6D628FA9E}"/>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RAGBot: чат с поиском по загруженным документам</a:t>
            </a:r>
          </a:p>
        </p:txBody>
      </p:sp>
      <p:sp>
        <p:nvSpPr>
          <p:cNvPr id="7" name="">
            <a:extLst xmlns:a="http://schemas.openxmlformats.org/drawingml/2006/main">
              <a:ext uri="{FF2B5EF4-FFF2-40B4-BE49-F238E27FC236}">
                <a16:creationId xmlns:a16="http://schemas.microsoft.com/office/drawing/2014/main" id="{0EAC86DE-6889-4880-A8E6-86895EC4BDD8}"/>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075BCCB-6C73-40D9-AE30-3A2DFC77F6AD}"/>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Copilot: ассистент внутри рабочей среды</a:t>
            </a:r>
          </a:p>
        </p:txBody>
      </p:sp>
      <p:sp>
        <p:nvSpPr>
          <p:cNvPr id="9" name="">
            <a:extLst xmlns:a="http://schemas.openxmlformats.org/drawingml/2006/main">
              <a:ext uri="{FF2B5EF4-FFF2-40B4-BE49-F238E27FC236}">
                <a16:creationId xmlns:a16="http://schemas.microsoft.com/office/drawing/2014/main" id="{C390DB74-B6FD-4EF7-B404-7A11B3769F01}"/>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2973A7B-9B47-4951-B978-FCECD398C8E7}"/>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Code Copilot: проект как база знаний</a:t>
            </a:r>
          </a:p>
        </p:txBody>
      </p:sp>
      <p:sp>
        <p:nvSpPr>
          <p:cNvPr id="11" name="">
            <a:extLst xmlns:a="http://schemas.openxmlformats.org/drawingml/2006/main">
              <a:ext uri="{FF2B5EF4-FFF2-40B4-BE49-F238E27FC236}">
                <a16:creationId xmlns:a16="http://schemas.microsoft.com/office/drawing/2014/main" id="{4703EB7E-DC87-4718-AAD8-835C8511607E}"/>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7B52FAB-75BB-4108-8356-13F6FB1C01E8}"/>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ReAct: цикл "LLM принимает решение -&gt; действие -&gt; наблюдение -&gt; новое решение"</a:t>
            </a:r>
          </a:p>
        </p:txBody>
      </p:sp>
      <p:sp>
        <p:nvSpPr>
          <p:cNvPr id="13" name="">
            <a:extLst xmlns:a="http://schemas.openxmlformats.org/drawingml/2006/main">
              <a:ext uri="{FF2B5EF4-FFF2-40B4-BE49-F238E27FC236}">
                <a16:creationId xmlns:a16="http://schemas.microsoft.com/office/drawing/2014/main" id="{4741966C-DB31-403F-9BB8-149CDD605681}"/>
              </a:ext>
            </a:extLst>
          </p:cNvPr>
          <p:cNvSpPr>
            <a:spLocks xmlns:a="http://schemas.openxmlformats.org/drawingml/2006/main" noGrp="1"/>
          </p:cNvSpPr>
          <p:nvPr/>
        </p:nvSpPr>
        <p:spPr>
          <a:xfrm xmlns:a="http://schemas.openxmlformats.org/drawingml/2006/main">
            <a:off x="762000" y="46482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DCB681A-32B3-4006-A057-DCF9B68AD613}"/>
              </a:ext>
            </a:extLst>
          </p:cNvPr>
          <p:cNvSpPr>
            <a:spLocks xmlns:a="http://schemas.openxmlformats.org/drawingml/2006/main" noGrp="1"/>
          </p:cNvSpPr>
          <p:nvPr/>
        </p:nvSpPr>
        <p:spPr>
          <a:xfrm xmlns:a="http://schemas.openxmlformats.org/drawingml/2006/main">
            <a:off x="1047750" y="45720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MultiAgent: несколько агентов с разными ролями и зонами ответственности</a:t>
            </a:r>
          </a:p>
        </p:txBody>
      </p:sp>
      <p:sp>
        <p:nvSpPr>
          <p:cNvPr id="15" name="">
            <a:extLst xmlns:a="http://schemas.openxmlformats.org/drawingml/2006/main">
              <a:ext uri="{FF2B5EF4-FFF2-40B4-BE49-F238E27FC236}">
                <a16:creationId xmlns:a16="http://schemas.microsoft.com/office/drawing/2014/main" id="{1CEAC353-7696-407F-A22B-E52DEB577EE5}"/>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B86B315-B087-44C6-A744-76762A77A561}"/>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7" name="">
            <a:extLst xmlns:a="http://schemas.openxmlformats.org/drawingml/2006/main">
              <a:ext uri="{FF2B5EF4-FFF2-40B4-BE49-F238E27FC236}">
                <a16:creationId xmlns:a16="http://schemas.microsoft.com/office/drawing/2014/main" id="{C075BD5A-9B18-4104-B2D4-09FDBD89B3F5}"/>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18/36</a:t>
            </a:r>
          </a:p>
        </p:txBody>
      </p:sp>
    </p:spTree>
    <p:extLst>
      <p:ext uri="{BB962C8B-B14F-4D97-AF65-F5344CB8AC3E}">
        <p14:creationId xmlns:p14="http://schemas.microsoft.com/office/powerpoint/2010/main" val="111370384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9120C87-74F5-462C-B48A-3F501E2E8711}"/>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3FB9BB7C-10A6-4100-A919-4B4A36A0791C}"/>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ChatBot</a:t>
            </a:r>
          </a:p>
        </p:txBody>
      </p:sp>
      <p:sp>
        <p:nvSpPr>
          <p:cNvPr id="3" name="">
            <a:extLst xmlns:a="http://schemas.openxmlformats.org/drawingml/2006/main">
              <a:ext uri="{FF2B5EF4-FFF2-40B4-BE49-F238E27FC236}">
                <a16:creationId xmlns:a16="http://schemas.microsoft.com/office/drawing/2014/main" id="{114ED1B2-2C43-493E-82CA-6A3DF93BBEF3}"/>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2068407-7D0F-4DB9-B015-A0C3A2B91B7A}"/>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Самая простая архитектура</a:t>
            </a:r>
          </a:p>
        </p:txBody>
      </p:sp>
      <p:sp>
        <p:nvSpPr>
          <p:cNvPr id="5" name="">
            <a:extLst xmlns:a="http://schemas.openxmlformats.org/drawingml/2006/main">
              <a:ext uri="{FF2B5EF4-FFF2-40B4-BE49-F238E27FC236}">
                <a16:creationId xmlns:a16="http://schemas.microsoft.com/office/drawing/2014/main" id="{3991B6D1-FE1E-4062-ADB9-5950B4357113}"/>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1B74168-7669-4100-A969-BEC36C4AF49B}"/>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Работает на основе системных промптов и истории диалога</a:t>
            </a:r>
          </a:p>
        </p:txBody>
      </p:sp>
      <p:sp>
        <p:nvSpPr>
          <p:cNvPr id="7" name="">
            <a:extLst xmlns:a="http://schemas.openxmlformats.org/drawingml/2006/main">
              <a:ext uri="{FF2B5EF4-FFF2-40B4-BE49-F238E27FC236}">
                <a16:creationId xmlns:a16="http://schemas.microsoft.com/office/drawing/2014/main" id="{2D480C74-B8E3-4E4D-B289-C097B9D10B0A}"/>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F916A65-EA0A-4802-9F5E-F870192C4E61}"/>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Обычно не имеет доступа к внешним данным</a:t>
            </a:r>
          </a:p>
        </p:txBody>
      </p:sp>
      <p:sp>
        <p:nvSpPr>
          <p:cNvPr id="9" name="">
            <a:extLst xmlns:a="http://schemas.openxmlformats.org/drawingml/2006/main">
              <a:ext uri="{FF2B5EF4-FFF2-40B4-BE49-F238E27FC236}">
                <a16:creationId xmlns:a16="http://schemas.microsoft.com/office/drawing/2014/main" id="{3D6E0379-69D4-4F69-A423-76D4205F7C4F}"/>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8F5C342-9999-4916-BC1A-39A007BA0DDB}"/>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Хорошо подходит для персонажей, учебных ассистентов и диалоговых ботов</a:t>
            </a:r>
          </a:p>
        </p:txBody>
      </p:sp>
      <p:sp>
        <p:nvSpPr>
          <p:cNvPr id="11" name="">
            <a:extLst xmlns:a="http://schemas.openxmlformats.org/drawingml/2006/main">
              <a:ext uri="{FF2B5EF4-FFF2-40B4-BE49-F238E27FC236}">
                <a16:creationId xmlns:a16="http://schemas.microsoft.com/office/drawing/2014/main" id="{EDE554B2-33EF-4442-81CC-1051C50BCA8E}"/>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EDA7356-07DC-4F99-B5D1-DE76C2D3329B}"/>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Риск: уверенные ответы без проверки источников</a:t>
            </a:r>
          </a:p>
        </p:txBody>
      </p:sp>
      <p:sp>
        <p:nvSpPr>
          <p:cNvPr id="13" name="">
            <a:extLst xmlns:a="http://schemas.openxmlformats.org/drawingml/2006/main">
              <a:ext uri="{FF2B5EF4-FFF2-40B4-BE49-F238E27FC236}">
                <a16:creationId xmlns:a16="http://schemas.microsoft.com/office/drawing/2014/main" id="{FAFC9AA1-02E7-450A-83FA-F3490FD4B195}"/>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C8E9672-BA78-462B-9258-BBAD6EB94948}"/>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5" name="">
            <a:extLst xmlns:a="http://schemas.openxmlformats.org/drawingml/2006/main">
              <a:ext uri="{FF2B5EF4-FFF2-40B4-BE49-F238E27FC236}">
                <a16:creationId xmlns:a16="http://schemas.microsoft.com/office/drawing/2014/main" id="{00F338ED-2278-4A57-A533-00C388986483}"/>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19/36</a:t>
            </a:r>
          </a:p>
        </p:txBody>
      </p:sp>
    </p:spTree>
    <p:extLst>
      <p:ext uri="{BB962C8B-B14F-4D97-AF65-F5344CB8AC3E}">
        <p14:creationId xmlns:p14="http://schemas.microsoft.com/office/powerpoint/2010/main" val="196936538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6411144-0412-4407-ABB6-744D95901EBA}"/>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1CBB6D3C-BFEE-4B37-9F63-12B2C5546880}"/>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RAGBot и Copilot</a:t>
            </a:r>
          </a:p>
        </p:txBody>
      </p:sp>
      <p:sp>
        <p:nvSpPr>
          <p:cNvPr id="3" name="">
            <a:extLst xmlns:a="http://schemas.openxmlformats.org/drawingml/2006/main">
              <a:ext uri="{FF2B5EF4-FFF2-40B4-BE49-F238E27FC236}">
                <a16:creationId xmlns:a16="http://schemas.microsoft.com/office/drawing/2014/main" id="{BCDBE7FE-3777-4093-A4B2-FE8960E98781}"/>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C9F93CD-B2D7-4F4C-9879-6E582F7223B2}"/>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RAGBot специализируется на работе с загруженными документами</a:t>
            </a:r>
          </a:p>
        </p:txBody>
      </p:sp>
      <p:sp>
        <p:nvSpPr>
          <p:cNvPr id="5" name="">
            <a:extLst xmlns:a="http://schemas.openxmlformats.org/drawingml/2006/main">
              <a:ext uri="{FF2B5EF4-FFF2-40B4-BE49-F238E27FC236}">
                <a16:creationId xmlns:a16="http://schemas.microsoft.com/office/drawing/2014/main" id="{3567555E-D403-4EB7-8946-F0A39474D0D7}"/>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191DD69-5734-42C2-8133-D7F80CAD87ED}"/>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Всегда выполняет поиск по документам</a:t>
            </a:r>
          </a:p>
        </p:txBody>
      </p:sp>
      <p:sp>
        <p:nvSpPr>
          <p:cNvPr id="7" name="">
            <a:extLst xmlns:a="http://schemas.openxmlformats.org/drawingml/2006/main">
              <a:ext uri="{FF2B5EF4-FFF2-40B4-BE49-F238E27FC236}">
                <a16:creationId xmlns:a16="http://schemas.microsoft.com/office/drawing/2014/main" id="{A1280DF0-E662-4B55-AA62-233B2A0D13ED}"/>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DC70AA3-0704-4626-B941-CA6CD7C12DC9}"/>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Часто делает поиск только один раз перед ответом</a:t>
            </a:r>
          </a:p>
        </p:txBody>
      </p:sp>
      <p:sp>
        <p:nvSpPr>
          <p:cNvPr id="9" name="">
            <a:extLst xmlns:a="http://schemas.openxmlformats.org/drawingml/2006/main">
              <a:ext uri="{FF2B5EF4-FFF2-40B4-BE49-F238E27FC236}">
                <a16:creationId xmlns:a16="http://schemas.microsoft.com/office/drawing/2014/main" id="{D39C38F5-81B2-48DC-8D52-D3621FF5DCC4}"/>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A231592-884D-4082-904B-6CE1AB86477A}"/>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Архитектура более структурированная, но менее гибкая</a:t>
            </a:r>
          </a:p>
        </p:txBody>
      </p:sp>
      <p:sp>
        <p:nvSpPr>
          <p:cNvPr id="11" name="">
            <a:extLst xmlns:a="http://schemas.openxmlformats.org/drawingml/2006/main">
              <a:ext uri="{FF2B5EF4-FFF2-40B4-BE49-F238E27FC236}">
                <a16:creationId xmlns:a16="http://schemas.microsoft.com/office/drawing/2014/main" id="{93D25BDB-D03B-409C-A911-C0CA0DEE5144}"/>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68178FD-8E2E-4E46-B88F-61EB3B25B0C6}"/>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Copilot помогает внутри рабочей среды, где работает человек</a:t>
            </a:r>
          </a:p>
        </p:txBody>
      </p:sp>
      <p:sp>
        <p:nvSpPr>
          <p:cNvPr id="13" name="">
            <a:extLst xmlns:a="http://schemas.openxmlformats.org/drawingml/2006/main">
              <a:ext uri="{FF2B5EF4-FFF2-40B4-BE49-F238E27FC236}">
                <a16:creationId xmlns:a16="http://schemas.microsoft.com/office/drawing/2014/main" id="{84D0DC1A-F2E5-4753-8E06-F635C68BD64A}"/>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D6FB87E-BC9B-4442-87BE-F8B7D7940C6F}"/>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5" name="">
            <a:extLst xmlns:a="http://schemas.openxmlformats.org/drawingml/2006/main">
              <a:ext uri="{FF2B5EF4-FFF2-40B4-BE49-F238E27FC236}">
                <a16:creationId xmlns:a16="http://schemas.microsoft.com/office/drawing/2014/main" id="{894F529C-BF46-467F-9EB4-F96DEC6CC7DD}"/>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20/36</a:t>
            </a:r>
          </a:p>
        </p:txBody>
      </p:sp>
    </p:spTree>
    <p:extLst>
      <p:ext uri="{BB962C8B-B14F-4D97-AF65-F5344CB8AC3E}">
        <p14:creationId xmlns:p14="http://schemas.microsoft.com/office/powerpoint/2010/main" val="55159940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539A573-885C-41EB-904A-A60FD2200BB8}"/>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7E172EFC-B2D8-4972-87E6-E7FDD5BE1821}"/>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Code Copilot</a:t>
            </a:r>
          </a:p>
        </p:txBody>
      </p:sp>
      <p:sp>
        <p:nvSpPr>
          <p:cNvPr id="3" name="">
            <a:extLst xmlns:a="http://schemas.openxmlformats.org/drawingml/2006/main">
              <a:ext uri="{FF2B5EF4-FFF2-40B4-BE49-F238E27FC236}">
                <a16:creationId xmlns:a16="http://schemas.microsoft.com/office/drawing/2014/main" id="{60698889-193E-4679-A746-0ED5EE57768C}"/>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F709B76-584D-47C5-A63E-64FE252239A5}"/>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Воспринимает весь проект как базу знаний</a:t>
            </a:r>
          </a:p>
        </p:txBody>
      </p:sp>
      <p:sp>
        <p:nvSpPr>
          <p:cNvPr id="5" name="">
            <a:extLst xmlns:a="http://schemas.openxmlformats.org/drawingml/2006/main">
              <a:ext uri="{FF2B5EF4-FFF2-40B4-BE49-F238E27FC236}">
                <a16:creationId xmlns:a16="http://schemas.microsoft.com/office/drawing/2014/main" id="{42ADBE1C-3ABF-46E6-ABD7-17EBBB955ACC}"/>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D785963-4FF5-4C8D-871A-DB5207C35E38}"/>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Читает структуру папок, код, README, данные и тесты</a:t>
            </a:r>
          </a:p>
        </p:txBody>
      </p:sp>
      <p:sp>
        <p:nvSpPr>
          <p:cNvPr id="7" name="">
            <a:extLst xmlns:a="http://schemas.openxmlformats.org/drawingml/2006/main">
              <a:ext uri="{FF2B5EF4-FFF2-40B4-BE49-F238E27FC236}">
                <a16:creationId xmlns:a16="http://schemas.microsoft.com/office/drawing/2014/main" id="{D17B915D-419F-4750-9B69-F57E00657413}"/>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F63E721-CA93-41C0-BC4F-8DA81572B435}"/>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Помогает писать, объяснять, править и проверять код</a:t>
            </a:r>
          </a:p>
        </p:txBody>
      </p:sp>
      <p:sp>
        <p:nvSpPr>
          <p:cNvPr id="9" name="">
            <a:extLst xmlns:a="http://schemas.openxmlformats.org/drawingml/2006/main">
              <a:ext uri="{FF2B5EF4-FFF2-40B4-BE49-F238E27FC236}">
                <a16:creationId xmlns:a16="http://schemas.microsoft.com/office/drawing/2014/main" id="{EA233D85-A5ED-4B81-802E-A22E93554559}"/>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6BE4466-AE67-4B23-BC41-D9E85DE079E8}"/>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Может находить связи между файлами</a:t>
            </a:r>
          </a:p>
        </p:txBody>
      </p:sp>
      <p:sp>
        <p:nvSpPr>
          <p:cNvPr id="11" name="">
            <a:extLst xmlns:a="http://schemas.openxmlformats.org/drawingml/2006/main">
              <a:ext uri="{FF2B5EF4-FFF2-40B4-BE49-F238E27FC236}">
                <a16:creationId xmlns:a16="http://schemas.microsoft.com/office/drawing/2014/main" id="{04C95712-4C35-4D1B-8AAD-DC2D01947964}"/>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B99B942-FCF3-448A-936B-CFF21E5B4F72}"/>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Силен там, где проект уже оформлен как папка или репозиторий</a:t>
            </a:r>
          </a:p>
        </p:txBody>
      </p:sp>
      <p:sp>
        <p:nvSpPr>
          <p:cNvPr id="13" name="">
            <a:extLst xmlns:a="http://schemas.openxmlformats.org/drawingml/2006/main">
              <a:ext uri="{FF2B5EF4-FFF2-40B4-BE49-F238E27FC236}">
                <a16:creationId xmlns:a16="http://schemas.microsoft.com/office/drawing/2014/main" id="{37A4B0B7-31D8-467D-9333-4B073B6126FB}"/>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8E7D3A1-75DC-454A-84AF-77D63AD311CF}"/>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5" name="">
            <a:extLst xmlns:a="http://schemas.openxmlformats.org/drawingml/2006/main">
              <a:ext uri="{FF2B5EF4-FFF2-40B4-BE49-F238E27FC236}">
                <a16:creationId xmlns:a16="http://schemas.microsoft.com/office/drawing/2014/main" id="{C184CB7A-B18A-4446-BBB9-CC4026F5A5F2}"/>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21/36</a:t>
            </a:r>
          </a:p>
        </p:txBody>
      </p:sp>
    </p:spTree>
    <p:extLst>
      <p:ext uri="{BB962C8B-B14F-4D97-AF65-F5344CB8AC3E}">
        <p14:creationId xmlns:p14="http://schemas.microsoft.com/office/powerpoint/2010/main" val="94701692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C4317B4-E937-4C55-9B34-D8A4FF8B3A90}"/>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23F96541-4934-43FA-A17B-B048DC8A47D4}"/>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MultiAgent архитектура</a:t>
            </a:r>
          </a:p>
        </p:txBody>
      </p:sp>
      <p:sp>
        <p:nvSpPr>
          <p:cNvPr id="3" name="">
            <a:extLst xmlns:a="http://schemas.openxmlformats.org/drawingml/2006/main">
              <a:ext uri="{FF2B5EF4-FFF2-40B4-BE49-F238E27FC236}">
                <a16:creationId xmlns:a16="http://schemas.microsoft.com/office/drawing/2014/main" id="{350A3908-E841-4AD7-8C67-E22F95A1C5CE}"/>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1893D98-248D-4FEA-BD7E-6707CB97DDBC}"/>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Несколько агентов общаются и координируют работу</a:t>
            </a:r>
          </a:p>
        </p:txBody>
      </p:sp>
      <p:sp>
        <p:nvSpPr>
          <p:cNvPr id="5" name="">
            <a:extLst xmlns:a="http://schemas.openxmlformats.org/drawingml/2006/main">
              <a:ext uri="{FF2B5EF4-FFF2-40B4-BE49-F238E27FC236}">
                <a16:creationId xmlns:a16="http://schemas.microsoft.com/office/drawing/2014/main" id="{4B9CCD8D-EA8C-4EB1-8DC7-2D116E242BD2}"/>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08E51AF-2D94-42DE-A2A3-CA419ACEC308}"/>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У каждого агента есть роль и специализация</a:t>
            </a:r>
          </a:p>
        </p:txBody>
      </p:sp>
      <p:sp>
        <p:nvSpPr>
          <p:cNvPr id="7" name="">
            <a:extLst xmlns:a="http://schemas.openxmlformats.org/drawingml/2006/main">
              <a:ext uri="{FF2B5EF4-FFF2-40B4-BE49-F238E27FC236}">
                <a16:creationId xmlns:a16="http://schemas.microsoft.com/office/drawing/2014/main" id="{B518C7AD-92D0-452D-9CDE-21DB294CC501}"/>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AF22F58-6798-46CC-A687-866459D02635}"/>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Примеры ролей: исследователь, критик, координатор, исполнитель</a:t>
            </a:r>
          </a:p>
        </p:txBody>
      </p:sp>
      <p:sp>
        <p:nvSpPr>
          <p:cNvPr id="9" name="">
            <a:extLst xmlns:a="http://schemas.openxmlformats.org/drawingml/2006/main">
              <a:ext uri="{FF2B5EF4-FFF2-40B4-BE49-F238E27FC236}">
                <a16:creationId xmlns:a16="http://schemas.microsoft.com/office/drawing/2014/main" id="{DF51E5C1-5D14-45AE-8624-4CDC7AC6DAF9}"/>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B14F602-2C17-4E37-A070-98578F1A719C}"/>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Нужно определить протокол коммуникации</a:t>
            </a:r>
          </a:p>
        </p:txBody>
      </p:sp>
      <p:sp>
        <p:nvSpPr>
          <p:cNvPr id="11" name="">
            <a:extLst xmlns:a="http://schemas.openxmlformats.org/drawingml/2006/main">
              <a:ext uri="{FF2B5EF4-FFF2-40B4-BE49-F238E27FC236}">
                <a16:creationId xmlns:a16="http://schemas.microsoft.com/office/drawing/2014/main" id="{04ADDBFA-FC04-4ADD-975E-19AC4F67FFBB}"/>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73E8E49-1D55-4970-B302-E78A291F91FB}"/>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Нужны стратегия распределения задач и механизм принятия решений</a:t>
            </a:r>
          </a:p>
        </p:txBody>
      </p:sp>
      <p:sp>
        <p:nvSpPr>
          <p:cNvPr id="13" name="">
            <a:extLst xmlns:a="http://schemas.openxmlformats.org/drawingml/2006/main">
              <a:ext uri="{FF2B5EF4-FFF2-40B4-BE49-F238E27FC236}">
                <a16:creationId xmlns:a16="http://schemas.microsoft.com/office/drawing/2014/main" id="{F8D8A158-F50C-4B0D-845E-4BB29415E7BD}"/>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C56BD1C-C482-4811-B06A-4353F9B2D0CA}"/>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5" name="">
            <a:extLst xmlns:a="http://schemas.openxmlformats.org/drawingml/2006/main">
              <a:ext uri="{FF2B5EF4-FFF2-40B4-BE49-F238E27FC236}">
                <a16:creationId xmlns:a16="http://schemas.microsoft.com/office/drawing/2014/main" id="{654D5349-66BC-497E-9A70-D942536B6493}"/>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22/36</a:t>
            </a:r>
          </a:p>
        </p:txBody>
      </p:sp>
    </p:spTree>
    <p:extLst>
      <p:ext uri="{BB962C8B-B14F-4D97-AF65-F5344CB8AC3E}">
        <p14:creationId xmlns:p14="http://schemas.microsoft.com/office/powerpoint/2010/main" val="190731156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88185E4-B69F-41F1-ABCF-B0C9D7D1A103}"/>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7DBD5A45-010B-4F92-9A81-3B362580DD33}"/>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Вопрос к аудитории</a:t>
            </a:r>
          </a:p>
        </p:txBody>
      </p:sp>
      <p:sp>
        <p:nvSpPr>
          <p:cNvPr id="3" name="">
            <a:extLst xmlns:a="http://schemas.openxmlformats.org/drawingml/2006/main">
              <a:ext uri="{FF2B5EF4-FFF2-40B4-BE49-F238E27FC236}">
                <a16:creationId xmlns:a16="http://schemas.microsoft.com/office/drawing/2014/main" id="{2D047EE4-B9E3-4CAF-81C7-9B7F6B6A82FC}"/>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6AB3250-C3E5-4D67-97AE-D9F1E885573A}"/>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Какие архитектуры подойдут для задач сохранения языков?</a:t>
            </a:r>
          </a:p>
        </p:txBody>
      </p:sp>
      <p:sp>
        <p:nvSpPr>
          <p:cNvPr id="5" name="">
            <a:extLst xmlns:a="http://schemas.openxmlformats.org/drawingml/2006/main">
              <a:ext uri="{FF2B5EF4-FFF2-40B4-BE49-F238E27FC236}">
                <a16:creationId xmlns:a16="http://schemas.microsoft.com/office/drawing/2014/main" id="{06C9F3FE-1AB4-4E05-AADA-C80206F65B5D}"/>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662174D-AD06-4CB7-91E2-91D79641DB28}"/>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Где достаточно ChatBot?</a:t>
            </a:r>
          </a:p>
        </p:txBody>
      </p:sp>
      <p:sp>
        <p:nvSpPr>
          <p:cNvPr id="7" name="">
            <a:extLst xmlns:a="http://schemas.openxmlformats.org/drawingml/2006/main">
              <a:ext uri="{FF2B5EF4-FFF2-40B4-BE49-F238E27FC236}">
                <a16:creationId xmlns:a16="http://schemas.microsoft.com/office/drawing/2014/main" id="{C63EE781-E9EE-4984-B6E9-25232697BC00}"/>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0C6A115-D627-4B8E-8E35-AC488385FFAC}"/>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Где нужен RAGBot по документам?</a:t>
            </a:r>
          </a:p>
        </p:txBody>
      </p:sp>
      <p:sp>
        <p:nvSpPr>
          <p:cNvPr id="9" name="">
            <a:extLst xmlns:a="http://schemas.openxmlformats.org/drawingml/2006/main">
              <a:ext uri="{FF2B5EF4-FFF2-40B4-BE49-F238E27FC236}">
                <a16:creationId xmlns:a16="http://schemas.microsoft.com/office/drawing/2014/main" id="{C3BC72EA-7A15-4E5A-B816-6C2BE015BC06}"/>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25307BF-8406-4F7A-9CD4-69ED5FBBA160}"/>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Где лучше Code Copilot?</a:t>
            </a:r>
          </a:p>
        </p:txBody>
      </p:sp>
      <p:sp>
        <p:nvSpPr>
          <p:cNvPr id="11" name="">
            <a:extLst xmlns:a="http://schemas.openxmlformats.org/drawingml/2006/main">
              <a:ext uri="{FF2B5EF4-FFF2-40B4-BE49-F238E27FC236}">
                <a16:creationId xmlns:a16="http://schemas.microsoft.com/office/drawing/2014/main" id="{E74C2484-C122-496F-A85D-0BF1F6108B54}"/>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11EB460-5B39-4323-88FD-7DB32989050A}"/>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Когда оправдана MultiAgent-схема?</a:t>
            </a:r>
          </a:p>
        </p:txBody>
      </p:sp>
      <p:sp>
        <p:nvSpPr>
          <p:cNvPr id="13" name="">
            <a:extLst xmlns:a="http://schemas.openxmlformats.org/drawingml/2006/main">
              <a:ext uri="{FF2B5EF4-FFF2-40B4-BE49-F238E27FC236}">
                <a16:creationId xmlns:a16="http://schemas.microsoft.com/office/drawing/2014/main" id="{DD9C328F-6BEA-4E0A-918F-F20808CE690A}"/>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9A0B0B2-D574-4090-BDF4-2FD9E053C56F}"/>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5" name="">
            <a:extLst xmlns:a="http://schemas.openxmlformats.org/drawingml/2006/main">
              <a:ext uri="{FF2B5EF4-FFF2-40B4-BE49-F238E27FC236}">
                <a16:creationId xmlns:a16="http://schemas.microsoft.com/office/drawing/2014/main" id="{B546E13C-D07A-4375-8601-8282002EAA63}"/>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23/36</a:t>
            </a:r>
          </a:p>
        </p:txBody>
      </p:sp>
    </p:spTree>
    <p:extLst>
      <p:ext uri="{BB962C8B-B14F-4D97-AF65-F5344CB8AC3E}">
        <p14:creationId xmlns:p14="http://schemas.microsoft.com/office/powerpoint/2010/main" val="25322330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943BAB4-0F00-4EA7-9850-5D7D2B13DE14}"/>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0B0F0B47-3A4B-47A6-9F1D-4F64322FCBF7}"/>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Агентская память</a:t>
            </a:r>
          </a:p>
        </p:txBody>
      </p:sp>
      <p:sp>
        <p:nvSpPr>
          <p:cNvPr id="3" name="">
            <a:extLst xmlns:a="http://schemas.openxmlformats.org/drawingml/2006/main">
              <a:ext uri="{FF2B5EF4-FFF2-40B4-BE49-F238E27FC236}">
                <a16:creationId xmlns:a16="http://schemas.microsoft.com/office/drawing/2014/main" id="{FE0B5917-CD27-42EB-AC41-721500441C82}"/>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D6A918B-9941-4183-8EEB-2B1E072E9A9B}"/>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Short-term memory: контекст текущей задачи или диалога</a:t>
            </a:r>
          </a:p>
        </p:txBody>
      </p:sp>
      <p:sp>
        <p:nvSpPr>
          <p:cNvPr id="5" name="">
            <a:extLst xmlns:a="http://schemas.openxmlformats.org/drawingml/2006/main">
              <a:ext uri="{FF2B5EF4-FFF2-40B4-BE49-F238E27FC236}">
                <a16:creationId xmlns:a16="http://schemas.microsoft.com/office/drawing/2014/main" id="{8C80FAFE-7D9A-431D-84F7-8D77EBF22517}"/>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6432901-639C-448E-932C-D380D814BCBA}"/>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Long-term memory: сохраненные знания между сессиями</a:t>
            </a:r>
          </a:p>
        </p:txBody>
      </p:sp>
      <p:sp>
        <p:nvSpPr>
          <p:cNvPr id="7" name="">
            <a:extLst xmlns:a="http://schemas.openxmlformats.org/drawingml/2006/main">
              <a:ext uri="{FF2B5EF4-FFF2-40B4-BE49-F238E27FC236}">
                <a16:creationId xmlns:a16="http://schemas.microsoft.com/office/drawing/2014/main" id="{9123D174-A138-47AD-8E04-6CB815B5701E}"/>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C90FE6A-388E-47E8-97C7-7C85741E98CA}"/>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Память помогает агенту не начинать с нуля</a:t>
            </a:r>
          </a:p>
        </p:txBody>
      </p:sp>
      <p:sp>
        <p:nvSpPr>
          <p:cNvPr id="9" name="">
            <a:extLst xmlns:a="http://schemas.openxmlformats.org/drawingml/2006/main">
              <a:ext uri="{FF2B5EF4-FFF2-40B4-BE49-F238E27FC236}">
                <a16:creationId xmlns:a16="http://schemas.microsoft.com/office/drawing/2014/main" id="{3019F866-D681-4026-98AB-96E1FF8B7768}"/>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F7C12B6-80A8-4E5E-82FB-FDEBA5835BFC}"/>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Риск: устаревшие, ошибочные или приватные сведения</a:t>
            </a:r>
          </a:p>
        </p:txBody>
      </p:sp>
      <p:sp>
        <p:nvSpPr>
          <p:cNvPr id="11" name="">
            <a:extLst xmlns:a="http://schemas.openxmlformats.org/drawingml/2006/main">
              <a:ext uri="{FF2B5EF4-FFF2-40B4-BE49-F238E27FC236}">
                <a16:creationId xmlns:a16="http://schemas.microsoft.com/office/drawing/2014/main" id="{CC402C18-B7A6-4C70-BC5C-B3B715066A5D}"/>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61BF72A-B2D6-4C1E-9107-60B04A6E418E}"/>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Память должна быть проверяемой и редактируемой</a:t>
            </a:r>
          </a:p>
        </p:txBody>
      </p:sp>
      <p:sp>
        <p:nvSpPr>
          <p:cNvPr id="13" name="">
            <a:extLst xmlns:a="http://schemas.openxmlformats.org/drawingml/2006/main">
              <a:ext uri="{FF2B5EF4-FFF2-40B4-BE49-F238E27FC236}">
                <a16:creationId xmlns:a16="http://schemas.microsoft.com/office/drawing/2014/main" id="{8D9E80A9-9BB9-4250-AD72-03D4F8B491A6}"/>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75A913F-CDB4-4BFA-97E9-684D6F26B156}"/>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5" name="">
            <a:extLst xmlns:a="http://schemas.openxmlformats.org/drawingml/2006/main">
              <a:ext uri="{FF2B5EF4-FFF2-40B4-BE49-F238E27FC236}">
                <a16:creationId xmlns:a16="http://schemas.microsoft.com/office/drawing/2014/main" id="{88E62C78-AF4D-4C47-90B5-ECD75F19DAF9}"/>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24/36</a:t>
            </a:r>
          </a:p>
        </p:txBody>
      </p:sp>
    </p:spTree>
    <p:extLst>
      <p:ext uri="{BB962C8B-B14F-4D97-AF65-F5344CB8AC3E}">
        <p14:creationId xmlns:p14="http://schemas.microsoft.com/office/powerpoint/2010/main" val="162782956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97D74BA-5436-4A2C-A51D-0D3F615FFD41}"/>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ADE7B0A5-589F-48BD-B93A-9966A48E8599}"/>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Состояние агента</a:t>
            </a:r>
          </a:p>
        </p:txBody>
      </p:sp>
      <p:sp>
        <p:nvSpPr>
          <p:cNvPr id="3" name="">
            <a:extLst xmlns:a="http://schemas.openxmlformats.org/drawingml/2006/main">
              <a:ext uri="{FF2B5EF4-FFF2-40B4-BE49-F238E27FC236}">
                <a16:creationId xmlns:a16="http://schemas.microsoft.com/office/drawing/2014/main" id="{C86BE291-5972-4B97-8020-7404A458BAD4}"/>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946999B-57C6-4CA6-B9FA-67BD9EF1B3C6}"/>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State: явная модель текущего контекста агента</a:t>
            </a:r>
          </a:p>
        </p:txBody>
      </p:sp>
      <p:sp>
        <p:nvSpPr>
          <p:cNvPr id="5" name="">
            <a:extLst xmlns:a="http://schemas.openxmlformats.org/drawingml/2006/main">
              <a:ext uri="{FF2B5EF4-FFF2-40B4-BE49-F238E27FC236}">
                <a16:creationId xmlns:a16="http://schemas.microsoft.com/office/drawing/2014/main" id="{D8CFE6C3-80CE-47CE-85E2-C638EFD0141C}"/>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8340B6C-2490-4DE1-990A-1E709DFEA981}"/>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Включает цели, план, память, наблюдения и результаты инструментов</a:t>
            </a:r>
          </a:p>
        </p:txBody>
      </p:sp>
      <p:sp>
        <p:nvSpPr>
          <p:cNvPr id="7" name="">
            <a:extLst xmlns:a="http://schemas.openxmlformats.org/drawingml/2006/main">
              <a:ext uri="{FF2B5EF4-FFF2-40B4-BE49-F238E27FC236}">
                <a16:creationId xmlns:a16="http://schemas.microsoft.com/office/drawing/2014/main" id="{64235CCE-1EE8-4239-B0CC-E3018893A0EB}"/>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A1437F9-F3D0-42DB-B540-DB60A4F115DB}"/>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Должен быть сериализуемым: его можно сохранить, передать, восстановить</a:t>
            </a:r>
          </a:p>
        </p:txBody>
      </p:sp>
      <p:sp>
        <p:nvSpPr>
          <p:cNvPr id="9" name="">
            <a:extLst xmlns:a="http://schemas.openxmlformats.org/drawingml/2006/main">
              <a:ext uri="{FF2B5EF4-FFF2-40B4-BE49-F238E27FC236}">
                <a16:creationId xmlns:a16="http://schemas.microsoft.com/office/drawing/2014/main" id="{6D9B9150-07CB-477B-A4F5-F20990D74441}"/>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2585E3F-CFF5-479F-A115-2BE47FB169AF}"/>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Помогает понять, почему агент выбрал следующий шаг</a:t>
            </a:r>
          </a:p>
        </p:txBody>
      </p:sp>
      <p:sp>
        <p:nvSpPr>
          <p:cNvPr id="11" name="">
            <a:extLst xmlns:a="http://schemas.openxmlformats.org/drawingml/2006/main">
              <a:ext uri="{FF2B5EF4-FFF2-40B4-BE49-F238E27FC236}">
                <a16:creationId xmlns:a16="http://schemas.microsoft.com/office/drawing/2014/main" id="{6C7CB834-08E1-43E0-A5E1-D3FF892A2385}"/>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88294B1-1C14-4189-A0E1-C8A87075714A}"/>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Чем яснее state, тем проще отлаживать агента</a:t>
            </a:r>
          </a:p>
        </p:txBody>
      </p:sp>
      <p:sp>
        <p:nvSpPr>
          <p:cNvPr id="13" name="">
            <a:extLst xmlns:a="http://schemas.openxmlformats.org/drawingml/2006/main">
              <a:ext uri="{FF2B5EF4-FFF2-40B4-BE49-F238E27FC236}">
                <a16:creationId xmlns:a16="http://schemas.microsoft.com/office/drawing/2014/main" id="{7E6AFDAA-6DA2-4D1D-89CA-A65FE29CE5F6}"/>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A950CC6-D6EE-41EE-82CB-DD3E72F0AC4B}"/>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5" name="">
            <a:extLst xmlns:a="http://schemas.openxmlformats.org/drawingml/2006/main">
              <a:ext uri="{FF2B5EF4-FFF2-40B4-BE49-F238E27FC236}">
                <a16:creationId xmlns:a16="http://schemas.microsoft.com/office/drawing/2014/main" id="{C6B780B5-24E1-4B09-9BAC-14EE9BF4E4AD}"/>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25/36</a:t>
            </a:r>
          </a:p>
        </p:txBody>
      </p:sp>
    </p:spTree>
    <p:extLst>
      <p:ext uri="{BB962C8B-B14F-4D97-AF65-F5344CB8AC3E}">
        <p14:creationId xmlns:p14="http://schemas.microsoft.com/office/powerpoint/2010/main" val="18723834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DFCE931-37FC-47A6-A2DA-EE6B775D9767}"/>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AD70DBDD-9E9A-4692-9CF1-21B6E7FAB191}"/>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ReAct как гибкая агентная архитектура</a:t>
            </a:r>
          </a:p>
        </p:txBody>
      </p:sp>
      <p:sp>
        <p:nvSpPr>
          <p:cNvPr id="3" name="">
            <a:extLst xmlns:a="http://schemas.openxmlformats.org/drawingml/2006/main">
              <a:ext uri="{FF2B5EF4-FFF2-40B4-BE49-F238E27FC236}">
                <a16:creationId xmlns:a16="http://schemas.microsoft.com/office/drawing/2014/main" id="{87896B23-EAB8-45EB-8A0D-48B32B381A60}"/>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83B33B0-0E4A-4238-A928-DD4A749FD238}"/>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ReAct: LLM принимает решение -&gt; выполняет действие -&gt; получает наблюдение -&gt; повторяет цикл</a:t>
            </a:r>
          </a:p>
        </p:txBody>
      </p:sp>
      <p:sp>
        <p:nvSpPr>
          <p:cNvPr id="5" name="">
            <a:extLst xmlns:a="http://schemas.openxmlformats.org/drawingml/2006/main">
              <a:ext uri="{FF2B5EF4-FFF2-40B4-BE49-F238E27FC236}">
                <a16:creationId xmlns:a16="http://schemas.microsoft.com/office/drawing/2014/main" id="{C981B200-D05F-41CE-9568-39A728FFA695}"/>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701EB0D-63E1-471C-8746-33B90555EFB6}"/>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Может использовать произвольное количество инструментов</a:t>
            </a:r>
          </a:p>
        </p:txBody>
      </p:sp>
      <p:sp>
        <p:nvSpPr>
          <p:cNvPr id="7" name="">
            <a:extLst xmlns:a="http://schemas.openxmlformats.org/drawingml/2006/main">
              <a:ext uri="{FF2B5EF4-FFF2-40B4-BE49-F238E27FC236}">
                <a16:creationId xmlns:a16="http://schemas.microsoft.com/office/drawing/2014/main" id="{1DD620DB-65DC-49A1-9442-F1A6E2466F5E}"/>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F23345E-26A0-4D8C-B6FC-0811148D0B28}"/>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Подходит для сложных workflows: поиск, очистка, запуск скриптов, отчеты</a:t>
            </a:r>
          </a:p>
        </p:txBody>
      </p:sp>
      <p:sp>
        <p:nvSpPr>
          <p:cNvPr id="9" name="">
            <a:extLst xmlns:a="http://schemas.openxmlformats.org/drawingml/2006/main">
              <a:ext uri="{FF2B5EF4-FFF2-40B4-BE49-F238E27FC236}">
                <a16:creationId xmlns:a16="http://schemas.microsoft.com/office/drawing/2014/main" id="{050A4C9F-D8EC-40B1-B07C-6294FD6FC8AD}"/>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29EAAFD-9283-4DB9-8C89-B3E54A3F0D50}"/>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Требует продвинутых моделей и строгого контроля</a:t>
            </a:r>
          </a:p>
        </p:txBody>
      </p:sp>
      <p:sp>
        <p:nvSpPr>
          <p:cNvPr id="11" name="">
            <a:extLst xmlns:a="http://schemas.openxmlformats.org/drawingml/2006/main">
              <a:ext uri="{FF2B5EF4-FFF2-40B4-BE49-F238E27FC236}">
                <a16:creationId xmlns:a16="http://schemas.microsoft.com/office/drawing/2014/main" id="{9F6CC66B-6C10-459B-8395-1D59D50ECB11}"/>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0785002-8645-4989-B342-F75A734BC3E2}"/>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Менее надежен, чем RAGBot или ChatBot, из-за вызова инструментов</a:t>
            </a:r>
          </a:p>
        </p:txBody>
      </p:sp>
      <p:sp>
        <p:nvSpPr>
          <p:cNvPr id="13" name="">
            <a:extLst xmlns:a="http://schemas.openxmlformats.org/drawingml/2006/main">
              <a:ext uri="{FF2B5EF4-FFF2-40B4-BE49-F238E27FC236}">
                <a16:creationId xmlns:a16="http://schemas.microsoft.com/office/drawing/2014/main" id="{9A8A8F0C-66C5-4B11-8D00-BD39E3FE6E65}"/>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44BD318-BFBD-415D-ABDC-4307FD31D697}"/>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5" name="">
            <a:extLst xmlns:a="http://schemas.openxmlformats.org/drawingml/2006/main">
              <a:ext uri="{FF2B5EF4-FFF2-40B4-BE49-F238E27FC236}">
                <a16:creationId xmlns:a16="http://schemas.microsoft.com/office/drawing/2014/main" id="{9A8F385D-BFE1-4552-824C-ED39DFF5DFAC}"/>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26/36</a:t>
            </a:r>
          </a:p>
        </p:txBody>
      </p:sp>
    </p:spTree>
    <p:extLst>
      <p:ext uri="{BB962C8B-B14F-4D97-AF65-F5344CB8AC3E}">
        <p14:creationId xmlns:p14="http://schemas.microsoft.com/office/powerpoint/2010/main" val="130177108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65D2615-D30C-4761-8537-F31A9E0BD09A}"/>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BECE6230-A171-4D54-8479-D290143BB9C0}"/>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Инструменты в агентских системах</a:t>
            </a:r>
          </a:p>
        </p:txBody>
      </p:sp>
      <p:sp>
        <p:nvSpPr>
          <p:cNvPr id="3" name="">
            <a:extLst xmlns:a="http://schemas.openxmlformats.org/drawingml/2006/main">
              <a:ext uri="{FF2B5EF4-FFF2-40B4-BE49-F238E27FC236}">
                <a16:creationId xmlns:a16="http://schemas.microsoft.com/office/drawing/2014/main" id="{FDF7F998-868E-4A21-88AB-E12C0A828AFC}"/>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12428D0-3B85-4C5E-AB75-F7098D5866D4}"/>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Инструменты: функции или API, которые модель выбирает и вызывает через формальный контракт</a:t>
            </a:r>
          </a:p>
        </p:txBody>
      </p:sp>
      <p:sp>
        <p:nvSpPr>
          <p:cNvPr id="5" name="">
            <a:extLst xmlns:a="http://schemas.openxmlformats.org/drawingml/2006/main">
              <a:ext uri="{FF2B5EF4-FFF2-40B4-BE49-F238E27FC236}">
                <a16:creationId xmlns:a16="http://schemas.microsoft.com/office/drawing/2014/main" id="{F049235C-8B0B-4C3C-B727-FAC4ED487CE4}"/>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2F983B4-9D04-444D-98B0-65A357BB2527}"/>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Тулза: функция с именем, описанием и JSON-схемой аргументов</a:t>
            </a:r>
          </a:p>
        </p:txBody>
      </p:sp>
      <p:sp>
        <p:nvSpPr>
          <p:cNvPr id="7" name="">
            <a:extLst xmlns:a="http://schemas.openxmlformats.org/drawingml/2006/main">
              <a:ext uri="{FF2B5EF4-FFF2-40B4-BE49-F238E27FC236}">
                <a16:creationId xmlns:a16="http://schemas.microsoft.com/office/drawing/2014/main" id="{4311B569-2ED9-4C39-B32F-DA6F2940FDF2}"/>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E55E26A-B0E7-43C0-9457-7168C09F28DA}"/>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Позволяют агенту действовать во внешнем мире</a:t>
            </a:r>
          </a:p>
        </p:txBody>
      </p:sp>
      <p:sp>
        <p:nvSpPr>
          <p:cNvPr id="9" name="">
            <a:extLst xmlns:a="http://schemas.openxmlformats.org/drawingml/2006/main">
              <a:ext uri="{FF2B5EF4-FFF2-40B4-BE49-F238E27FC236}">
                <a16:creationId xmlns:a16="http://schemas.microsoft.com/office/drawing/2014/main" id="{625A2DEE-1BBD-4BF9-973E-AC94EE10D714}"/>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C106BA6-D055-4082-A8BF-D497B18FAD3A}"/>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Бывают внутренними и внешними</a:t>
            </a:r>
          </a:p>
        </p:txBody>
      </p:sp>
      <p:sp>
        <p:nvSpPr>
          <p:cNvPr id="11" name="">
            <a:extLst xmlns:a="http://schemas.openxmlformats.org/drawingml/2006/main">
              <a:ext uri="{FF2B5EF4-FFF2-40B4-BE49-F238E27FC236}">
                <a16:creationId xmlns:a16="http://schemas.microsoft.com/office/drawing/2014/main" id="{E5929B90-AC45-45ED-88C8-5E17A88BD938}"/>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81C419F-5CAC-4992-B4FB-7AA6A9D4D082}"/>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Расширяют возможности агента: файлы, браузер, OCR, ASR, таблицы, базы данных, Git</a:t>
            </a:r>
          </a:p>
        </p:txBody>
      </p:sp>
      <p:sp>
        <p:nvSpPr>
          <p:cNvPr id="13" name="">
            <a:extLst xmlns:a="http://schemas.openxmlformats.org/drawingml/2006/main">
              <a:ext uri="{FF2B5EF4-FFF2-40B4-BE49-F238E27FC236}">
                <a16:creationId xmlns:a16="http://schemas.microsoft.com/office/drawing/2014/main" id="{5BED9B91-8BD1-42F5-9977-C723AD1B01BE}"/>
              </a:ext>
            </a:extLst>
          </p:cNvPr>
          <p:cNvSpPr>
            <a:spLocks xmlns:a="http://schemas.openxmlformats.org/drawingml/2006/main" noGrp="1"/>
          </p:cNvSpPr>
          <p:nvPr/>
        </p:nvSpPr>
        <p:spPr>
          <a:xfrm xmlns:a="http://schemas.openxmlformats.org/drawingml/2006/main">
            <a:off x="762000" y="46482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DCC82D3-5C4F-44F2-B650-A50A51FF3FA0}"/>
              </a:ext>
            </a:extLst>
          </p:cNvPr>
          <p:cNvSpPr>
            <a:spLocks xmlns:a="http://schemas.openxmlformats.org/drawingml/2006/main" noGrp="1"/>
          </p:cNvSpPr>
          <p:nvPr/>
        </p:nvSpPr>
        <p:spPr>
          <a:xfrm xmlns:a="http://schemas.openxmlformats.org/drawingml/2006/main">
            <a:off x="1047750" y="45720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Могут кэшировать информацию для оптимизации</a:t>
            </a:r>
          </a:p>
        </p:txBody>
      </p:sp>
      <p:sp>
        <p:nvSpPr>
          <p:cNvPr id="15" name="">
            <a:extLst xmlns:a="http://schemas.openxmlformats.org/drawingml/2006/main">
              <a:ext uri="{FF2B5EF4-FFF2-40B4-BE49-F238E27FC236}">
                <a16:creationId xmlns:a16="http://schemas.microsoft.com/office/drawing/2014/main" id="{31536D0C-DC88-419E-AAAB-B0200BF899AF}"/>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7BED210-913A-4053-91DF-ABEA4ABC368C}"/>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7" name="">
            <a:extLst xmlns:a="http://schemas.openxmlformats.org/drawingml/2006/main">
              <a:ext uri="{FF2B5EF4-FFF2-40B4-BE49-F238E27FC236}">
                <a16:creationId xmlns:a16="http://schemas.microsoft.com/office/drawing/2014/main" id="{042DD4B5-DB7A-4338-99B7-7A89709185F5}"/>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27/36</a:t>
            </a:r>
          </a:p>
        </p:txBody>
      </p:sp>
    </p:spTree>
    <p:extLst>
      <p:ext uri="{BB962C8B-B14F-4D97-AF65-F5344CB8AC3E}">
        <p14:creationId xmlns:p14="http://schemas.microsoft.com/office/powerpoint/2010/main" val="155210424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CF677EA-59B5-400D-911C-D5E2FDD51AE9}"/>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237FB310-A7E5-467C-9D90-77E3A1CB81CD}"/>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Как агенты помогают сохранять малоресурсные языки</a:t>
            </a:r>
          </a:p>
        </p:txBody>
      </p:sp>
      <p:sp>
        <p:nvSpPr>
          <p:cNvPr id="3" name="">
            <a:extLst xmlns:a="http://schemas.openxmlformats.org/drawingml/2006/main">
              <a:ext uri="{FF2B5EF4-FFF2-40B4-BE49-F238E27FC236}">
                <a16:creationId xmlns:a16="http://schemas.microsoft.com/office/drawing/2014/main" id="{0FF8E093-824C-40FC-B07D-6D594024223D}"/>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92EEA60-8322-4CFF-A8B4-446E2CB52B52}"/>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Мониторят новые источники текстов и аудио</a:t>
            </a:r>
          </a:p>
        </p:txBody>
      </p:sp>
      <p:sp>
        <p:nvSpPr>
          <p:cNvPr id="5" name="">
            <a:extLst xmlns:a="http://schemas.openxmlformats.org/drawingml/2006/main">
              <a:ext uri="{FF2B5EF4-FFF2-40B4-BE49-F238E27FC236}">
                <a16:creationId xmlns:a16="http://schemas.microsoft.com/office/drawing/2014/main" id="{87B418F2-412C-4A16-B37C-F90E9E2924CC}"/>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59FEED4-511E-49CA-B58A-7CF03E91479A}"/>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Запускают повторяемые пайплайны OCR, ASR, очистки и фильтрации</a:t>
            </a:r>
          </a:p>
        </p:txBody>
      </p:sp>
      <p:sp>
        <p:nvSpPr>
          <p:cNvPr id="7" name="">
            <a:extLst xmlns:a="http://schemas.openxmlformats.org/drawingml/2006/main">
              <a:ext uri="{FF2B5EF4-FFF2-40B4-BE49-F238E27FC236}">
                <a16:creationId xmlns:a16="http://schemas.microsoft.com/office/drawing/2014/main" id="{2E9FFFEA-4B49-4C0F-8FB9-A7D881788255}"/>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ACD5F3A-C0D5-42E2-8844-F47C9F32232D}"/>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Проверяют метаданные, лицензии и data cards</a:t>
            </a:r>
          </a:p>
        </p:txBody>
      </p:sp>
      <p:sp>
        <p:nvSpPr>
          <p:cNvPr id="9" name="">
            <a:extLst xmlns:a="http://schemas.openxmlformats.org/drawingml/2006/main">
              <a:ext uri="{FF2B5EF4-FFF2-40B4-BE49-F238E27FC236}">
                <a16:creationId xmlns:a16="http://schemas.microsoft.com/office/drawing/2014/main" id="{E8741D55-BAE6-4D46-B2D7-7910FF186330}"/>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B940070-DDBF-471B-9CD9-7394A49C75D6}"/>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Собирают отчеты о качестве корпуса</a:t>
            </a:r>
          </a:p>
        </p:txBody>
      </p:sp>
      <p:sp>
        <p:nvSpPr>
          <p:cNvPr id="11" name="">
            <a:extLst xmlns:a="http://schemas.openxmlformats.org/drawingml/2006/main">
              <a:ext uri="{FF2B5EF4-FFF2-40B4-BE49-F238E27FC236}">
                <a16:creationId xmlns:a16="http://schemas.microsoft.com/office/drawing/2014/main" id="{E9A7976F-EA86-4FFF-AB2E-019BD10D728B}"/>
              </a:ext>
            </a:extLst>
          </p:cNvPr>
          <p:cNvSpPr>
            <a:spLocks xmlns:a="http://schemas.openxmlformats.org/drawingml/2006/main" noGrp="1"/>
          </p:cNvSpPr>
          <p:nvPr/>
        </p:nvSpPr>
        <p:spPr>
          <a:xfrm xmlns:a="http://schemas.openxmlformats.org/drawingml/2006/main">
            <a:off x="762000" y="4095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AF0DCBD-7038-421E-8FB3-401DE53B9730}"/>
              </a:ext>
            </a:extLst>
          </p:cNvPr>
          <p:cNvSpPr>
            <a:spLocks xmlns:a="http://schemas.openxmlformats.org/drawingml/2006/main" noGrp="1"/>
          </p:cNvSpPr>
          <p:nvPr/>
        </p:nvSpPr>
        <p:spPr>
          <a:xfrm xmlns:a="http://schemas.openxmlformats.org/drawingml/2006/main">
            <a:off x="1047750" y="40195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Помогают командам не терять контекст проекта</a:t>
            </a:r>
          </a:p>
        </p:txBody>
      </p:sp>
      <p:sp>
        <p:nvSpPr>
          <p:cNvPr id="13" name="">
            <a:extLst xmlns:a="http://schemas.openxmlformats.org/drawingml/2006/main">
              <a:ext uri="{FF2B5EF4-FFF2-40B4-BE49-F238E27FC236}">
                <a16:creationId xmlns:a16="http://schemas.microsoft.com/office/drawing/2014/main" id="{ED587F69-3939-4F7F-A9B5-7B016277AB10}"/>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14BCE42-5F20-4207-A53D-5DFC7E16F0D8}"/>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5" name="">
            <a:extLst xmlns:a="http://schemas.openxmlformats.org/drawingml/2006/main">
              <a:ext uri="{FF2B5EF4-FFF2-40B4-BE49-F238E27FC236}">
                <a16:creationId xmlns:a16="http://schemas.microsoft.com/office/drawing/2014/main" id="{37752FA9-AC3B-4A2E-B461-57D2AB044A8D}"/>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28/36</a:t>
            </a:r>
          </a:p>
        </p:txBody>
      </p:sp>
    </p:spTree>
    <p:extLst>
      <p:ext uri="{BB962C8B-B14F-4D97-AF65-F5344CB8AC3E}">
        <p14:creationId xmlns:p14="http://schemas.microsoft.com/office/powerpoint/2010/main" val="95676167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161FCC6-C974-46C2-990F-AACF4083183E}"/>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EFEB4C9E-AFD6-40E8-957A-51ED3DCCF57D}"/>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Self-hosted агентная лаборатория</a:t>
            </a:r>
          </a:p>
        </p:txBody>
      </p:sp>
      <p:sp>
        <p:nvSpPr>
          <p:cNvPr id="3" name="">
            <a:extLst xmlns:a="http://schemas.openxmlformats.org/drawingml/2006/main">
              <a:ext uri="{FF2B5EF4-FFF2-40B4-BE49-F238E27FC236}">
                <a16:creationId xmlns:a16="http://schemas.microsoft.com/office/drawing/2014/main" id="{BDE3D839-34BA-4D37-B262-46FF74B5A0EF}"/>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F81ABDA-BAAE-4DA4-AB88-BD680C004EDC}"/>
              </a:ext>
            </a:extLst>
          </p:cNvPr>
          <p:cNvSpPr>
            <a:spLocks xmlns:a="http://schemas.openxmlformats.org/drawingml/2006/main" noGrp="1"/>
          </p:cNvSpPr>
          <p:nvPr/>
        </p:nvSpPr>
        <p:spPr>
          <a:xfrm xmlns:a="http://schemas.openxmlformats.org/drawingml/2006/main">
            <a:off x="1047750" y="18097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OpenClaw / аналоги: LLM + память + инструменты + skills + каналы связи</a:t>
            </a:r>
          </a:p>
        </p:txBody>
      </p:sp>
      <p:sp>
        <p:nvSpPr>
          <p:cNvPr id="5" name="">
            <a:extLst xmlns:a="http://schemas.openxmlformats.org/drawingml/2006/main">
              <a:ext uri="{FF2B5EF4-FFF2-40B4-BE49-F238E27FC236}">
                <a16:creationId xmlns:a16="http://schemas.microsoft.com/office/drawing/2014/main" id="{3878E107-8617-4EC6-A4B5-C5D36B60754C}"/>
              </a:ext>
            </a:extLst>
          </p:cNvPr>
          <p:cNvSpPr>
            <a:spLocks xmlns:a="http://schemas.openxmlformats.org/drawingml/2006/main" noGrp="1"/>
          </p:cNvSpPr>
          <p:nvPr/>
        </p:nvSpPr>
        <p:spPr>
          <a:xfrm xmlns:a="http://schemas.openxmlformats.org/drawingml/2006/main">
            <a:off x="762000" y="24384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65DAE8E-4955-4D5C-9D2D-40590EB93904}"/>
              </a:ext>
            </a:extLst>
          </p:cNvPr>
          <p:cNvSpPr>
            <a:spLocks xmlns:a="http://schemas.openxmlformats.org/drawingml/2006/main" noGrp="1"/>
          </p:cNvSpPr>
          <p:nvPr/>
        </p:nvSpPr>
        <p:spPr>
          <a:xfrm xmlns:a="http://schemas.openxmlformats.org/drawingml/2006/main">
            <a:off x="1047750" y="23622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Задача не "поговорить", а выполнять повторяемые workflows</a:t>
            </a:r>
          </a:p>
        </p:txBody>
      </p:sp>
      <p:sp>
        <p:nvSpPr>
          <p:cNvPr id="7" name="">
            <a:extLst xmlns:a="http://schemas.openxmlformats.org/drawingml/2006/main">
              <a:ext uri="{FF2B5EF4-FFF2-40B4-BE49-F238E27FC236}">
                <a16:creationId xmlns:a16="http://schemas.microsoft.com/office/drawing/2014/main" id="{2FBF63CA-54E8-42CE-A3D0-DA9E55015A5F}"/>
              </a:ext>
            </a:extLst>
          </p:cNvPr>
          <p:cNvSpPr>
            <a:spLocks xmlns:a="http://schemas.openxmlformats.org/drawingml/2006/main" noGrp="1"/>
          </p:cNvSpPr>
          <p:nvPr/>
        </p:nvSpPr>
        <p:spPr>
          <a:xfrm xmlns:a="http://schemas.openxmlformats.org/drawingml/2006/main">
            <a:off x="762000" y="29908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C4F2AD8-50E8-426A-801E-A810E3AA29EE}"/>
              </a:ext>
            </a:extLst>
          </p:cNvPr>
          <p:cNvSpPr>
            <a:spLocks xmlns:a="http://schemas.openxmlformats.org/drawingml/2006/main" noGrp="1"/>
          </p:cNvSpPr>
          <p:nvPr/>
        </p:nvSpPr>
        <p:spPr>
          <a:xfrm xmlns:a="http://schemas.openxmlformats.org/drawingml/2006/main">
            <a:off x="1047750" y="291465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Примеры: мониторинг источников, очистка корпуса, OCR/ASR-отчеты, проверка data card</a:t>
            </a:r>
          </a:p>
        </p:txBody>
      </p:sp>
      <p:sp>
        <p:nvSpPr>
          <p:cNvPr id="9" name="">
            <a:extLst xmlns:a="http://schemas.openxmlformats.org/drawingml/2006/main">
              <a:ext uri="{FF2B5EF4-FFF2-40B4-BE49-F238E27FC236}">
                <a16:creationId xmlns:a16="http://schemas.microsoft.com/office/drawing/2014/main" id="{DC8511D1-CB4D-4B3B-B834-CFFE49888744}"/>
              </a:ext>
            </a:extLst>
          </p:cNvPr>
          <p:cNvSpPr>
            <a:spLocks xmlns:a="http://schemas.openxmlformats.org/drawingml/2006/main" noGrp="1"/>
          </p:cNvSpPr>
          <p:nvPr/>
        </p:nvSpPr>
        <p:spPr>
          <a:xfrm xmlns:a="http://schemas.openxmlformats.org/drawingml/2006/main">
            <a:off x="762000" y="354330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3454583-565A-4F3A-B301-6F9F40C81FA4}"/>
              </a:ext>
            </a:extLst>
          </p:cNvPr>
          <p:cNvSpPr>
            <a:spLocks xmlns:a="http://schemas.openxmlformats.org/drawingml/2006/main" noGrp="1"/>
          </p:cNvSpPr>
          <p:nvPr/>
        </p:nvSpPr>
        <p:spPr>
          <a:xfrm xmlns:a="http://schemas.openxmlformats.org/drawingml/2006/main">
            <a:off x="1047750" y="34671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1D2433"/>
                </a:solidFill>
              </a:defRPr>
            </a:pPr>
            <a:r>
              <a:rPr sz="1575">
                <a:solidFill>
                  <a:srgbClr val="1D2433"/>
                </a:solidFill>
              </a:rPr>
              <a:t>Для курса: проектируем агента сначала на бумаге, внедряем только если окупается</a:t>
            </a:r>
          </a:p>
        </p:txBody>
      </p:sp>
      <p:sp>
        <p:nvSpPr>
          <p:cNvPr id="11" name="">
            <a:extLst xmlns:a="http://schemas.openxmlformats.org/drawingml/2006/main">
              <a:ext uri="{FF2B5EF4-FFF2-40B4-BE49-F238E27FC236}">
                <a16:creationId xmlns:a16="http://schemas.microsoft.com/office/drawing/2014/main" id="{DC9149B9-6002-4299-9CC6-E2E4F4DBB889}"/>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5651682-655B-48CA-B878-A67FE225202D}"/>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3" name="">
            <a:extLst xmlns:a="http://schemas.openxmlformats.org/drawingml/2006/main">
              <a:ext uri="{FF2B5EF4-FFF2-40B4-BE49-F238E27FC236}">
                <a16:creationId xmlns:a16="http://schemas.microsoft.com/office/drawing/2014/main" id="{26FE6B8F-5A91-4176-84C7-9AA61A49FF3F}"/>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29/36</a:t>
            </a:r>
          </a:p>
        </p:txBody>
      </p:sp>
    </p:spTree>
    <p:extLst>
      <p:ext uri="{BB962C8B-B14F-4D97-AF65-F5344CB8AC3E}">
        <p14:creationId xmlns:p14="http://schemas.microsoft.com/office/powerpoint/2010/main" val="191778385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502D895-00CC-4E6E-99C2-E6E65DAB7911}"/>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5C8FE52E-342E-4F53-A486-C5011C54034E}"/>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Риски LLM и агентного подхода</a:t>
            </a:r>
          </a:p>
        </p:txBody>
      </p:sp>
      <p:sp>
        <p:nvSpPr>
          <p:cNvPr id="3" name="">
            <a:extLst xmlns:a="http://schemas.openxmlformats.org/drawingml/2006/main">
              <a:ext uri="{FF2B5EF4-FFF2-40B4-BE49-F238E27FC236}">
                <a16:creationId xmlns:a16="http://schemas.microsoft.com/office/drawing/2014/main" id="{FB8B4822-06D8-4D31-B08A-1B5DFFFDD17F}"/>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B9A06D1-F525-4004-805B-0985ABB6B4D4}"/>
              </a:ext>
            </a:extLst>
          </p:cNvPr>
          <p:cNvSpPr>
            <a:spLocks xmlns:a="http://schemas.openxmlformats.org/drawingml/2006/main" noGrp="1"/>
          </p:cNvSpPr>
          <p:nvPr/>
        </p:nvSpPr>
        <p:spPr>
          <a:xfrm xmlns:a="http://schemas.openxmlformats.org/drawingml/2006/main">
            <a:off x="1047750" y="18097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Выдуманные источники</a:t>
            </a:r>
          </a:p>
        </p:txBody>
      </p:sp>
      <p:sp>
        <p:nvSpPr>
          <p:cNvPr id="5" name="">
            <a:extLst xmlns:a="http://schemas.openxmlformats.org/drawingml/2006/main">
              <a:ext uri="{FF2B5EF4-FFF2-40B4-BE49-F238E27FC236}">
                <a16:creationId xmlns:a16="http://schemas.microsoft.com/office/drawing/2014/main" id="{0186BD1C-8F60-4D02-BD30-5AF88DFCA3F4}"/>
              </a:ext>
            </a:extLst>
          </p:cNvPr>
          <p:cNvSpPr>
            <a:spLocks xmlns:a="http://schemas.openxmlformats.org/drawingml/2006/main" noGrp="1"/>
          </p:cNvSpPr>
          <p:nvPr/>
        </p:nvSpPr>
        <p:spPr>
          <a:xfrm xmlns:a="http://schemas.openxmlformats.org/drawingml/2006/main">
            <a:off x="762000" y="23431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F6E5EDF-DFBB-4EAE-A74F-26C1F6D9A0B8}"/>
              </a:ext>
            </a:extLst>
          </p:cNvPr>
          <p:cNvSpPr>
            <a:spLocks xmlns:a="http://schemas.openxmlformats.org/drawingml/2006/main" noGrp="1"/>
          </p:cNvSpPr>
          <p:nvPr/>
        </p:nvSpPr>
        <p:spPr>
          <a:xfrm xmlns:a="http://schemas.openxmlformats.org/drawingml/2006/main">
            <a:off x="1047750" y="22669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Неверное определение языка</a:t>
            </a:r>
          </a:p>
        </p:txBody>
      </p:sp>
      <p:sp>
        <p:nvSpPr>
          <p:cNvPr id="7" name="">
            <a:extLst xmlns:a="http://schemas.openxmlformats.org/drawingml/2006/main">
              <a:ext uri="{FF2B5EF4-FFF2-40B4-BE49-F238E27FC236}">
                <a16:creationId xmlns:a16="http://schemas.microsoft.com/office/drawing/2014/main" id="{E3873B99-D4F1-43F3-881B-8546BC1DA63A}"/>
              </a:ext>
            </a:extLst>
          </p:cNvPr>
          <p:cNvSpPr>
            <a:spLocks xmlns:a="http://schemas.openxmlformats.org/drawingml/2006/main" noGrp="1"/>
          </p:cNvSpPr>
          <p:nvPr/>
        </p:nvSpPr>
        <p:spPr>
          <a:xfrm xmlns:a="http://schemas.openxmlformats.org/drawingml/2006/main">
            <a:off x="762000" y="28003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99BD06C-94AA-4E4A-A3CF-48687E18D47E}"/>
              </a:ext>
            </a:extLst>
          </p:cNvPr>
          <p:cNvSpPr>
            <a:spLocks xmlns:a="http://schemas.openxmlformats.org/drawingml/2006/main" noGrp="1"/>
          </p:cNvSpPr>
          <p:nvPr/>
        </p:nvSpPr>
        <p:spPr>
          <a:xfrm xmlns:a="http://schemas.openxmlformats.org/drawingml/2006/main">
            <a:off x="1047750" y="27241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Стирание диалектных и редких форм</a:t>
            </a:r>
          </a:p>
        </p:txBody>
      </p:sp>
      <p:sp>
        <p:nvSpPr>
          <p:cNvPr id="9" name="">
            <a:extLst xmlns:a="http://schemas.openxmlformats.org/drawingml/2006/main">
              <a:ext uri="{FF2B5EF4-FFF2-40B4-BE49-F238E27FC236}">
                <a16:creationId xmlns:a16="http://schemas.microsoft.com/office/drawing/2014/main" id="{946C54FE-5966-4EDC-9A96-0E743CAA033F}"/>
              </a:ext>
            </a:extLst>
          </p:cNvPr>
          <p:cNvSpPr>
            <a:spLocks xmlns:a="http://schemas.openxmlformats.org/drawingml/2006/main" noGrp="1"/>
          </p:cNvSpPr>
          <p:nvPr/>
        </p:nvSpPr>
        <p:spPr>
          <a:xfrm xmlns:a="http://schemas.openxmlformats.org/drawingml/2006/main">
            <a:off x="762000" y="32575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29465CA-44AE-44B3-8327-E4F2C9D531FE}"/>
              </a:ext>
            </a:extLst>
          </p:cNvPr>
          <p:cNvSpPr>
            <a:spLocks xmlns:a="http://schemas.openxmlformats.org/drawingml/2006/main" noGrp="1"/>
          </p:cNvSpPr>
          <p:nvPr/>
        </p:nvSpPr>
        <p:spPr>
          <a:xfrm xmlns:a="http://schemas.openxmlformats.org/drawingml/2006/main">
            <a:off x="1047750" y="31813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Нарушение приватности</a:t>
            </a:r>
          </a:p>
        </p:txBody>
      </p:sp>
      <p:sp>
        <p:nvSpPr>
          <p:cNvPr id="11" name="">
            <a:extLst xmlns:a="http://schemas.openxmlformats.org/drawingml/2006/main">
              <a:ext uri="{FF2B5EF4-FFF2-40B4-BE49-F238E27FC236}">
                <a16:creationId xmlns:a16="http://schemas.microsoft.com/office/drawing/2014/main" id="{F3FF85D5-7BAD-4BE0-9371-4ABC4B3208EA}"/>
              </a:ext>
            </a:extLst>
          </p:cNvPr>
          <p:cNvSpPr>
            <a:spLocks xmlns:a="http://schemas.openxmlformats.org/drawingml/2006/main" noGrp="1"/>
          </p:cNvSpPr>
          <p:nvPr/>
        </p:nvSpPr>
        <p:spPr>
          <a:xfrm xmlns:a="http://schemas.openxmlformats.org/drawingml/2006/main">
            <a:off x="762000" y="3714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74754D1-B91E-4609-AC07-5A96A9C99EA8}"/>
              </a:ext>
            </a:extLst>
          </p:cNvPr>
          <p:cNvSpPr>
            <a:spLocks xmlns:a="http://schemas.openxmlformats.org/drawingml/2006/main" noGrp="1"/>
          </p:cNvSpPr>
          <p:nvPr/>
        </p:nvSpPr>
        <p:spPr>
          <a:xfrm xmlns:a="http://schemas.openxmlformats.org/drawingml/2006/main">
            <a:off x="1047750" y="36385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Синтетические данные без маркировки</a:t>
            </a:r>
          </a:p>
        </p:txBody>
      </p:sp>
      <p:sp>
        <p:nvSpPr>
          <p:cNvPr id="13" name="">
            <a:extLst xmlns:a="http://schemas.openxmlformats.org/drawingml/2006/main">
              <a:ext uri="{FF2B5EF4-FFF2-40B4-BE49-F238E27FC236}">
                <a16:creationId xmlns:a16="http://schemas.microsoft.com/office/drawing/2014/main" id="{E3CC99C2-0FB8-4FFA-95D0-680E76A013D0}"/>
              </a:ext>
            </a:extLst>
          </p:cNvPr>
          <p:cNvSpPr>
            <a:spLocks xmlns:a="http://schemas.openxmlformats.org/drawingml/2006/main" noGrp="1"/>
          </p:cNvSpPr>
          <p:nvPr/>
        </p:nvSpPr>
        <p:spPr>
          <a:xfrm xmlns:a="http://schemas.openxmlformats.org/drawingml/2006/main">
            <a:off x="762000" y="41719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6407545-3E81-44A5-B1D2-8169FCE5CCA3}"/>
              </a:ext>
            </a:extLst>
          </p:cNvPr>
          <p:cNvSpPr>
            <a:spLocks xmlns:a="http://schemas.openxmlformats.org/drawingml/2006/main" noGrp="1"/>
          </p:cNvSpPr>
          <p:nvPr/>
        </p:nvSpPr>
        <p:spPr>
          <a:xfrm xmlns:a="http://schemas.openxmlformats.org/drawingml/2006/main">
            <a:off x="1047750" y="40957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Код, который работает "на примере", но ломается на корпусе</a:t>
            </a:r>
          </a:p>
        </p:txBody>
      </p:sp>
      <p:sp>
        <p:nvSpPr>
          <p:cNvPr id="15" name="">
            <a:extLst xmlns:a="http://schemas.openxmlformats.org/drawingml/2006/main">
              <a:ext uri="{FF2B5EF4-FFF2-40B4-BE49-F238E27FC236}">
                <a16:creationId xmlns:a16="http://schemas.microsoft.com/office/drawing/2014/main" id="{4D8510A2-8366-43E4-8EB9-62463E479310}"/>
              </a:ext>
            </a:extLst>
          </p:cNvPr>
          <p:cNvSpPr>
            <a:spLocks xmlns:a="http://schemas.openxmlformats.org/drawingml/2006/main" noGrp="1"/>
          </p:cNvSpPr>
          <p:nvPr/>
        </p:nvSpPr>
        <p:spPr>
          <a:xfrm xmlns:a="http://schemas.openxmlformats.org/drawingml/2006/main">
            <a:off x="762000" y="46291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4457F4D-1F1F-4A3A-B6E8-9DCE5F0D52E4}"/>
              </a:ext>
            </a:extLst>
          </p:cNvPr>
          <p:cNvSpPr>
            <a:spLocks xmlns:a="http://schemas.openxmlformats.org/drawingml/2006/main" noGrp="1"/>
          </p:cNvSpPr>
          <p:nvPr/>
        </p:nvSpPr>
        <p:spPr>
          <a:xfrm xmlns:a="http://schemas.openxmlformats.org/drawingml/2006/main">
            <a:off x="1047750" y="45529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Избыточная инфраструктура вместо простой таблицы и понятного процесса</a:t>
            </a:r>
          </a:p>
        </p:txBody>
      </p:sp>
      <p:sp>
        <p:nvSpPr>
          <p:cNvPr id="17" name="">
            <a:extLst xmlns:a="http://schemas.openxmlformats.org/drawingml/2006/main">
              <a:ext uri="{FF2B5EF4-FFF2-40B4-BE49-F238E27FC236}">
                <a16:creationId xmlns:a16="http://schemas.microsoft.com/office/drawing/2014/main" id="{8F8A158A-7AAC-4ED2-9D87-C57AA86ECAEC}"/>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8C03B05-5F18-49D0-B5D8-1ED38ADCB9C2}"/>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19" name="">
            <a:extLst xmlns:a="http://schemas.openxmlformats.org/drawingml/2006/main">
              <a:ext uri="{FF2B5EF4-FFF2-40B4-BE49-F238E27FC236}">
                <a16:creationId xmlns:a16="http://schemas.microsoft.com/office/drawing/2014/main" id="{FB7520D6-E3FD-470D-A2D2-377CEDDF5580}"/>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30/36</a:t>
            </a:r>
          </a:p>
        </p:txBody>
      </p:sp>
    </p:spTree>
    <p:extLst>
      <p:ext uri="{BB962C8B-B14F-4D97-AF65-F5344CB8AC3E}">
        <p14:creationId xmlns:p14="http://schemas.microsoft.com/office/powerpoint/2010/main" val="61020438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33BE425-A149-4292-80C6-A5FF42DDE874}"/>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87"/>
                </a:solidFill>
              </a:defRPr>
            </a:pPr>
            <a:r>
              <a:rPr sz="975" b="1">
                <a:solidFill>
                  <a:srgbClr val="176B87"/>
                </a:solidFill>
              </a:rPr>
              <a:t>ЛЕКЦИЯ</a:t>
            </a:r>
          </a:p>
        </p:txBody>
      </p:sp>
      <p:sp>
        <p:nvSpPr>
          <p:cNvPr id="2" name="">
            <a:extLst xmlns:a="http://schemas.openxmlformats.org/drawingml/2006/main">
              <a:ext uri="{FF2B5EF4-FFF2-40B4-BE49-F238E27FC236}">
                <a16:creationId xmlns:a16="http://schemas.microsoft.com/office/drawing/2014/main" id="{8F35F3D3-5C66-4449-9DDF-43CC8A1DCCB0}"/>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Домашнее задание 1</a:t>
            </a:r>
          </a:p>
        </p:txBody>
      </p:sp>
      <p:sp>
        <p:nvSpPr>
          <p:cNvPr id="3" name="">
            <a:extLst xmlns:a="http://schemas.openxmlformats.org/drawingml/2006/main">
              <a:ext uri="{FF2B5EF4-FFF2-40B4-BE49-F238E27FC236}">
                <a16:creationId xmlns:a16="http://schemas.microsoft.com/office/drawing/2014/main" id="{C857F703-92D6-404C-8A03-7F85CD54AA49}"/>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200C264-4917-4D7A-87D0-7A381C5EEDC3}"/>
              </a:ext>
            </a:extLst>
          </p:cNvPr>
          <p:cNvSpPr>
            <a:spLocks xmlns:a="http://schemas.openxmlformats.org/drawingml/2006/main" noGrp="1"/>
          </p:cNvSpPr>
          <p:nvPr/>
        </p:nvSpPr>
        <p:spPr>
          <a:xfrm xmlns:a="http://schemas.openxmlformats.org/drawingml/2006/main">
            <a:off x="1047750" y="18097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Заполнить индивидуальную анкету</a:t>
            </a:r>
          </a:p>
        </p:txBody>
      </p:sp>
      <p:sp>
        <p:nvSpPr>
          <p:cNvPr id="5" name="">
            <a:extLst xmlns:a="http://schemas.openxmlformats.org/drawingml/2006/main">
              <a:ext uri="{FF2B5EF4-FFF2-40B4-BE49-F238E27FC236}">
                <a16:creationId xmlns:a16="http://schemas.microsoft.com/office/drawing/2014/main" id="{E5DAB6E5-AEDA-4E64-8FA2-25B4BEEE5BFB}"/>
              </a:ext>
            </a:extLst>
          </p:cNvPr>
          <p:cNvSpPr>
            <a:spLocks xmlns:a="http://schemas.openxmlformats.org/drawingml/2006/main" noGrp="1"/>
          </p:cNvSpPr>
          <p:nvPr/>
        </p:nvSpPr>
        <p:spPr>
          <a:xfrm xmlns:a="http://schemas.openxmlformats.org/drawingml/2006/main">
            <a:off x="762000" y="23431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5440C97-2B40-416F-BB42-BCC5DD562FAD}"/>
              </a:ext>
            </a:extLst>
          </p:cNvPr>
          <p:cNvSpPr>
            <a:spLocks xmlns:a="http://schemas.openxmlformats.org/drawingml/2006/main" noGrp="1"/>
          </p:cNvSpPr>
          <p:nvPr/>
        </p:nvSpPr>
        <p:spPr>
          <a:xfrm xmlns:a="http://schemas.openxmlformats.org/drawingml/2006/main">
            <a:off x="1047750" y="22669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Проверить доступ к Codex, Claude Code или другому агентному инструменту</a:t>
            </a:r>
          </a:p>
        </p:txBody>
      </p:sp>
      <p:sp>
        <p:nvSpPr>
          <p:cNvPr id="7" name="">
            <a:extLst xmlns:a="http://schemas.openxmlformats.org/drawingml/2006/main">
              <a:ext uri="{FF2B5EF4-FFF2-40B4-BE49-F238E27FC236}">
                <a16:creationId xmlns:a16="http://schemas.microsoft.com/office/drawing/2014/main" id="{18EE729A-EFCB-4D21-832F-88AF90EBFBE0}"/>
              </a:ext>
            </a:extLst>
          </p:cNvPr>
          <p:cNvSpPr>
            <a:spLocks xmlns:a="http://schemas.openxmlformats.org/drawingml/2006/main" noGrp="1"/>
          </p:cNvSpPr>
          <p:nvPr/>
        </p:nvSpPr>
        <p:spPr>
          <a:xfrm xmlns:a="http://schemas.openxmlformats.org/drawingml/2006/main">
            <a:off x="762000" y="28003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6FF9C6D-B0C1-4B56-B724-7EE4235F0681}"/>
              </a:ext>
            </a:extLst>
          </p:cNvPr>
          <p:cNvSpPr>
            <a:spLocks xmlns:a="http://schemas.openxmlformats.org/drawingml/2006/main" noGrp="1"/>
          </p:cNvSpPr>
          <p:nvPr/>
        </p:nvSpPr>
        <p:spPr>
          <a:xfrm xmlns:a="http://schemas.openxmlformats.org/drawingml/2006/main">
            <a:off x="1047750" y="27241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Если используется Codex, подключить GitHub или учебный репозиторий</a:t>
            </a:r>
          </a:p>
        </p:txBody>
      </p:sp>
      <p:sp>
        <p:nvSpPr>
          <p:cNvPr id="9" name="">
            <a:extLst xmlns:a="http://schemas.openxmlformats.org/drawingml/2006/main">
              <a:ext uri="{FF2B5EF4-FFF2-40B4-BE49-F238E27FC236}">
                <a16:creationId xmlns:a16="http://schemas.microsoft.com/office/drawing/2014/main" id="{C390E485-291A-4D18-BC20-E9F5FB7B9653}"/>
              </a:ext>
            </a:extLst>
          </p:cNvPr>
          <p:cNvSpPr>
            <a:spLocks xmlns:a="http://schemas.openxmlformats.org/drawingml/2006/main" noGrp="1"/>
          </p:cNvSpPr>
          <p:nvPr/>
        </p:nvSpPr>
        <p:spPr>
          <a:xfrm xmlns:a="http://schemas.openxmlformats.org/drawingml/2006/main">
            <a:off x="762000" y="32575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A803042-B214-479C-A254-23E6DCF40FA7}"/>
              </a:ext>
            </a:extLst>
          </p:cNvPr>
          <p:cNvSpPr>
            <a:spLocks xmlns:a="http://schemas.openxmlformats.org/drawingml/2006/main" noGrp="1"/>
          </p:cNvSpPr>
          <p:nvPr/>
        </p:nvSpPr>
        <p:spPr>
          <a:xfrm xmlns:a="http://schemas.openxmlformats.org/drawingml/2006/main">
            <a:off x="1047750" y="31813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Создать папку или репозиторий проекта для курса</a:t>
            </a:r>
          </a:p>
        </p:txBody>
      </p:sp>
      <p:sp>
        <p:nvSpPr>
          <p:cNvPr id="11" name="">
            <a:extLst xmlns:a="http://schemas.openxmlformats.org/drawingml/2006/main">
              <a:ext uri="{FF2B5EF4-FFF2-40B4-BE49-F238E27FC236}">
                <a16:creationId xmlns:a16="http://schemas.microsoft.com/office/drawing/2014/main" id="{7A6006F3-332D-4112-B4D9-DC7756D355F2}"/>
              </a:ext>
            </a:extLst>
          </p:cNvPr>
          <p:cNvSpPr>
            <a:spLocks xmlns:a="http://schemas.openxmlformats.org/drawingml/2006/main" noGrp="1"/>
          </p:cNvSpPr>
          <p:nvPr/>
        </p:nvSpPr>
        <p:spPr>
          <a:xfrm xmlns:a="http://schemas.openxmlformats.org/drawingml/2006/main">
            <a:off x="762000" y="3714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8209BF7-F499-46F5-8472-E1F57929B2D4}"/>
              </a:ext>
            </a:extLst>
          </p:cNvPr>
          <p:cNvSpPr>
            <a:spLocks xmlns:a="http://schemas.openxmlformats.org/drawingml/2006/main" noGrp="1"/>
          </p:cNvSpPr>
          <p:nvPr/>
        </p:nvSpPr>
        <p:spPr>
          <a:xfrm xmlns:a="http://schemas.openxmlformats.org/drawingml/2006/main">
            <a:off x="1047750" y="36385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Описать навыки, интересы и опыт с LLM/агентами</a:t>
            </a:r>
          </a:p>
        </p:txBody>
      </p:sp>
      <p:sp>
        <p:nvSpPr>
          <p:cNvPr id="13" name="">
            <a:extLst xmlns:a="http://schemas.openxmlformats.org/drawingml/2006/main">
              <a:ext uri="{FF2B5EF4-FFF2-40B4-BE49-F238E27FC236}">
                <a16:creationId xmlns:a16="http://schemas.microsoft.com/office/drawing/2014/main" id="{CF2FE729-40AC-4636-AB8F-08E4B721EDD6}"/>
              </a:ext>
            </a:extLst>
          </p:cNvPr>
          <p:cNvSpPr>
            <a:spLocks xmlns:a="http://schemas.openxmlformats.org/drawingml/2006/main" noGrp="1"/>
          </p:cNvSpPr>
          <p:nvPr/>
        </p:nvSpPr>
        <p:spPr>
          <a:xfrm xmlns:a="http://schemas.openxmlformats.org/drawingml/2006/main">
            <a:off x="762000" y="41719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CCE2890-37A9-48F7-9210-8EE2A9171CFC}"/>
              </a:ext>
            </a:extLst>
          </p:cNvPr>
          <p:cNvSpPr>
            <a:spLocks xmlns:a="http://schemas.openxmlformats.org/drawingml/2006/main" noGrp="1"/>
          </p:cNvSpPr>
          <p:nvPr/>
        </p:nvSpPr>
        <p:spPr>
          <a:xfrm xmlns:a="http://schemas.openxmlformats.org/drawingml/2006/main">
            <a:off x="1047750" y="40957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Указать языковую экспертизу и уровень программирования</a:t>
            </a:r>
          </a:p>
        </p:txBody>
      </p:sp>
      <p:sp>
        <p:nvSpPr>
          <p:cNvPr id="15" name="">
            <a:extLst xmlns:a="http://schemas.openxmlformats.org/drawingml/2006/main">
              <a:ext uri="{FF2B5EF4-FFF2-40B4-BE49-F238E27FC236}">
                <a16:creationId xmlns:a16="http://schemas.microsoft.com/office/drawing/2014/main" id="{31FBEFC5-52CA-40BC-9646-946E90D0852E}"/>
              </a:ext>
            </a:extLst>
          </p:cNvPr>
          <p:cNvSpPr>
            <a:spLocks xmlns:a="http://schemas.openxmlformats.org/drawingml/2006/main" noGrp="1"/>
          </p:cNvSpPr>
          <p:nvPr/>
        </p:nvSpPr>
        <p:spPr>
          <a:xfrm xmlns:a="http://schemas.openxmlformats.org/drawingml/2006/main">
            <a:off x="762000" y="46291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9652A54-1DCB-4BFA-A2DA-042758936113}"/>
              </a:ext>
            </a:extLst>
          </p:cNvPr>
          <p:cNvSpPr>
            <a:spLocks xmlns:a="http://schemas.openxmlformats.org/drawingml/2006/main" noGrp="1"/>
          </p:cNvSpPr>
          <p:nvPr/>
        </p:nvSpPr>
        <p:spPr>
          <a:xfrm xmlns:a="http://schemas.openxmlformats.org/drawingml/2006/main">
            <a:off x="1047750" y="45529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Описать самый большой реализованный проект</a:t>
            </a:r>
          </a:p>
        </p:txBody>
      </p:sp>
      <p:sp>
        <p:nvSpPr>
          <p:cNvPr id="17" name="">
            <a:extLst xmlns:a="http://schemas.openxmlformats.org/drawingml/2006/main">
              <a:ext uri="{FF2B5EF4-FFF2-40B4-BE49-F238E27FC236}">
                <a16:creationId xmlns:a16="http://schemas.microsoft.com/office/drawing/2014/main" id="{D5952DC8-6696-4582-A0E8-F775D1A2AACA}"/>
              </a:ext>
            </a:extLst>
          </p:cNvPr>
          <p:cNvSpPr>
            <a:spLocks xmlns:a="http://schemas.openxmlformats.org/drawingml/2006/main" noGrp="1"/>
          </p:cNvSpPr>
          <p:nvPr/>
        </p:nvSpPr>
        <p:spPr>
          <a:xfrm xmlns:a="http://schemas.openxmlformats.org/drawingml/2006/main">
            <a:off x="762000" y="50863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96C1FE9-FCB5-4A24-BDA7-63B7D15DADFC}"/>
              </a:ext>
            </a:extLst>
          </p:cNvPr>
          <p:cNvSpPr>
            <a:spLocks xmlns:a="http://schemas.openxmlformats.org/drawingml/2006/main" noGrp="1"/>
          </p:cNvSpPr>
          <p:nvPr/>
        </p:nvSpPr>
        <p:spPr>
          <a:xfrm xmlns:a="http://schemas.openxmlformats.org/drawingml/2006/main">
            <a:off x="1047750" y="50101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Отметить желаемые артефакты лаборатории</a:t>
            </a:r>
          </a:p>
        </p:txBody>
      </p:sp>
      <p:sp>
        <p:nvSpPr>
          <p:cNvPr id="19" name="">
            <a:extLst xmlns:a="http://schemas.openxmlformats.org/drawingml/2006/main">
              <a:ext uri="{FF2B5EF4-FFF2-40B4-BE49-F238E27FC236}">
                <a16:creationId xmlns:a16="http://schemas.microsoft.com/office/drawing/2014/main" id="{2C79605B-9DD4-4E31-B0B7-103B9BF2B026}"/>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19BD412-EDE2-49EC-81E9-DA8576EB68CA}"/>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21" name="">
            <a:extLst xmlns:a="http://schemas.openxmlformats.org/drawingml/2006/main">
              <a:ext uri="{FF2B5EF4-FFF2-40B4-BE49-F238E27FC236}">
                <a16:creationId xmlns:a16="http://schemas.microsoft.com/office/drawing/2014/main" id="{D6817627-0C9F-40C2-83FC-CA8E1AD76D98}"/>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31/36</a:t>
            </a:r>
          </a:p>
        </p:txBody>
      </p:sp>
    </p:spTree>
    <p:extLst>
      <p:ext uri="{BB962C8B-B14F-4D97-AF65-F5344CB8AC3E}">
        <p14:creationId xmlns:p14="http://schemas.microsoft.com/office/powerpoint/2010/main" val="115695082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56AD324-7522-4DC1-A611-13D10774FAFD}"/>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B45309"/>
                </a:solidFill>
              </a:defRPr>
            </a:pPr>
            <a:r>
              <a:rPr sz="975" b="1">
                <a:solidFill>
                  <a:srgbClr val="B45309"/>
                </a:solidFill>
              </a:rPr>
              <a:t>СЕМИНАР</a:t>
            </a:r>
          </a:p>
        </p:txBody>
      </p:sp>
      <p:sp>
        <p:nvSpPr>
          <p:cNvPr id="2" name="">
            <a:extLst xmlns:a="http://schemas.openxmlformats.org/drawingml/2006/main">
              <a:ext uri="{FF2B5EF4-FFF2-40B4-BE49-F238E27FC236}">
                <a16:creationId xmlns:a16="http://schemas.microsoft.com/office/drawing/2014/main" id="{FFD41810-7DF1-4CD5-B08B-6565701B646B}"/>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Практика 1. Брейншторм "что значит сохранить язык?", 20 минут</a:t>
            </a:r>
          </a:p>
        </p:txBody>
      </p:sp>
      <p:sp>
        <p:nvSpPr>
          <p:cNvPr id="3" name="">
            <a:extLst xmlns:a="http://schemas.openxmlformats.org/drawingml/2006/main">
              <a:ext uri="{FF2B5EF4-FFF2-40B4-BE49-F238E27FC236}">
                <a16:creationId xmlns:a16="http://schemas.microsoft.com/office/drawing/2014/main" id="{28A223A1-37B9-433F-A427-7CA718C626B6}"/>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EEF73BE-F1BC-48D6-834E-C46ADC04C91B}"/>
              </a:ext>
            </a:extLst>
          </p:cNvPr>
          <p:cNvSpPr>
            <a:spLocks xmlns:a="http://schemas.openxmlformats.org/drawingml/2006/main" noGrp="1"/>
          </p:cNvSpPr>
          <p:nvPr/>
        </p:nvSpPr>
        <p:spPr>
          <a:xfrm xmlns:a="http://schemas.openxmlformats.org/drawingml/2006/main">
            <a:off x="1047750" y="18097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5 минут индивидуально: каждый пишет 5 идей.</a:t>
            </a:r>
          </a:p>
        </p:txBody>
      </p:sp>
      <p:sp>
        <p:nvSpPr>
          <p:cNvPr id="5" name="">
            <a:extLst xmlns:a="http://schemas.openxmlformats.org/drawingml/2006/main">
              <a:ext uri="{FF2B5EF4-FFF2-40B4-BE49-F238E27FC236}">
                <a16:creationId xmlns:a16="http://schemas.microsoft.com/office/drawing/2014/main" id="{C0D9142F-551A-4928-9101-9DCA8521C2FC}"/>
              </a:ext>
            </a:extLst>
          </p:cNvPr>
          <p:cNvSpPr>
            <a:spLocks xmlns:a="http://schemas.openxmlformats.org/drawingml/2006/main" noGrp="1"/>
          </p:cNvSpPr>
          <p:nvPr/>
        </p:nvSpPr>
        <p:spPr>
          <a:xfrm xmlns:a="http://schemas.openxmlformats.org/drawingml/2006/main">
            <a:off x="762000" y="23431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7725ED4-31BB-4C59-A32A-B72B91EE09EE}"/>
              </a:ext>
            </a:extLst>
          </p:cNvPr>
          <p:cNvSpPr>
            <a:spLocks xmlns:a="http://schemas.openxmlformats.org/drawingml/2006/main" noGrp="1"/>
          </p:cNvSpPr>
          <p:nvPr/>
        </p:nvSpPr>
        <p:spPr>
          <a:xfrm xmlns:a="http://schemas.openxmlformats.org/drawingml/2006/main">
            <a:off x="1047750" y="22669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10 минут в группах: объединить идеи.</a:t>
            </a:r>
          </a:p>
        </p:txBody>
      </p:sp>
      <p:sp>
        <p:nvSpPr>
          <p:cNvPr id="7" name="">
            <a:extLst xmlns:a="http://schemas.openxmlformats.org/drawingml/2006/main">
              <a:ext uri="{FF2B5EF4-FFF2-40B4-BE49-F238E27FC236}">
                <a16:creationId xmlns:a16="http://schemas.microsoft.com/office/drawing/2014/main" id="{655275F2-D67A-4E83-8A81-7056C8DC6CD4}"/>
              </a:ext>
            </a:extLst>
          </p:cNvPr>
          <p:cNvSpPr>
            <a:spLocks xmlns:a="http://schemas.openxmlformats.org/drawingml/2006/main" noGrp="1"/>
          </p:cNvSpPr>
          <p:nvPr/>
        </p:nvSpPr>
        <p:spPr>
          <a:xfrm xmlns:a="http://schemas.openxmlformats.org/drawingml/2006/main">
            <a:off x="762000" y="28003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D3A9697-917A-4CE8-AE7F-8FD3E048020B}"/>
              </a:ext>
            </a:extLst>
          </p:cNvPr>
          <p:cNvSpPr>
            <a:spLocks xmlns:a="http://schemas.openxmlformats.org/drawingml/2006/main" noGrp="1"/>
          </p:cNvSpPr>
          <p:nvPr/>
        </p:nvSpPr>
        <p:spPr>
          <a:xfrm xmlns:a="http://schemas.openxmlformats.org/drawingml/2006/main">
            <a:off x="1047750" y="27241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5 минут общая доска: собрать карту факторов.</a:t>
            </a:r>
          </a:p>
        </p:txBody>
      </p:sp>
      <p:sp>
        <p:nvSpPr>
          <p:cNvPr id="9" name="">
            <a:extLst xmlns:a="http://schemas.openxmlformats.org/drawingml/2006/main">
              <a:ext uri="{FF2B5EF4-FFF2-40B4-BE49-F238E27FC236}">
                <a16:creationId xmlns:a16="http://schemas.microsoft.com/office/drawing/2014/main" id="{F1F64A05-27E2-4CAF-BF30-658902782FF1}"/>
              </a:ext>
            </a:extLst>
          </p:cNvPr>
          <p:cNvSpPr>
            <a:spLocks xmlns:a="http://schemas.openxmlformats.org/drawingml/2006/main" noGrp="1"/>
          </p:cNvSpPr>
          <p:nvPr/>
        </p:nvSpPr>
        <p:spPr>
          <a:xfrm xmlns:a="http://schemas.openxmlformats.org/drawingml/2006/main">
            <a:off x="762000" y="32575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5651ACA-9EED-4615-9CE8-ED53D15A5766}"/>
              </a:ext>
            </a:extLst>
          </p:cNvPr>
          <p:cNvSpPr>
            <a:spLocks xmlns:a="http://schemas.openxmlformats.org/drawingml/2006/main" noGrp="1"/>
          </p:cNvSpPr>
          <p:nvPr/>
        </p:nvSpPr>
        <p:spPr>
          <a:xfrm xmlns:a="http://schemas.openxmlformats.org/drawingml/2006/main">
            <a:off x="1047750" y="31813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Ожидаемые категории:</a:t>
            </a:r>
          </a:p>
        </p:txBody>
      </p:sp>
      <p:sp>
        <p:nvSpPr>
          <p:cNvPr id="11" name="">
            <a:extLst xmlns:a="http://schemas.openxmlformats.org/drawingml/2006/main">
              <a:ext uri="{FF2B5EF4-FFF2-40B4-BE49-F238E27FC236}">
                <a16:creationId xmlns:a16="http://schemas.microsoft.com/office/drawing/2014/main" id="{20170167-6400-4CD7-88C9-67D6265564FB}"/>
              </a:ext>
            </a:extLst>
          </p:cNvPr>
          <p:cNvSpPr>
            <a:spLocks xmlns:a="http://schemas.openxmlformats.org/drawingml/2006/main" noGrp="1"/>
          </p:cNvSpPr>
          <p:nvPr/>
        </p:nvSpPr>
        <p:spPr>
          <a:xfrm xmlns:a="http://schemas.openxmlformats.org/drawingml/2006/main">
            <a:off x="762000" y="3714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8AC1C59-0F75-44C4-AE22-585D78050FC7}"/>
              </a:ext>
            </a:extLst>
          </p:cNvPr>
          <p:cNvSpPr>
            <a:spLocks xmlns:a="http://schemas.openxmlformats.org/drawingml/2006/main" noGrp="1"/>
          </p:cNvSpPr>
          <p:nvPr/>
        </p:nvSpPr>
        <p:spPr>
          <a:xfrm xmlns:a="http://schemas.openxmlformats.org/drawingml/2006/main">
            <a:off x="1047750" y="36385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образование;</a:t>
            </a:r>
          </a:p>
        </p:txBody>
      </p:sp>
      <p:sp>
        <p:nvSpPr>
          <p:cNvPr id="13" name="">
            <a:extLst xmlns:a="http://schemas.openxmlformats.org/drawingml/2006/main">
              <a:ext uri="{FF2B5EF4-FFF2-40B4-BE49-F238E27FC236}">
                <a16:creationId xmlns:a16="http://schemas.microsoft.com/office/drawing/2014/main" id="{517C6D9B-EE8D-4F6F-9779-437895A63D13}"/>
              </a:ext>
            </a:extLst>
          </p:cNvPr>
          <p:cNvSpPr>
            <a:spLocks xmlns:a="http://schemas.openxmlformats.org/drawingml/2006/main" noGrp="1"/>
          </p:cNvSpPr>
          <p:nvPr/>
        </p:nvSpPr>
        <p:spPr>
          <a:xfrm xmlns:a="http://schemas.openxmlformats.org/drawingml/2006/main">
            <a:off x="762000" y="41719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60331F2-A42E-4373-BD58-B44D97DC5A01}"/>
              </a:ext>
            </a:extLst>
          </p:cNvPr>
          <p:cNvSpPr>
            <a:spLocks xmlns:a="http://schemas.openxmlformats.org/drawingml/2006/main" noGrp="1"/>
          </p:cNvSpPr>
          <p:nvPr/>
        </p:nvSpPr>
        <p:spPr>
          <a:xfrm xmlns:a="http://schemas.openxmlformats.org/drawingml/2006/main">
            <a:off x="1047750" y="40957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архивы и документация;</a:t>
            </a:r>
          </a:p>
        </p:txBody>
      </p:sp>
      <p:sp>
        <p:nvSpPr>
          <p:cNvPr id="15" name="">
            <a:extLst xmlns:a="http://schemas.openxmlformats.org/drawingml/2006/main">
              <a:ext uri="{FF2B5EF4-FFF2-40B4-BE49-F238E27FC236}">
                <a16:creationId xmlns:a16="http://schemas.microsoft.com/office/drawing/2014/main" id="{21CA7C85-1723-4348-9FFE-67E47FD79A43}"/>
              </a:ext>
            </a:extLst>
          </p:cNvPr>
          <p:cNvSpPr>
            <a:spLocks xmlns:a="http://schemas.openxmlformats.org/drawingml/2006/main" noGrp="1"/>
          </p:cNvSpPr>
          <p:nvPr/>
        </p:nvSpPr>
        <p:spPr>
          <a:xfrm xmlns:a="http://schemas.openxmlformats.org/drawingml/2006/main">
            <a:off x="762000" y="46291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7D2D676-1B8A-41F1-BE77-5C7B3797BADB}"/>
              </a:ext>
            </a:extLst>
          </p:cNvPr>
          <p:cNvSpPr>
            <a:spLocks xmlns:a="http://schemas.openxmlformats.org/drawingml/2006/main" noGrp="1"/>
          </p:cNvSpPr>
          <p:nvPr/>
        </p:nvSpPr>
        <p:spPr>
          <a:xfrm xmlns:a="http://schemas.openxmlformats.org/drawingml/2006/main">
            <a:off x="1047750" y="45529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речь и аудио;</a:t>
            </a:r>
          </a:p>
        </p:txBody>
      </p:sp>
      <p:sp>
        <p:nvSpPr>
          <p:cNvPr id="17" name="">
            <a:extLst xmlns:a="http://schemas.openxmlformats.org/drawingml/2006/main">
              <a:ext uri="{FF2B5EF4-FFF2-40B4-BE49-F238E27FC236}">
                <a16:creationId xmlns:a16="http://schemas.microsoft.com/office/drawing/2014/main" id="{41A4EA0D-F582-4240-8428-ED3537CBEC9F}"/>
              </a:ext>
            </a:extLst>
          </p:cNvPr>
          <p:cNvSpPr>
            <a:spLocks xmlns:a="http://schemas.openxmlformats.org/drawingml/2006/main" noGrp="1"/>
          </p:cNvSpPr>
          <p:nvPr/>
        </p:nvSpPr>
        <p:spPr>
          <a:xfrm xmlns:a="http://schemas.openxmlformats.org/drawingml/2006/main">
            <a:off x="762000" y="50863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DAAA5A3-EBF7-449E-A57C-1CAC6673A534}"/>
              </a:ext>
            </a:extLst>
          </p:cNvPr>
          <p:cNvSpPr>
            <a:spLocks xmlns:a="http://schemas.openxmlformats.org/drawingml/2006/main" noGrp="1"/>
          </p:cNvSpPr>
          <p:nvPr/>
        </p:nvSpPr>
        <p:spPr>
          <a:xfrm xmlns:a="http://schemas.openxmlformats.org/drawingml/2006/main">
            <a:off x="1047750" y="50101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письменность и орфография;</a:t>
            </a:r>
          </a:p>
        </p:txBody>
      </p:sp>
      <p:sp>
        <p:nvSpPr>
          <p:cNvPr id="19" name="">
            <a:extLst xmlns:a="http://schemas.openxmlformats.org/drawingml/2006/main">
              <a:ext uri="{FF2B5EF4-FFF2-40B4-BE49-F238E27FC236}">
                <a16:creationId xmlns:a16="http://schemas.microsoft.com/office/drawing/2014/main" id="{6E3927D6-EF34-4A42-A543-9D852DE06A56}"/>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65EB928-6A0A-4508-8E1D-EA0119516504}"/>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21" name="">
            <a:extLst xmlns:a="http://schemas.openxmlformats.org/drawingml/2006/main">
              <a:ext uri="{FF2B5EF4-FFF2-40B4-BE49-F238E27FC236}">
                <a16:creationId xmlns:a16="http://schemas.microsoft.com/office/drawing/2014/main" id="{85AFAE8A-30C6-4D4B-ABFA-11808D7483ED}"/>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32/36</a:t>
            </a:r>
          </a:p>
        </p:txBody>
      </p:sp>
    </p:spTree>
    <p:extLst>
      <p:ext uri="{BB962C8B-B14F-4D97-AF65-F5344CB8AC3E}">
        <p14:creationId xmlns:p14="http://schemas.microsoft.com/office/powerpoint/2010/main" val="10199674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96DF30B-94D2-4431-A42F-427B0E93A787}"/>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B45309"/>
                </a:solidFill>
              </a:defRPr>
            </a:pPr>
            <a:r>
              <a:rPr sz="975" b="1">
                <a:solidFill>
                  <a:srgbClr val="B45309"/>
                </a:solidFill>
              </a:rPr>
              <a:t>СЕМИНАР</a:t>
            </a:r>
          </a:p>
        </p:txBody>
      </p:sp>
      <p:sp>
        <p:nvSpPr>
          <p:cNvPr id="2" name="">
            <a:extLst xmlns:a="http://schemas.openxmlformats.org/drawingml/2006/main">
              <a:ext uri="{FF2B5EF4-FFF2-40B4-BE49-F238E27FC236}">
                <a16:creationId xmlns:a16="http://schemas.microsoft.com/office/drawing/2014/main" id="{36F20C27-D75A-4E1E-87BA-C71C1ABE8860}"/>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Практика 2. Карта "инструмент -&gt; данные -&gt; артефакт", 20 минут</a:t>
            </a:r>
          </a:p>
        </p:txBody>
      </p:sp>
      <p:sp>
        <p:nvSpPr>
          <p:cNvPr id="3" name="">
            <a:extLst xmlns:a="http://schemas.openxmlformats.org/drawingml/2006/main">
              <a:ext uri="{FF2B5EF4-FFF2-40B4-BE49-F238E27FC236}">
                <a16:creationId xmlns:a16="http://schemas.microsoft.com/office/drawing/2014/main" id="{E110FE96-171E-40C4-8170-7AD1E6B0BE61}"/>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0216695-3312-4B89-AE86-431A80980DA4}"/>
              </a:ext>
            </a:extLst>
          </p:cNvPr>
          <p:cNvSpPr>
            <a:spLocks xmlns:a="http://schemas.openxmlformats.org/drawingml/2006/main" noGrp="1"/>
          </p:cNvSpPr>
          <p:nvPr/>
        </p:nvSpPr>
        <p:spPr>
          <a:xfrm xmlns:a="http://schemas.openxmlformats.org/drawingml/2006/main">
            <a:off x="1047750" y="18097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Группы заполняют таблицу:</a:t>
            </a:r>
          </a:p>
        </p:txBody>
      </p:sp>
      <p:sp>
        <p:nvSpPr>
          <p:cNvPr id="5" name="">
            <a:extLst xmlns:a="http://schemas.openxmlformats.org/drawingml/2006/main">
              <a:ext uri="{FF2B5EF4-FFF2-40B4-BE49-F238E27FC236}">
                <a16:creationId xmlns:a16="http://schemas.microsoft.com/office/drawing/2014/main" id="{C1D35214-BA16-4FDC-B803-E46A128F045D}"/>
              </a:ext>
            </a:extLst>
          </p:cNvPr>
          <p:cNvSpPr>
            <a:spLocks xmlns:a="http://schemas.openxmlformats.org/drawingml/2006/main" noGrp="1"/>
          </p:cNvSpPr>
          <p:nvPr/>
        </p:nvSpPr>
        <p:spPr>
          <a:xfrm xmlns:a="http://schemas.openxmlformats.org/drawingml/2006/main">
            <a:off x="762000" y="23431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1F3E30E-B500-45F3-812F-ED9DCBF36E3B}"/>
              </a:ext>
            </a:extLst>
          </p:cNvPr>
          <p:cNvSpPr>
            <a:spLocks xmlns:a="http://schemas.openxmlformats.org/drawingml/2006/main" noGrp="1"/>
          </p:cNvSpPr>
          <p:nvPr/>
        </p:nvSpPr>
        <p:spPr>
          <a:xfrm xmlns:a="http://schemas.openxmlformats.org/drawingml/2006/main">
            <a:off x="1047750" y="22669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Инструмент / Какие данные нужны / Что получаем / Самый простой первый шаг</a:t>
            </a:r>
          </a:p>
        </p:txBody>
      </p:sp>
      <p:sp>
        <p:nvSpPr>
          <p:cNvPr id="7" name="">
            <a:extLst xmlns:a="http://schemas.openxmlformats.org/drawingml/2006/main">
              <a:ext uri="{FF2B5EF4-FFF2-40B4-BE49-F238E27FC236}">
                <a16:creationId xmlns:a16="http://schemas.microsoft.com/office/drawing/2014/main" id="{BE3C73B4-989C-48CD-B833-F490621057D8}"/>
              </a:ext>
            </a:extLst>
          </p:cNvPr>
          <p:cNvSpPr>
            <a:spLocks xmlns:a="http://schemas.openxmlformats.org/drawingml/2006/main" noGrp="1"/>
          </p:cNvSpPr>
          <p:nvPr/>
        </p:nvSpPr>
        <p:spPr>
          <a:xfrm xmlns:a="http://schemas.openxmlformats.org/drawingml/2006/main">
            <a:off x="762000" y="28003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F8B62F2-4959-44FA-80C6-EE2F7D2A1AC9}"/>
              </a:ext>
            </a:extLst>
          </p:cNvPr>
          <p:cNvSpPr>
            <a:spLocks xmlns:a="http://schemas.openxmlformats.org/drawingml/2006/main" noGrp="1"/>
          </p:cNvSpPr>
          <p:nvPr/>
        </p:nvSpPr>
        <p:spPr>
          <a:xfrm xmlns:a="http://schemas.openxmlformats.org/drawingml/2006/main">
            <a:off x="1047750" y="27241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 / --- / --- / ---</a:t>
            </a:r>
          </a:p>
        </p:txBody>
      </p:sp>
      <p:sp>
        <p:nvSpPr>
          <p:cNvPr id="9" name="">
            <a:extLst xmlns:a="http://schemas.openxmlformats.org/drawingml/2006/main">
              <a:ext uri="{FF2B5EF4-FFF2-40B4-BE49-F238E27FC236}">
                <a16:creationId xmlns:a16="http://schemas.microsoft.com/office/drawing/2014/main" id="{58AEDD72-754F-4BEF-9207-68273ACB0484}"/>
              </a:ext>
            </a:extLst>
          </p:cNvPr>
          <p:cNvSpPr>
            <a:spLocks xmlns:a="http://schemas.openxmlformats.org/drawingml/2006/main" noGrp="1"/>
          </p:cNvSpPr>
          <p:nvPr/>
        </p:nvSpPr>
        <p:spPr>
          <a:xfrm xmlns:a="http://schemas.openxmlformats.org/drawingml/2006/main">
            <a:off x="762000" y="32575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3F7DA85-17DB-4D82-8DDE-CDFAD097F805}"/>
              </a:ext>
            </a:extLst>
          </p:cNvPr>
          <p:cNvSpPr>
            <a:spLocks xmlns:a="http://schemas.openxmlformats.org/drawingml/2006/main" noGrp="1"/>
          </p:cNvSpPr>
          <p:nvPr/>
        </p:nvSpPr>
        <p:spPr>
          <a:xfrm xmlns:a="http://schemas.openxmlformats.org/drawingml/2006/main">
            <a:off x="1047750" y="31813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OCR / изображения, PDF, ground truth / текстовый корпус / проверить 3 страницы</a:t>
            </a:r>
          </a:p>
        </p:txBody>
      </p:sp>
      <p:sp>
        <p:nvSpPr>
          <p:cNvPr id="11" name="">
            <a:extLst xmlns:a="http://schemas.openxmlformats.org/drawingml/2006/main">
              <a:ext uri="{FF2B5EF4-FFF2-40B4-BE49-F238E27FC236}">
                <a16:creationId xmlns:a16="http://schemas.microsoft.com/office/drawing/2014/main" id="{3BC7A137-9F9D-41DC-BB31-9D717A1FD752}"/>
              </a:ext>
            </a:extLst>
          </p:cNvPr>
          <p:cNvSpPr>
            <a:spLocks xmlns:a="http://schemas.openxmlformats.org/drawingml/2006/main" noGrp="1"/>
          </p:cNvSpPr>
          <p:nvPr/>
        </p:nvSpPr>
        <p:spPr>
          <a:xfrm xmlns:a="http://schemas.openxmlformats.org/drawingml/2006/main">
            <a:off x="762000" y="3714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A3DB223-6995-4C37-B3A7-DCCAFA075C1E}"/>
              </a:ext>
            </a:extLst>
          </p:cNvPr>
          <p:cNvSpPr>
            <a:spLocks xmlns:a="http://schemas.openxmlformats.org/drawingml/2006/main" noGrp="1"/>
          </p:cNvSpPr>
          <p:nvPr/>
        </p:nvSpPr>
        <p:spPr>
          <a:xfrm xmlns:a="http://schemas.openxmlformats.org/drawingml/2006/main">
            <a:off x="1047750" y="36385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ASR / аудио, транскрипты / текст из речи / расшифровать 1 минуту</a:t>
            </a:r>
          </a:p>
        </p:txBody>
      </p:sp>
      <p:sp>
        <p:nvSpPr>
          <p:cNvPr id="13" name="">
            <a:extLst xmlns:a="http://schemas.openxmlformats.org/drawingml/2006/main">
              <a:ext uri="{FF2B5EF4-FFF2-40B4-BE49-F238E27FC236}">
                <a16:creationId xmlns:a16="http://schemas.microsoft.com/office/drawing/2014/main" id="{14A478C8-750A-4084-AC0D-77A6A7A9DF3D}"/>
              </a:ext>
            </a:extLst>
          </p:cNvPr>
          <p:cNvSpPr>
            <a:spLocks xmlns:a="http://schemas.openxmlformats.org/drawingml/2006/main" noGrp="1"/>
          </p:cNvSpPr>
          <p:nvPr/>
        </p:nvSpPr>
        <p:spPr>
          <a:xfrm xmlns:a="http://schemas.openxmlformats.org/drawingml/2006/main">
            <a:off x="762000" y="41719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7BC3B1D-60FB-424F-91AE-4C80C42EC8F9}"/>
              </a:ext>
            </a:extLst>
          </p:cNvPr>
          <p:cNvSpPr>
            <a:spLocks xmlns:a="http://schemas.openxmlformats.org/drawingml/2006/main" noGrp="1"/>
          </p:cNvSpPr>
          <p:nvPr/>
        </p:nvSpPr>
        <p:spPr>
          <a:xfrm xmlns:a="http://schemas.openxmlformats.org/drawingml/2006/main">
            <a:off x="1047750" y="40957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MT / параллельные пары / переводчик или baseline / найти 30 пар</a:t>
            </a:r>
          </a:p>
        </p:txBody>
      </p:sp>
      <p:sp>
        <p:nvSpPr>
          <p:cNvPr id="15" name="">
            <a:extLst xmlns:a="http://schemas.openxmlformats.org/drawingml/2006/main">
              <a:ext uri="{FF2B5EF4-FFF2-40B4-BE49-F238E27FC236}">
                <a16:creationId xmlns:a16="http://schemas.microsoft.com/office/drawing/2014/main" id="{F0574404-4C37-42E2-BBC1-5682A476D512}"/>
              </a:ext>
            </a:extLst>
          </p:cNvPr>
          <p:cNvSpPr>
            <a:spLocks xmlns:a="http://schemas.openxmlformats.org/drawingml/2006/main" noGrp="1"/>
          </p:cNvSpPr>
          <p:nvPr/>
        </p:nvSpPr>
        <p:spPr>
          <a:xfrm xmlns:a="http://schemas.openxmlformats.org/drawingml/2006/main">
            <a:off x="762000" y="46291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B840828-332C-460D-955E-F2DB605903BA}"/>
              </a:ext>
            </a:extLst>
          </p:cNvPr>
          <p:cNvSpPr>
            <a:spLocks xmlns:a="http://schemas.openxmlformats.org/drawingml/2006/main" noGrp="1"/>
          </p:cNvSpPr>
          <p:nvPr/>
        </p:nvSpPr>
        <p:spPr>
          <a:xfrm xmlns:a="http://schemas.openxmlformats.org/drawingml/2006/main">
            <a:off x="1047750" y="45529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Alignment / два набора текстов / параллельный корпус / проверить top-20 кандидатов</a:t>
            </a:r>
          </a:p>
        </p:txBody>
      </p:sp>
      <p:sp>
        <p:nvSpPr>
          <p:cNvPr id="17" name="">
            <a:extLst xmlns:a="http://schemas.openxmlformats.org/drawingml/2006/main">
              <a:ext uri="{FF2B5EF4-FFF2-40B4-BE49-F238E27FC236}">
                <a16:creationId xmlns:a16="http://schemas.microsoft.com/office/drawing/2014/main" id="{72219F07-9897-4210-8416-056B852B5880}"/>
              </a:ext>
            </a:extLst>
          </p:cNvPr>
          <p:cNvSpPr>
            <a:spLocks xmlns:a="http://schemas.openxmlformats.org/drawingml/2006/main" noGrp="1"/>
          </p:cNvSpPr>
          <p:nvPr/>
        </p:nvSpPr>
        <p:spPr>
          <a:xfrm xmlns:a="http://schemas.openxmlformats.org/drawingml/2006/main">
            <a:off x="762000" y="50863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33A98A1-2CA3-4E2B-9AFF-1CC408313609}"/>
              </a:ext>
            </a:extLst>
          </p:cNvPr>
          <p:cNvSpPr>
            <a:spLocks xmlns:a="http://schemas.openxmlformats.org/drawingml/2006/main" noGrp="1"/>
          </p:cNvSpPr>
          <p:nvPr/>
        </p:nvSpPr>
        <p:spPr>
          <a:xfrm xmlns:a="http://schemas.openxmlformats.org/drawingml/2006/main">
            <a:off x="1047750" y="50101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Спелчекер / словарь, корпус, ошибки / проверка письма / частотный список</a:t>
            </a:r>
          </a:p>
        </p:txBody>
      </p:sp>
      <p:sp>
        <p:nvSpPr>
          <p:cNvPr id="19" name="">
            <a:extLst xmlns:a="http://schemas.openxmlformats.org/drawingml/2006/main">
              <a:ext uri="{FF2B5EF4-FFF2-40B4-BE49-F238E27FC236}">
                <a16:creationId xmlns:a16="http://schemas.microsoft.com/office/drawing/2014/main" id="{447C751E-D0AC-4BC1-BBE9-CF233FDFEC8F}"/>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A567A9D-0002-4182-8A2C-99C543C92755}"/>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21" name="">
            <a:extLst xmlns:a="http://schemas.openxmlformats.org/drawingml/2006/main">
              <a:ext uri="{FF2B5EF4-FFF2-40B4-BE49-F238E27FC236}">
                <a16:creationId xmlns:a16="http://schemas.microsoft.com/office/drawing/2014/main" id="{45AC689D-3A9B-4BBF-A5D3-6F5A0907CE8C}"/>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33/36</a:t>
            </a:r>
          </a:p>
        </p:txBody>
      </p:sp>
    </p:spTree>
    <p:extLst>
      <p:ext uri="{BB962C8B-B14F-4D97-AF65-F5344CB8AC3E}">
        <p14:creationId xmlns:p14="http://schemas.microsoft.com/office/powerpoint/2010/main" val="178347707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C90F704-7366-457D-9EE6-7F325030468C}"/>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B45309"/>
                </a:solidFill>
              </a:defRPr>
            </a:pPr>
            <a:r>
              <a:rPr sz="975" b="1">
                <a:solidFill>
                  <a:srgbClr val="B45309"/>
                </a:solidFill>
              </a:rPr>
              <a:t>СЕМИНАР</a:t>
            </a:r>
          </a:p>
        </p:txBody>
      </p:sp>
      <p:sp>
        <p:nvSpPr>
          <p:cNvPr id="2" name="">
            <a:extLst xmlns:a="http://schemas.openxmlformats.org/drawingml/2006/main">
              <a:ext uri="{FF2B5EF4-FFF2-40B4-BE49-F238E27FC236}">
                <a16:creationId xmlns:a16="http://schemas.microsoft.com/office/drawing/2014/main" id="{83713164-2BA5-4827-A6AC-1F21D4BCAE44}"/>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Практика 3. LLM-брейншторм проекта, 25 минут</a:t>
            </a:r>
          </a:p>
        </p:txBody>
      </p:sp>
      <p:sp>
        <p:nvSpPr>
          <p:cNvPr id="3" name="">
            <a:extLst xmlns:a="http://schemas.openxmlformats.org/drawingml/2006/main">
              <a:ext uri="{FF2B5EF4-FFF2-40B4-BE49-F238E27FC236}">
                <a16:creationId xmlns:a16="http://schemas.microsoft.com/office/drawing/2014/main" id="{2DCD19F5-4C7C-4BAD-8475-1C797340CF11}"/>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1FEA725-59ED-4274-BD3B-5EBE742E6138}"/>
              </a:ext>
            </a:extLst>
          </p:cNvPr>
          <p:cNvSpPr>
            <a:spLocks xmlns:a="http://schemas.openxmlformats.org/drawingml/2006/main" noGrp="1"/>
          </p:cNvSpPr>
          <p:nvPr/>
        </p:nvSpPr>
        <p:spPr>
          <a:xfrm xmlns:a="http://schemas.openxmlformats.org/drawingml/2006/main">
            <a:off x="1047750" y="18097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Каждая группа берет один язык-кандидат и запускает промпт из лекции в доступной LLM.</a:t>
            </a:r>
          </a:p>
        </p:txBody>
      </p:sp>
      <p:sp>
        <p:nvSpPr>
          <p:cNvPr id="5" name="">
            <a:extLst xmlns:a="http://schemas.openxmlformats.org/drawingml/2006/main">
              <a:ext uri="{FF2B5EF4-FFF2-40B4-BE49-F238E27FC236}">
                <a16:creationId xmlns:a16="http://schemas.microsoft.com/office/drawing/2014/main" id="{E1C83BFE-C40D-4236-932D-7161FC076376}"/>
              </a:ext>
            </a:extLst>
          </p:cNvPr>
          <p:cNvSpPr>
            <a:spLocks xmlns:a="http://schemas.openxmlformats.org/drawingml/2006/main" noGrp="1"/>
          </p:cNvSpPr>
          <p:nvPr/>
        </p:nvSpPr>
        <p:spPr>
          <a:xfrm xmlns:a="http://schemas.openxmlformats.org/drawingml/2006/main">
            <a:off x="762000" y="23431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AE00A1C-606F-42FF-B695-F5625789870C}"/>
              </a:ext>
            </a:extLst>
          </p:cNvPr>
          <p:cNvSpPr>
            <a:spLocks xmlns:a="http://schemas.openxmlformats.org/drawingml/2006/main" noGrp="1"/>
          </p:cNvSpPr>
          <p:nvPr/>
        </p:nvSpPr>
        <p:spPr>
          <a:xfrm xmlns:a="http://schemas.openxmlformats.org/drawingml/2006/main">
            <a:off x="1047750" y="22669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получить 5 гипотез от простой к сложной;</a:t>
            </a:r>
          </a:p>
        </p:txBody>
      </p:sp>
      <p:sp>
        <p:nvSpPr>
          <p:cNvPr id="7" name="">
            <a:extLst xmlns:a="http://schemas.openxmlformats.org/drawingml/2006/main">
              <a:ext uri="{FF2B5EF4-FFF2-40B4-BE49-F238E27FC236}">
                <a16:creationId xmlns:a16="http://schemas.microsoft.com/office/drawing/2014/main" id="{C7C298B7-22C1-4486-9C1E-61C6CD1EB1F0}"/>
              </a:ext>
            </a:extLst>
          </p:cNvPr>
          <p:cNvSpPr>
            <a:spLocks xmlns:a="http://schemas.openxmlformats.org/drawingml/2006/main" noGrp="1"/>
          </p:cNvSpPr>
          <p:nvPr/>
        </p:nvSpPr>
        <p:spPr>
          <a:xfrm xmlns:a="http://schemas.openxmlformats.org/drawingml/2006/main">
            <a:off x="762000" y="28003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C10CBEB-5BB8-426C-B7D0-2367CC19CFDC}"/>
              </a:ext>
            </a:extLst>
          </p:cNvPr>
          <p:cNvSpPr>
            <a:spLocks xmlns:a="http://schemas.openxmlformats.org/drawingml/2006/main" noGrp="1"/>
          </p:cNvSpPr>
          <p:nvPr/>
        </p:nvSpPr>
        <p:spPr>
          <a:xfrm xmlns:a="http://schemas.openxmlformats.org/drawingml/2006/main">
            <a:off x="1047750" y="27241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удалить нереалистичные;</a:t>
            </a:r>
          </a:p>
        </p:txBody>
      </p:sp>
      <p:sp>
        <p:nvSpPr>
          <p:cNvPr id="9" name="">
            <a:extLst xmlns:a="http://schemas.openxmlformats.org/drawingml/2006/main">
              <a:ext uri="{FF2B5EF4-FFF2-40B4-BE49-F238E27FC236}">
                <a16:creationId xmlns:a16="http://schemas.microsoft.com/office/drawing/2014/main" id="{BD95904B-606A-46D4-AFAF-BA68C40072BD}"/>
              </a:ext>
            </a:extLst>
          </p:cNvPr>
          <p:cNvSpPr>
            <a:spLocks xmlns:a="http://schemas.openxmlformats.org/drawingml/2006/main" noGrp="1"/>
          </p:cNvSpPr>
          <p:nvPr/>
        </p:nvSpPr>
        <p:spPr>
          <a:xfrm xmlns:a="http://schemas.openxmlformats.org/drawingml/2006/main">
            <a:off x="762000" y="32575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0EE0755-DDEB-4FAC-84A9-36D0E4083F1B}"/>
              </a:ext>
            </a:extLst>
          </p:cNvPr>
          <p:cNvSpPr>
            <a:spLocks xmlns:a="http://schemas.openxmlformats.org/drawingml/2006/main" noGrp="1"/>
          </p:cNvSpPr>
          <p:nvPr/>
        </p:nvSpPr>
        <p:spPr>
          <a:xfrm xmlns:a="http://schemas.openxmlformats.org/drawingml/2006/main">
            <a:off x="1047750" y="31813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отметить, где LLM могла выдумать;</a:t>
            </a:r>
          </a:p>
        </p:txBody>
      </p:sp>
      <p:sp>
        <p:nvSpPr>
          <p:cNvPr id="11" name="">
            <a:extLst xmlns:a="http://schemas.openxmlformats.org/drawingml/2006/main">
              <a:ext uri="{FF2B5EF4-FFF2-40B4-BE49-F238E27FC236}">
                <a16:creationId xmlns:a16="http://schemas.microsoft.com/office/drawing/2014/main" id="{ABB654F8-E477-4EF5-8C13-80FE5D6229B5}"/>
              </a:ext>
            </a:extLst>
          </p:cNvPr>
          <p:cNvSpPr>
            <a:spLocks xmlns:a="http://schemas.openxmlformats.org/drawingml/2006/main" noGrp="1"/>
          </p:cNvSpPr>
          <p:nvPr/>
        </p:nvSpPr>
        <p:spPr>
          <a:xfrm xmlns:a="http://schemas.openxmlformats.org/drawingml/2006/main">
            <a:off x="762000" y="3714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1B2CD56-BC75-4725-8D10-86A58C68BE61}"/>
              </a:ext>
            </a:extLst>
          </p:cNvPr>
          <p:cNvSpPr>
            <a:spLocks xmlns:a="http://schemas.openxmlformats.org/drawingml/2006/main" noGrp="1"/>
          </p:cNvSpPr>
          <p:nvPr/>
        </p:nvSpPr>
        <p:spPr>
          <a:xfrm xmlns:a="http://schemas.openxmlformats.org/drawingml/2006/main">
            <a:off x="1047750" y="36385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выбрать 2 гипотезы для проверки.</a:t>
            </a:r>
          </a:p>
        </p:txBody>
      </p:sp>
      <p:sp>
        <p:nvSpPr>
          <p:cNvPr id="13" name="">
            <a:extLst xmlns:a="http://schemas.openxmlformats.org/drawingml/2006/main">
              <a:ext uri="{FF2B5EF4-FFF2-40B4-BE49-F238E27FC236}">
                <a16:creationId xmlns:a16="http://schemas.microsoft.com/office/drawing/2014/main" id="{D32F2EC0-7A78-4383-B33B-759BDBAAB66A}"/>
              </a:ext>
            </a:extLst>
          </p:cNvPr>
          <p:cNvSpPr>
            <a:spLocks xmlns:a="http://schemas.openxmlformats.org/drawingml/2006/main" noGrp="1"/>
          </p:cNvSpPr>
          <p:nvPr/>
        </p:nvSpPr>
        <p:spPr>
          <a:xfrm xmlns:a="http://schemas.openxmlformats.org/drawingml/2006/main">
            <a:off x="762000" y="41719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6492BFA-1EEF-4C54-B6C9-E068069CB013}"/>
              </a:ext>
            </a:extLst>
          </p:cNvPr>
          <p:cNvSpPr>
            <a:spLocks xmlns:a="http://schemas.openxmlformats.org/drawingml/2006/main" noGrp="1"/>
          </p:cNvSpPr>
          <p:nvPr/>
        </p:nvSpPr>
        <p:spPr>
          <a:xfrm xmlns:a="http://schemas.openxmlformats.org/drawingml/2006/main">
            <a:off x="1047750" y="40957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Есть ли данные?</a:t>
            </a:r>
          </a:p>
        </p:txBody>
      </p:sp>
      <p:sp>
        <p:nvSpPr>
          <p:cNvPr id="15" name="">
            <a:extLst xmlns:a="http://schemas.openxmlformats.org/drawingml/2006/main">
              <a:ext uri="{FF2B5EF4-FFF2-40B4-BE49-F238E27FC236}">
                <a16:creationId xmlns:a16="http://schemas.microsoft.com/office/drawing/2014/main" id="{D3E70B19-8B75-4B9B-8349-9FB664D4CCF6}"/>
              </a:ext>
            </a:extLst>
          </p:cNvPr>
          <p:cNvSpPr>
            <a:spLocks xmlns:a="http://schemas.openxmlformats.org/drawingml/2006/main" noGrp="1"/>
          </p:cNvSpPr>
          <p:nvPr/>
        </p:nvSpPr>
        <p:spPr>
          <a:xfrm xmlns:a="http://schemas.openxmlformats.org/drawingml/2006/main">
            <a:off x="762000" y="46291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38BBA10-2BDA-4EEB-AB0D-F2F8E4606612}"/>
              </a:ext>
            </a:extLst>
          </p:cNvPr>
          <p:cNvSpPr>
            <a:spLocks xmlns:a="http://schemas.openxmlformats.org/drawingml/2006/main" noGrp="1"/>
          </p:cNvSpPr>
          <p:nvPr/>
        </p:nvSpPr>
        <p:spPr>
          <a:xfrm xmlns:a="http://schemas.openxmlformats.org/drawingml/2006/main">
            <a:off x="1047750" y="45529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Можно ли их использовать?</a:t>
            </a:r>
          </a:p>
        </p:txBody>
      </p:sp>
      <p:sp>
        <p:nvSpPr>
          <p:cNvPr id="17" name="">
            <a:extLst xmlns:a="http://schemas.openxmlformats.org/drawingml/2006/main">
              <a:ext uri="{FF2B5EF4-FFF2-40B4-BE49-F238E27FC236}">
                <a16:creationId xmlns:a16="http://schemas.microsoft.com/office/drawing/2014/main" id="{D94180A8-FA0B-4461-8AA7-719C1C4ABCD3}"/>
              </a:ext>
            </a:extLst>
          </p:cNvPr>
          <p:cNvSpPr>
            <a:spLocks xmlns:a="http://schemas.openxmlformats.org/drawingml/2006/main" noGrp="1"/>
          </p:cNvSpPr>
          <p:nvPr/>
        </p:nvSpPr>
        <p:spPr>
          <a:xfrm xmlns:a="http://schemas.openxmlformats.org/drawingml/2006/main">
            <a:off x="762000" y="50863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7ADF39F-517D-42F5-95B5-81D7BCC5B09F}"/>
              </a:ext>
            </a:extLst>
          </p:cNvPr>
          <p:cNvSpPr>
            <a:spLocks xmlns:a="http://schemas.openxmlformats.org/drawingml/2006/main" noGrp="1"/>
          </p:cNvSpPr>
          <p:nvPr/>
        </p:nvSpPr>
        <p:spPr>
          <a:xfrm xmlns:a="http://schemas.openxmlformats.org/drawingml/2006/main">
            <a:off x="1047750" y="50101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Кто проверит язык?</a:t>
            </a:r>
          </a:p>
        </p:txBody>
      </p:sp>
      <p:sp>
        <p:nvSpPr>
          <p:cNvPr id="19" name="">
            <a:extLst xmlns:a="http://schemas.openxmlformats.org/drawingml/2006/main">
              <a:ext uri="{FF2B5EF4-FFF2-40B4-BE49-F238E27FC236}">
                <a16:creationId xmlns:a16="http://schemas.microsoft.com/office/drawing/2014/main" id="{D6FD8516-D92C-456D-A056-4B939394F258}"/>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FA96A80-BAC6-4F8F-8F26-A782CBB03AB7}"/>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21" name="">
            <a:extLst xmlns:a="http://schemas.openxmlformats.org/drawingml/2006/main">
              <a:ext uri="{FF2B5EF4-FFF2-40B4-BE49-F238E27FC236}">
                <a16:creationId xmlns:a16="http://schemas.microsoft.com/office/drawing/2014/main" id="{1D636BB1-F7C3-46AD-98B1-76EF67C10F97}"/>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34/36</a:t>
            </a:r>
          </a:p>
        </p:txBody>
      </p:sp>
    </p:spTree>
    <p:extLst>
      <p:ext uri="{BB962C8B-B14F-4D97-AF65-F5344CB8AC3E}">
        <p14:creationId xmlns:p14="http://schemas.microsoft.com/office/powerpoint/2010/main" val="44109668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7BEBDC5-DD7A-4E3D-9E35-4D899AFFE438}"/>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B45309"/>
                </a:solidFill>
              </a:defRPr>
            </a:pPr>
            <a:r>
              <a:rPr sz="975" b="1">
                <a:solidFill>
                  <a:srgbClr val="B45309"/>
                </a:solidFill>
              </a:rPr>
              <a:t>СЕМИНАР</a:t>
            </a:r>
          </a:p>
        </p:txBody>
      </p:sp>
      <p:sp>
        <p:nvSpPr>
          <p:cNvPr id="2" name="">
            <a:extLst xmlns:a="http://schemas.openxmlformats.org/drawingml/2006/main">
              <a:ext uri="{FF2B5EF4-FFF2-40B4-BE49-F238E27FC236}">
                <a16:creationId xmlns:a16="http://schemas.microsoft.com/office/drawing/2014/main" id="{BDC54573-3F3A-45DC-BCC5-57FD9A29B5B0}"/>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Практика 4. Мини-разбор Codex/агентов, 15 минут</a:t>
            </a:r>
          </a:p>
        </p:txBody>
      </p:sp>
      <p:sp>
        <p:nvSpPr>
          <p:cNvPr id="3" name="">
            <a:extLst xmlns:a="http://schemas.openxmlformats.org/drawingml/2006/main">
              <a:ext uri="{FF2B5EF4-FFF2-40B4-BE49-F238E27FC236}">
                <a16:creationId xmlns:a16="http://schemas.microsoft.com/office/drawing/2014/main" id="{A404F5E9-355D-43FD-B5B1-64436DC5B746}"/>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A2CEC01-D79A-4793-9CBC-8DAF100D0EE3}"/>
              </a:ext>
            </a:extLst>
          </p:cNvPr>
          <p:cNvSpPr>
            <a:spLocks xmlns:a="http://schemas.openxmlformats.org/drawingml/2006/main" noGrp="1"/>
          </p:cNvSpPr>
          <p:nvPr/>
        </p:nvSpPr>
        <p:spPr>
          <a:xfrm xmlns:a="http://schemas.openxmlformats.org/drawingml/2006/main">
            <a:off x="1047750" y="18097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Преподаватель показывает или описывает типовой сценарий:</a:t>
            </a:r>
          </a:p>
        </p:txBody>
      </p:sp>
      <p:sp>
        <p:nvSpPr>
          <p:cNvPr id="5" name="">
            <a:extLst xmlns:a="http://schemas.openxmlformats.org/drawingml/2006/main">
              <a:ext uri="{FF2B5EF4-FFF2-40B4-BE49-F238E27FC236}">
                <a16:creationId xmlns:a16="http://schemas.microsoft.com/office/drawing/2014/main" id="{CF056C38-BA5C-4C70-B02B-A8E08FC8EFD5}"/>
              </a:ext>
            </a:extLst>
          </p:cNvPr>
          <p:cNvSpPr>
            <a:spLocks xmlns:a="http://schemas.openxmlformats.org/drawingml/2006/main" noGrp="1"/>
          </p:cNvSpPr>
          <p:nvPr/>
        </p:nvSpPr>
        <p:spPr>
          <a:xfrm xmlns:a="http://schemas.openxmlformats.org/drawingml/2006/main">
            <a:off x="762000" y="23431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835E042-E9A6-448E-A50E-931D6E082524}"/>
              </a:ext>
            </a:extLst>
          </p:cNvPr>
          <p:cNvSpPr>
            <a:spLocks xmlns:a="http://schemas.openxmlformats.org/drawingml/2006/main" noGrp="1"/>
          </p:cNvSpPr>
          <p:nvPr/>
        </p:nvSpPr>
        <p:spPr>
          <a:xfrm xmlns:a="http://schemas.openxmlformats.org/drawingml/2006/main">
            <a:off x="1047750" y="22669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Создать папку проекта.</a:t>
            </a:r>
          </a:p>
        </p:txBody>
      </p:sp>
      <p:sp>
        <p:nvSpPr>
          <p:cNvPr id="7" name="">
            <a:extLst xmlns:a="http://schemas.openxmlformats.org/drawingml/2006/main">
              <a:ext uri="{FF2B5EF4-FFF2-40B4-BE49-F238E27FC236}">
                <a16:creationId xmlns:a16="http://schemas.microsoft.com/office/drawing/2014/main" id="{83862E53-878F-4393-8869-37016556DC79}"/>
              </a:ext>
            </a:extLst>
          </p:cNvPr>
          <p:cNvSpPr>
            <a:spLocks xmlns:a="http://schemas.openxmlformats.org/drawingml/2006/main" noGrp="1"/>
          </p:cNvSpPr>
          <p:nvPr/>
        </p:nvSpPr>
        <p:spPr>
          <a:xfrm xmlns:a="http://schemas.openxmlformats.org/drawingml/2006/main">
            <a:off x="762000" y="28003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E9A836D-40FD-49AE-9A85-1F753918BAC8}"/>
              </a:ext>
            </a:extLst>
          </p:cNvPr>
          <p:cNvSpPr>
            <a:spLocks xmlns:a="http://schemas.openxmlformats.org/drawingml/2006/main" noGrp="1"/>
          </p:cNvSpPr>
          <p:nvPr/>
        </p:nvSpPr>
        <p:spPr>
          <a:xfrm xmlns:a="http://schemas.openxmlformats.org/drawingml/2006/main">
            <a:off x="1047750" y="27241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Положить туда sources.csv, README.md, 2-3 примера данных.</a:t>
            </a:r>
          </a:p>
        </p:txBody>
      </p:sp>
      <p:sp>
        <p:nvSpPr>
          <p:cNvPr id="9" name="">
            <a:extLst xmlns:a="http://schemas.openxmlformats.org/drawingml/2006/main">
              <a:ext uri="{FF2B5EF4-FFF2-40B4-BE49-F238E27FC236}">
                <a16:creationId xmlns:a16="http://schemas.microsoft.com/office/drawing/2014/main" id="{C46FB4D5-3ACC-42CD-9C52-67B459EEBEF3}"/>
              </a:ext>
            </a:extLst>
          </p:cNvPr>
          <p:cNvSpPr>
            <a:spLocks xmlns:a="http://schemas.openxmlformats.org/drawingml/2006/main" noGrp="1"/>
          </p:cNvSpPr>
          <p:nvPr/>
        </p:nvSpPr>
        <p:spPr>
          <a:xfrm xmlns:a="http://schemas.openxmlformats.org/drawingml/2006/main">
            <a:off x="762000" y="32575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813B415-D867-4B74-AFEE-8712241EEA3C}"/>
              </a:ext>
            </a:extLst>
          </p:cNvPr>
          <p:cNvSpPr>
            <a:spLocks xmlns:a="http://schemas.openxmlformats.org/drawingml/2006/main" noGrp="1"/>
          </p:cNvSpPr>
          <p:nvPr/>
        </p:nvSpPr>
        <p:spPr>
          <a:xfrm xmlns:a="http://schemas.openxmlformats.org/drawingml/2006/main">
            <a:off x="1047750" y="31813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Попросить Codex: "проанализируй структуру и предложи первый воспроизводимый pipeline".</a:t>
            </a:r>
          </a:p>
        </p:txBody>
      </p:sp>
      <p:sp>
        <p:nvSpPr>
          <p:cNvPr id="11" name="">
            <a:extLst xmlns:a="http://schemas.openxmlformats.org/drawingml/2006/main">
              <a:ext uri="{FF2B5EF4-FFF2-40B4-BE49-F238E27FC236}">
                <a16:creationId xmlns:a16="http://schemas.microsoft.com/office/drawing/2014/main" id="{20C33C2B-FADB-4BBB-8293-2273D888EF24}"/>
              </a:ext>
            </a:extLst>
          </p:cNvPr>
          <p:cNvSpPr>
            <a:spLocks xmlns:a="http://schemas.openxmlformats.org/drawingml/2006/main" noGrp="1"/>
          </p:cNvSpPr>
          <p:nvPr/>
        </p:nvSpPr>
        <p:spPr>
          <a:xfrm xmlns:a="http://schemas.openxmlformats.org/drawingml/2006/main">
            <a:off x="762000" y="3714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2EF8C4E-7AA8-482A-906D-13D249132C0C}"/>
              </a:ext>
            </a:extLst>
          </p:cNvPr>
          <p:cNvSpPr>
            <a:spLocks xmlns:a="http://schemas.openxmlformats.org/drawingml/2006/main" noGrp="1"/>
          </p:cNvSpPr>
          <p:nvPr/>
        </p:nvSpPr>
        <p:spPr>
          <a:xfrm xmlns:a="http://schemas.openxmlformats.org/drawingml/2006/main">
            <a:off x="1047750" y="36385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Попросить агента-ревьюера проверить риски.</a:t>
            </a:r>
          </a:p>
        </p:txBody>
      </p:sp>
      <p:sp>
        <p:nvSpPr>
          <p:cNvPr id="13" name="">
            <a:extLst xmlns:a="http://schemas.openxmlformats.org/drawingml/2006/main">
              <a:ext uri="{FF2B5EF4-FFF2-40B4-BE49-F238E27FC236}">
                <a16:creationId xmlns:a16="http://schemas.microsoft.com/office/drawing/2014/main" id="{B06306C5-B8CE-48A8-B633-9B02C0230DBC}"/>
              </a:ext>
            </a:extLst>
          </p:cNvPr>
          <p:cNvSpPr>
            <a:spLocks xmlns:a="http://schemas.openxmlformats.org/drawingml/2006/main" noGrp="1"/>
          </p:cNvSpPr>
          <p:nvPr/>
        </p:nvSpPr>
        <p:spPr>
          <a:xfrm xmlns:a="http://schemas.openxmlformats.org/drawingml/2006/main">
            <a:off x="762000" y="41719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D496F29-F916-4CA9-B728-8A74E468E026}"/>
              </a:ext>
            </a:extLst>
          </p:cNvPr>
          <p:cNvSpPr>
            <a:spLocks xmlns:a="http://schemas.openxmlformats.org/drawingml/2006/main" noGrp="1"/>
          </p:cNvSpPr>
          <p:nvPr/>
        </p:nvSpPr>
        <p:spPr>
          <a:xfrm xmlns:a="http://schemas.openxmlformats.org/drawingml/2006/main">
            <a:off x="1047750" y="40957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Сравнить результат с человеческими ожиданиями.</a:t>
            </a:r>
          </a:p>
        </p:txBody>
      </p:sp>
      <p:sp>
        <p:nvSpPr>
          <p:cNvPr id="15" name="">
            <a:extLst xmlns:a="http://schemas.openxmlformats.org/drawingml/2006/main">
              <a:ext uri="{FF2B5EF4-FFF2-40B4-BE49-F238E27FC236}">
                <a16:creationId xmlns:a16="http://schemas.microsoft.com/office/drawing/2014/main" id="{13554D71-1374-45BF-AD1E-04307F3636BA}"/>
              </a:ext>
            </a:extLst>
          </p:cNvPr>
          <p:cNvSpPr>
            <a:spLocks xmlns:a="http://schemas.openxmlformats.org/drawingml/2006/main" noGrp="1"/>
          </p:cNvSpPr>
          <p:nvPr/>
        </p:nvSpPr>
        <p:spPr>
          <a:xfrm xmlns:a="http://schemas.openxmlformats.org/drawingml/2006/main">
            <a:off x="762000" y="46291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0649348-9689-4BB7-A77E-7A9FF785A4D9}"/>
              </a:ext>
            </a:extLst>
          </p:cNvPr>
          <p:cNvSpPr>
            <a:spLocks xmlns:a="http://schemas.openxmlformats.org/drawingml/2006/main" noGrp="1"/>
          </p:cNvSpPr>
          <p:nvPr/>
        </p:nvSpPr>
        <p:spPr>
          <a:xfrm xmlns:a="http://schemas.openxmlformats.org/drawingml/2006/main">
            <a:off x="1047750" y="45529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Пример задачи для Codex:</a:t>
            </a:r>
          </a:p>
        </p:txBody>
      </p:sp>
      <p:sp>
        <p:nvSpPr>
          <p:cNvPr id="17" name="">
            <a:extLst xmlns:a="http://schemas.openxmlformats.org/drawingml/2006/main">
              <a:ext uri="{FF2B5EF4-FFF2-40B4-BE49-F238E27FC236}">
                <a16:creationId xmlns:a16="http://schemas.microsoft.com/office/drawing/2014/main" id="{9AB9D5B2-7E2A-4BD2-9209-935C4E16CC0B}"/>
              </a:ext>
            </a:extLst>
          </p:cNvPr>
          <p:cNvSpPr>
            <a:spLocks xmlns:a="http://schemas.openxmlformats.org/drawingml/2006/main" noGrp="1"/>
          </p:cNvSpPr>
          <p:nvPr/>
        </p:nvSpPr>
        <p:spPr>
          <a:xfrm xmlns:a="http://schemas.openxmlformats.org/drawingml/2006/main">
            <a:off x="762000" y="50863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A38D4E8-31BF-4E0B-8876-4EF412205CA4}"/>
              </a:ext>
            </a:extLst>
          </p:cNvPr>
          <p:cNvSpPr>
            <a:spLocks xmlns:a="http://schemas.openxmlformats.org/drawingml/2006/main" noGrp="1"/>
          </p:cNvSpPr>
          <p:nvPr/>
        </p:nvSpPr>
        <p:spPr>
          <a:xfrm xmlns:a="http://schemas.openxmlformats.org/drawingml/2006/main">
            <a:off x="1047750" y="50101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В этой папке проект по малоресурсному языку.</a:t>
            </a:r>
          </a:p>
        </p:txBody>
      </p:sp>
      <p:sp>
        <p:nvSpPr>
          <p:cNvPr id="19" name="">
            <a:extLst xmlns:a="http://schemas.openxmlformats.org/drawingml/2006/main">
              <a:ext uri="{FF2B5EF4-FFF2-40B4-BE49-F238E27FC236}">
                <a16:creationId xmlns:a16="http://schemas.microsoft.com/office/drawing/2014/main" id="{91823DBE-91C7-41BD-8981-E4F81388E465}"/>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EB419EA-C6F8-4975-913E-B8EE82D6CA10}"/>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21" name="">
            <a:extLst xmlns:a="http://schemas.openxmlformats.org/drawingml/2006/main">
              <a:ext uri="{FF2B5EF4-FFF2-40B4-BE49-F238E27FC236}">
                <a16:creationId xmlns:a16="http://schemas.microsoft.com/office/drawing/2014/main" id="{84323B5B-23C7-407D-A25F-619A2EF67B63}"/>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35/36</a:t>
            </a:r>
          </a:p>
        </p:txBody>
      </p:sp>
    </p:spTree>
    <p:extLst>
      <p:ext uri="{BB962C8B-B14F-4D97-AF65-F5344CB8AC3E}">
        <p14:creationId xmlns:p14="http://schemas.microsoft.com/office/powerpoint/2010/main" val="203412532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363365E-BB4E-46C2-8DF7-0B9673817A50}"/>
              </a:ext>
            </a:extLst>
          </p:cNvPr>
          <p:cNvSpPr>
            <a:spLocks xmlns:a="http://schemas.openxmlformats.org/drawingml/2006/main" noGrp="1"/>
          </p:cNvSpPr>
          <p:nvPr/>
        </p:nvSpPr>
        <p:spPr>
          <a:xfrm xmlns:a="http://schemas.openxmlformats.org/drawingml/2006/main">
            <a:off x="72390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B45309"/>
                </a:solidFill>
              </a:defRPr>
            </a:pPr>
            <a:r>
              <a:rPr sz="975" b="1">
                <a:solidFill>
                  <a:srgbClr val="B45309"/>
                </a:solidFill>
              </a:rPr>
              <a:t>СЕМИНАР</a:t>
            </a:r>
          </a:p>
        </p:txBody>
      </p:sp>
      <p:sp>
        <p:nvSpPr>
          <p:cNvPr id="2" name="">
            <a:extLst xmlns:a="http://schemas.openxmlformats.org/drawingml/2006/main">
              <a:ext uri="{FF2B5EF4-FFF2-40B4-BE49-F238E27FC236}">
                <a16:creationId xmlns:a16="http://schemas.microsoft.com/office/drawing/2014/main" id="{54207582-34D2-4341-911F-A4644E50ED78}"/>
              </a:ext>
            </a:extLst>
          </p:cNvPr>
          <p:cNvSpPr>
            <a:spLocks xmlns:a="http://schemas.openxmlformats.org/drawingml/2006/main" noGrp="1"/>
          </p:cNvSpPr>
          <p:nvPr/>
        </p:nvSpPr>
        <p:spPr>
          <a:xfrm xmlns:a="http://schemas.openxmlformats.org/drawingml/2006/main">
            <a:off x="723900" y="742950"/>
            <a:ext cx="1009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D2433"/>
                </a:solidFill>
              </a:defRPr>
            </a:pPr>
            <a:r>
              <a:rPr sz="2625" b="1">
                <a:solidFill>
                  <a:srgbClr val="1D2433"/>
                </a:solidFill>
              </a:rPr>
              <a:t>Практика 5. Черновик командного решения, 10 минут</a:t>
            </a:r>
          </a:p>
        </p:txBody>
      </p:sp>
      <p:sp>
        <p:nvSpPr>
          <p:cNvPr id="3" name="">
            <a:extLst xmlns:a="http://schemas.openxmlformats.org/drawingml/2006/main">
              <a:ext uri="{FF2B5EF4-FFF2-40B4-BE49-F238E27FC236}">
                <a16:creationId xmlns:a16="http://schemas.microsoft.com/office/drawing/2014/main" id="{844677EB-0CBE-423D-A292-800DB0E97218}"/>
              </a:ext>
            </a:extLst>
          </p:cNvPr>
          <p:cNvSpPr>
            <a:spLocks xmlns:a="http://schemas.openxmlformats.org/drawingml/2006/main" noGrp="1"/>
          </p:cNvSpPr>
          <p:nvPr/>
        </p:nvSpPr>
        <p:spPr>
          <a:xfrm xmlns:a="http://schemas.openxmlformats.org/drawingml/2006/main">
            <a:off x="762000" y="18859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2EEE5EA-1D5B-4D37-97DE-12A54A872F74}"/>
              </a:ext>
            </a:extLst>
          </p:cNvPr>
          <p:cNvSpPr>
            <a:spLocks xmlns:a="http://schemas.openxmlformats.org/drawingml/2006/main" noGrp="1"/>
          </p:cNvSpPr>
          <p:nvPr/>
        </p:nvSpPr>
        <p:spPr>
          <a:xfrm xmlns:a="http://schemas.openxmlformats.org/drawingml/2006/main">
            <a:off x="1047750" y="18097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Каждая команда фиксирует:</a:t>
            </a:r>
          </a:p>
        </p:txBody>
      </p:sp>
      <p:sp>
        <p:nvSpPr>
          <p:cNvPr id="5" name="">
            <a:extLst xmlns:a="http://schemas.openxmlformats.org/drawingml/2006/main">
              <a:ext uri="{FF2B5EF4-FFF2-40B4-BE49-F238E27FC236}">
                <a16:creationId xmlns:a16="http://schemas.microsoft.com/office/drawing/2014/main" id="{90B67D72-8C7E-471A-B442-9927FEC35A0B}"/>
              </a:ext>
            </a:extLst>
          </p:cNvPr>
          <p:cNvSpPr>
            <a:spLocks xmlns:a="http://schemas.openxmlformats.org/drawingml/2006/main" noGrp="1"/>
          </p:cNvSpPr>
          <p:nvPr/>
        </p:nvSpPr>
        <p:spPr>
          <a:xfrm xmlns:a="http://schemas.openxmlformats.org/drawingml/2006/main">
            <a:off x="762000" y="23431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B17910B-220E-4CB3-BDE9-A1BA91B7682C}"/>
              </a:ext>
            </a:extLst>
          </p:cNvPr>
          <p:cNvSpPr>
            <a:spLocks xmlns:a="http://schemas.openxmlformats.org/drawingml/2006/main" noGrp="1"/>
          </p:cNvSpPr>
          <p:nvPr/>
        </p:nvSpPr>
        <p:spPr>
          <a:xfrm xmlns:a="http://schemas.openxmlformats.org/drawingml/2006/main">
            <a:off x="1047750" y="22669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язык;</a:t>
            </a:r>
          </a:p>
        </p:txBody>
      </p:sp>
      <p:sp>
        <p:nvSpPr>
          <p:cNvPr id="7" name="">
            <a:extLst xmlns:a="http://schemas.openxmlformats.org/drawingml/2006/main">
              <a:ext uri="{FF2B5EF4-FFF2-40B4-BE49-F238E27FC236}">
                <a16:creationId xmlns:a16="http://schemas.microsoft.com/office/drawing/2014/main" id="{C3C2E826-D4F9-449C-BFF7-11E275CB4773}"/>
              </a:ext>
            </a:extLst>
          </p:cNvPr>
          <p:cNvSpPr>
            <a:spLocks xmlns:a="http://schemas.openxmlformats.org/drawingml/2006/main" noGrp="1"/>
          </p:cNvSpPr>
          <p:nvPr/>
        </p:nvSpPr>
        <p:spPr>
          <a:xfrm xmlns:a="http://schemas.openxmlformats.org/drawingml/2006/main">
            <a:off x="762000" y="28003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4304E93-41A1-4487-BF0A-0D01C57D429E}"/>
              </a:ext>
            </a:extLst>
          </p:cNvPr>
          <p:cNvSpPr>
            <a:spLocks xmlns:a="http://schemas.openxmlformats.org/drawingml/2006/main" noGrp="1"/>
          </p:cNvSpPr>
          <p:nvPr/>
        </p:nvSpPr>
        <p:spPr>
          <a:xfrm xmlns:a="http://schemas.openxmlformats.org/drawingml/2006/main">
            <a:off x="1047750" y="27241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2-3 подхода;</a:t>
            </a:r>
          </a:p>
        </p:txBody>
      </p:sp>
      <p:sp>
        <p:nvSpPr>
          <p:cNvPr id="9" name="">
            <a:extLst xmlns:a="http://schemas.openxmlformats.org/drawingml/2006/main">
              <a:ext uri="{FF2B5EF4-FFF2-40B4-BE49-F238E27FC236}">
                <a16:creationId xmlns:a16="http://schemas.microsoft.com/office/drawing/2014/main" id="{62CDCE99-BA95-4B7C-8892-9F363EA6E267}"/>
              </a:ext>
            </a:extLst>
          </p:cNvPr>
          <p:cNvSpPr>
            <a:spLocks xmlns:a="http://schemas.openxmlformats.org/drawingml/2006/main" noGrp="1"/>
          </p:cNvSpPr>
          <p:nvPr/>
        </p:nvSpPr>
        <p:spPr>
          <a:xfrm xmlns:a="http://schemas.openxmlformats.org/drawingml/2006/main">
            <a:off x="762000" y="32575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28FCD0F-1C6D-4863-96C7-BEBEE89F6F2E}"/>
              </a:ext>
            </a:extLst>
          </p:cNvPr>
          <p:cNvSpPr>
            <a:spLocks xmlns:a="http://schemas.openxmlformats.org/drawingml/2006/main" noGrp="1"/>
          </p:cNvSpPr>
          <p:nvPr/>
        </p:nvSpPr>
        <p:spPr>
          <a:xfrm xmlns:a="http://schemas.openxmlformats.org/drawingml/2006/main">
            <a:off x="1047750" y="31813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самый простой первый шаг;</a:t>
            </a:r>
          </a:p>
        </p:txBody>
      </p:sp>
      <p:sp>
        <p:nvSpPr>
          <p:cNvPr id="11" name="">
            <a:extLst xmlns:a="http://schemas.openxmlformats.org/drawingml/2006/main">
              <a:ext uri="{FF2B5EF4-FFF2-40B4-BE49-F238E27FC236}">
                <a16:creationId xmlns:a16="http://schemas.microsoft.com/office/drawing/2014/main" id="{426F310F-24FB-4211-AFD9-E667E297FCC7}"/>
              </a:ext>
            </a:extLst>
          </p:cNvPr>
          <p:cNvSpPr>
            <a:spLocks xmlns:a="http://schemas.openxmlformats.org/drawingml/2006/main" noGrp="1"/>
          </p:cNvSpPr>
          <p:nvPr/>
        </p:nvSpPr>
        <p:spPr>
          <a:xfrm xmlns:a="http://schemas.openxmlformats.org/drawingml/2006/main">
            <a:off x="762000" y="37147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576AF3A-6A54-4079-A560-C69C50889B41}"/>
              </a:ext>
            </a:extLst>
          </p:cNvPr>
          <p:cNvSpPr>
            <a:spLocks xmlns:a="http://schemas.openxmlformats.org/drawingml/2006/main" noGrp="1"/>
          </p:cNvSpPr>
          <p:nvPr/>
        </p:nvSpPr>
        <p:spPr>
          <a:xfrm xmlns:a="http://schemas.openxmlformats.org/drawingml/2006/main">
            <a:off x="1047750" y="36385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самый сложный желаемый результат;</a:t>
            </a:r>
          </a:p>
        </p:txBody>
      </p:sp>
      <p:sp>
        <p:nvSpPr>
          <p:cNvPr id="13" name="">
            <a:extLst xmlns:a="http://schemas.openxmlformats.org/drawingml/2006/main">
              <a:ext uri="{FF2B5EF4-FFF2-40B4-BE49-F238E27FC236}">
                <a16:creationId xmlns:a16="http://schemas.microsoft.com/office/drawing/2014/main" id="{B60375B1-B112-464F-B543-C9BA8E01666E}"/>
              </a:ext>
            </a:extLst>
          </p:cNvPr>
          <p:cNvSpPr>
            <a:spLocks xmlns:a="http://schemas.openxmlformats.org/drawingml/2006/main" noGrp="1"/>
          </p:cNvSpPr>
          <p:nvPr/>
        </p:nvSpPr>
        <p:spPr>
          <a:xfrm xmlns:a="http://schemas.openxmlformats.org/drawingml/2006/main">
            <a:off x="762000" y="41719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B7EAE52-A164-40A2-8193-22ED068C1DAC}"/>
              </a:ext>
            </a:extLst>
          </p:cNvPr>
          <p:cNvSpPr>
            <a:spLocks xmlns:a="http://schemas.openxmlformats.org/drawingml/2006/main" noGrp="1"/>
          </p:cNvSpPr>
          <p:nvPr/>
        </p:nvSpPr>
        <p:spPr>
          <a:xfrm xmlns:a="http://schemas.openxmlformats.org/drawingml/2006/main">
            <a:off x="1047750" y="40957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какие данные нужно найти до следующего занятия.</a:t>
            </a:r>
          </a:p>
        </p:txBody>
      </p:sp>
      <p:sp>
        <p:nvSpPr>
          <p:cNvPr id="15" name="">
            <a:extLst xmlns:a="http://schemas.openxmlformats.org/drawingml/2006/main">
              <a:ext uri="{FF2B5EF4-FFF2-40B4-BE49-F238E27FC236}">
                <a16:creationId xmlns:a16="http://schemas.microsoft.com/office/drawing/2014/main" id="{B5432723-8C49-426B-9CE6-0ADCA48D4D3B}"/>
              </a:ext>
            </a:extLst>
          </p:cNvPr>
          <p:cNvSpPr>
            <a:spLocks xmlns:a="http://schemas.openxmlformats.org/drawingml/2006/main" noGrp="1"/>
          </p:cNvSpPr>
          <p:nvPr/>
        </p:nvSpPr>
        <p:spPr>
          <a:xfrm xmlns:a="http://schemas.openxmlformats.org/drawingml/2006/main">
            <a:off x="762000" y="4629150"/>
            <a:ext cx="114300" cy="114300"/>
          </a:xfrm>
          <a:prstGeom xmlns:a="http://schemas.openxmlformats.org/drawingml/2006/main" prst="ellipse">
            <a:avLst/>
          </a:prstGeom>
          <a:solidFill xmlns:a="http://schemas.openxmlformats.org/drawingml/2006/main">
            <a:srgbClr val="176B8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8AD00F9-5E7C-49A2-B975-FE754C811231}"/>
              </a:ext>
            </a:extLst>
          </p:cNvPr>
          <p:cNvSpPr>
            <a:spLocks xmlns:a="http://schemas.openxmlformats.org/drawingml/2006/main" noGrp="1"/>
          </p:cNvSpPr>
          <p:nvPr/>
        </p:nvSpPr>
        <p:spPr>
          <a:xfrm xmlns:a="http://schemas.openxmlformats.org/drawingml/2006/main">
            <a:off x="1047750" y="45529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 Домашнее задание 1</a:t>
            </a:r>
          </a:p>
        </p:txBody>
      </p:sp>
      <p:sp>
        <p:nvSpPr>
          <p:cNvPr id="17" name="">
            <a:extLst xmlns:a="http://schemas.openxmlformats.org/drawingml/2006/main">
              <a:ext uri="{FF2B5EF4-FFF2-40B4-BE49-F238E27FC236}">
                <a16:creationId xmlns:a16="http://schemas.microsoft.com/office/drawing/2014/main" id="{5B1FCD2E-168D-4599-9F72-B3ABA1053521}"/>
              </a:ext>
            </a:extLst>
          </p:cNvPr>
          <p:cNvSpPr>
            <a:spLocks xmlns:a="http://schemas.openxmlformats.org/drawingml/2006/main" noGrp="1"/>
          </p:cNvSpPr>
          <p:nvPr/>
        </p:nvSpPr>
        <p:spPr>
          <a:xfrm xmlns:a="http://schemas.openxmlformats.org/drawingml/2006/main">
            <a:off x="762000" y="5086350"/>
            <a:ext cx="114300" cy="114300"/>
          </a:xfrm>
          <a:prstGeom xmlns:a="http://schemas.openxmlformats.org/drawingml/2006/main" prst="ellipse">
            <a:avLst/>
          </a:prstGeom>
          <a:solidFill xmlns:a="http://schemas.openxmlformats.org/drawingml/2006/main">
            <a:srgbClr val="B4530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3EF1FDA-2AF3-4B74-901B-DC2F0D1EA603}"/>
              </a:ext>
            </a:extLst>
          </p:cNvPr>
          <p:cNvSpPr>
            <a:spLocks xmlns:a="http://schemas.openxmlformats.org/drawingml/2006/main" noGrp="1"/>
          </p:cNvSpPr>
          <p:nvPr/>
        </p:nvSpPr>
        <p:spPr>
          <a:xfrm xmlns:a="http://schemas.openxmlformats.org/drawingml/2006/main">
            <a:off x="1047750" y="50101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D2433"/>
                </a:solidFill>
              </a:defRPr>
            </a:pPr>
            <a:r>
              <a:rPr sz="1350">
                <a:solidFill>
                  <a:srgbClr val="1D2433"/>
                </a:solidFill>
              </a:rPr>
              <a:t>Каждый студент индивидуально выполняет техническую подготовку и заполняет анкету: homeworks/01_anketa.md.</a:t>
            </a:r>
          </a:p>
        </p:txBody>
      </p:sp>
      <p:sp>
        <p:nvSpPr>
          <p:cNvPr id="19" name="">
            <a:extLst xmlns:a="http://schemas.openxmlformats.org/drawingml/2006/main">
              <a:ext uri="{FF2B5EF4-FFF2-40B4-BE49-F238E27FC236}">
                <a16:creationId xmlns:a16="http://schemas.microsoft.com/office/drawing/2014/main" id="{5F99C8FF-1B9F-449C-9BB4-0D347C2FC457}"/>
              </a:ext>
            </a:extLst>
          </p:cNvPr>
          <p:cNvSpPr>
            <a:spLocks xmlns:a="http://schemas.openxmlformats.org/drawingml/2006/main" noGrp="1"/>
          </p:cNvSpPr>
          <p:nvPr/>
        </p:nvSpPr>
        <p:spPr>
          <a:xfrm xmlns:a="http://schemas.openxmlformats.org/drawingml/2006/main">
            <a:off x="723900" y="6019800"/>
            <a:ext cx="19050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FCA945A-B21F-4EBF-8CC9-99B7EE9EDB86}"/>
              </a:ext>
            </a:extLst>
          </p:cNvPr>
          <p:cNvSpPr>
            <a:spLocks xmlns:a="http://schemas.openxmlformats.org/drawingml/2006/main" noGrp="1"/>
          </p:cNvSpPr>
          <p:nvPr/>
        </p:nvSpPr>
        <p:spPr>
          <a:xfrm xmlns:a="http://schemas.openxmlformats.org/drawingml/2006/main">
            <a:off x="723900" y="6324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64748B"/>
                </a:solidFill>
              </a:defRPr>
            </a:pPr>
            <a:r>
              <a:rPr sz="975">
                <a:solidFill>
                  <a:srgbClr val="64748B"/>
                </a:solidFill>
              </a:rPr>
              <a:t>Занятие 1</a:t>
            </a:r>
          </a:p>
        </p:txBody>
      </p:sp>
      <p:sp>
        <p:nvSpPr>
          <p:cNvPr id="21" name="">
            <a:extLst xmlns:a="http://schemas.openxmlformats.org/drawingml/2006/main">
              <a:ext uri="{FF2B5EF4-FFF2-40B4-BE49-F238E27FC236}">
                <a16:creationId xmlns:a16="http://schemas.microsoft.com/office/drawing/2014/main" id="{D6E14AFD-5E71-4C35-BF55-8994EAB007C4}"/>
              </a:ext>
            </a:extLst>
          </p:cNvPr>
          <p:cNvSpPr>
            <a:spLocks xmlns:a="http://schemas.openxmlformats.org/drawingml/2006/main" noGrp="1"/>
          </p:cNvSpPr>
          <p:nvPr/>
        </p:nvSpPr>
        <p:spPr>
          <a:xfrm xmlns:a="http://schemas.openxmlformats.org/drawingml/2006/main">
            <a:off x="10668000" y="632460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defRPr>
            </a:pPr>
            <a:r>
              <a:rPr sz="975">
                <a:solidFill>
                  <a:srgbClr val="64748B"/>
                </a:solidFill>
              </a:rPr>
              <a:t>36/36</a:t>
            </a:r>
          </a:p>
        </p:txBody>
      </p:sp>
    </p:spTree>
    <p:extLst>
      <p:ext uri="{BB962C8B-B14F-4D97-AF65-F5344CB8AC3E}">
        <p14:creationId xmlns:p14="http://schemas.microsoft.com/office/powerpoint/2010/main" val="14094831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2026-08-17T15:32:36.2980000Z</dcterms:created>
  <dcterms:modified xsi:type="dcterms:W3CDTF">2026-08-17T15:32:36.2980000Z</dcterms:modified>
</coreProperties>
</file>